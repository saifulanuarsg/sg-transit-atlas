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2027 budget backdrop: plan on ~6% overall OOH growth (independent forecast ~6.1% CAGR). DOOH (~40% of revenue) grows ~8-9%, planning point +8.5% - new inventory, programmatic, targeting, measurement, dynamic creative. Static (~60% of revenue) grows ~3-4%, planning point +3.5% - mature, budgets migrating to digital. Source: Mordor Intelligence,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74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  ·  OOH BUDGET OUTLOOK  ·  2027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61695" y="84124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2027 on ~6% growth — </a:t>
            </a:r>
            <a:pPr algn="l" indent="0" marL="0">
              <a:buNone/>
            </a:pPr>
            <a:r>
              <a:rPr lang="en-US" sz="3200" b="1" u="dotted" dirty="0">
                <a:solidFill>
                  <a:srgbClr val="1E2490"/>
                </a:solidFill>
                <a:uFill>
                  <a:solidFill>
                    <a:srgbClr val="B8860B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DOOH</a:t>
            </a:r>
            <a:pPr algn="l" indent="0" marL="0">
              <a:buNone/>
            </a:pPr>
            <a:r>
              <a:rPr lang="en-US" sz="3200" b="1" dirty="0">
                <a:solidFill>
                  <a:srgbClr val="1E2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does the lifting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214884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374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</a:t>
            </a:r>
            <a:pPr algn="l" indent="0" marL="0">
              <a:buNone/>
            </a:pPr>
            <a:r>
              <a:rPr lang="en-US" sz="4800" b="1" dirty="0">
                <a:solidFill>
                  <a:srgbClr val="374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3520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41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OOH growth,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41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planning assumption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41605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line with the independent market forecast of 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41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~6.1% CAGR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 an optimistic in-house number.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794760" y="2240280"/>
            <a:ext cx="0" cy="2834640"/>
          </a:xfrm>
          <a:prstGeom prst="line">
            <a:avLst/>
          </a:prstGeom>
          <a:noFill/>
          <a:ln w="12700">
            <a:solidFill>
              <a:srgbClr val="E4E6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60520" y="2240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DOOH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2768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≈40% of revenue — the growth engine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60520" y="2624328"/>
            <a:ext cx="5852160" cy="301752"/>
          </a:xfrm>
          <a:prstGeom prst="roundRect">
            <a:avLst>
              <a:gd name="adj" fmla="val 15152"/>
            </a:avLst>
          </a:prstGeom>
          <a:solidFill>
            <a:srgbClr val="ECEEF2"/>
          </a:solidFill>
          <a:ln/>
        </p:spPr>
      </p:sp>
      <p:sp>
        <p:nvSpPr>
          <p:cNvPr id="11" name="Shape 9"/>
          <p:cNvSpPr/>
          <p:nvPr/>
        </p:nvSpPr>
        <p:spPr>
          <a:xfrm>
            <a:off x="4160520" y="2624328"/>
            <a:ext cx="4681728" cy="301752"/>
          </a:xfrm>
          <a:prstGeom prst="rect">
            <a:avLst/>
          </a:prstGeom>
          <a:solidFill>
            <a:srgbClr val="3F9C35"/>
          </a:solidFill>
          <a:ln/>
        </p:spPr>
      </p:sp>
      <p:sp>
        <p:nvSpPr>
          <p:cNvPr id="12" name="Shape 10"/>
          <p:cNvSpPr/>
          <p:nvPr/>
        </p:nvSpPr>
        <p:spPr>
          <a:xfrm>
            <a:off x="8842248" y="2624328"/>
            <a:ext cx="585216" cy="301752"/>
          </a:xfrm>
          <a:prstGeom prst="rect">
            <a:avLst/>
          </a:prstGeom>
          <a:solidFill>
            <a:srgbClr val="C9E5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160520" y="30175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digital inventory, programmatic buying, audience targeting, measurement, dynamic creative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0104120" y="25146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41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+8.5%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0104120" y="29443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~8–9%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160520" y="3931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OOH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9684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≈60% of revenue — largest, slowest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60520" y="4315968"/>
            <a:ext cx="5852160" cy="301752"/>
          </a:xfrm>
          <a:prstGeom prst="roundRect">
            <a:avLst>
              <a:gd name="adj" fmla="val 15152"/>
            </a:avLst>
          </a:prstGeom>
          <a:solidFill>
            <a:srgbClr val="ECEEF2"/>
          </a:solidFill>
          <a:ln/>
        </p:spPr>
      </p:sp>
      <p:sp>
        <p:nvSpPr>
          <p:cNvPr id="19" name="Shape 17"/>
          <p:cNvSpPr/>
          <p:nvPr/>
        </p:nvSpPr>
        <p:spPr>
          <a:xfrm>
            <a:off x="4160520" y="4315968"/>
            <a:ext cx="1755648" cy="3017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Shape 18"/>
          <p:cNvSpPr/>
          <p:nvPr/>
        </p:nvSpPr>
        <p:spPr>
          <a:xfrm>
            <a:off x="5916168" y="4315968"/>
            <a:ext cx="585216" cy="301752"/>
          </a:xfrm>
          <a:prstGeom prst="rect">
            <a:avLst/>
          </a:prstGeom>
          <a:solidFill>
            <a:srgbClr val="D3D9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160520" y="47091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 market — longer booking cycles, continued migration of budgets to digital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0104120" y="4206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41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+3.5%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0104120" y="463600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~3–4%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1695" y="6144768"/>
            <a:ext cx="10668305" cy="0"/>
          </a:xfrm>
          <a:prstGeom prst="line">
            <a:avLst/>
          </a:prstGeom>
          <a:noFill/>
          <a:ln w="12700">
            <a:solidFill>
              <a:srgbClr val="E4E6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1695" y="623620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 on a common 0–10% axis: solid to the low end of the forecast range, light band to the high end; bold figures are the planning points.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0" y="6236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Mordor Intelligence,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2026-08-27T01:36:38Z</dcterms:created>
  <dcterms:modified xsi:type="dcterms:W3CDTF">2026-08-27T01:36:38Z</dcterms:modified>
</cp:coreProperties>
</file>
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DBP C2 — routes 972, 97, 130, 89, 43. Creative order matches the five approved 1771 executions.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541678" cy="310896"/>
          </a:xfrm>
          <a:prstGeom prst="roundRect">
            <a:avLst>
              <a:gd name="adj" fmla="val 50000"/>
            </a:avLst>
          </a:prstGeom>
          <a:solidFill>
            <a:srgbClr val="F0245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5416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DBP C2 · 1771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7498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buy. Five minds.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84632" y="131673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routes carrying all five of your approved creatives — each one landing where that audience already is.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015984" y="7863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447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015984" y="11338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85832" y="7863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1.02M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85832" y="11338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7863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155680" y="11338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1874520"/>
            <a:ext cx="2112264" cy="41148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8D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" y="211226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" y="20208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children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" y="2441448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“Mind feeling under the weather?”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2376" y="306324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 on the bus in uniform — not the parent.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2376" y="3575304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22376" y="416052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schools on the route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" y="4727448"/>
            <a:ext cx="1673352" cy="0"/>
          </a:xfrm>
          <a:prstGeom prst="line">
            <a:avLst/>
          </a:prstGeom>
          <a:noFill/>
          <a:ln w="12700">
            <a:solidFill>
              <a:srgbClr val="D8DD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" y="4837176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student-care centres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primary schools in Sengkang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" y="547725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22376" y="566013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Sengkang (20) · Bukit Panjang (17) · Hougang (14)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70632" y="1874520"/>
            <a:ext cx="2112264" cy="41148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8DD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0088" y="211226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9544" y="20208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adults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990088" y="2441448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“Burnt out and drowning?”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90088" y="306324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twice a day, at the interchange and in town.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90088" y="3575304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2990088" y="416052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MRT/LRT interchanges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90088" y="4727448"/>
            <a:ext cx="1673352" cy="0"/>
          </a:xfrm>
          <a:prstGeom prst="line">
            <a:avLst/>
          </a:prstGeom>
          <a:noFill/>
          <a:ln w="12700">
            <a:solidFill>
              <a:srgbClr val="D8DD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4837176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 malls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Downtown Core and Orchard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90088" y="547725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90088" y="566013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Downtown Core (38) · Orchard (32) · Museum (12)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38344" y="1874520"/>
            <a:ext cx="2112264" cy="4114800"/>
          </a:xfrm>
          <a:prstGeom prst="roundRect">
            <a:avLst>
              <a:gd name="adj" fmla="val 3896"/>
            </a:avLst>
          </a:prstGeom>
          <a:solidFill>
            <a:srgbClr val="FDF0F4"/>
          </a:solidFill>
          <a:ln w="19050">
            <a:solidFill>
              <a:srgbClr val="F024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211226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0245E"/>
          </a:solidFill>
          <a:ln/>
        </p:spPr>
      </p:sp>
      <p:sp>
        <p:nvSpPr>
          <p:cNvPr id="36" name="Text 34"/>
          <p:cNvSpPr/>
          <p:nvPr/>
        </p:nvSpPr>
        <p:spPr>
          <a:xfrm>
            <a:off x="5477256" y="20208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Sandwich generation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57800" y="2441448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“Searching for some calm in the chaos?”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57800" y="306324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Carrying a child and a parent on the same trip.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3575304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5257800" y="416052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with a school AND a senior place inside 400 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7800" y="4727448"/>
            <a:ext cx="1673352" cy="0"/>
          </a:xfrm>
          <a:prstGeom prst="line">
            <a:avLst/>
          </a:prstGeom>
          <a:noFill/>
          <a:ln w="12700">
            <a:solidFill>
              <a:srgbClr val="F024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4837176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ad, both errands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of them in Hougang alone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57800" y="547725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257800" y="566013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Hougang (16) · Sengkang (10) · Bukit Panjang (8)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306056" y="1874520"/>
            <a:ext cx="2112264" cy="41148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8DD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25512" y="211226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47" name="Text 45"/>
          <p:cNvSpPr/>
          <p:nvPr/>
        </p:nvSpPr>
        <p:spPr>
          <a:xfrm>
            <a:off x="7744968" y="20208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525512" y="2441448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“Feeling trapped in your own mind?”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525512" y="306324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morning trip to the clinic and the CC.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525512" y="3575304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7525512" y="416052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clubs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25512" y="4727448"/>
            <a:ext cx="1673352" cy="0"/>
          </a:xfrm>
          <a:prstGeom prst="line">
            <a:avLst/>
          </a:prstGeom>
          <a:noFill/>
          <a:ln w="12700">
            <a:solidFill>
              <a:srgbClr val="D8DD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25512" y="4837176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eldercare · 8 polyclinics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hospitals, including IMH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25512" y="547725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525512" y="566013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Mo Kio (6) · Sengkang (6) · Kallang (6)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573768" y="1874520"/>
            <a:ext cx="2112264" cy="41148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8DD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93224" y="211226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58" name="Text 56"/>
          <p:cNvSpPr/>
          <p:nvPr/>
        </p:nvSpPr>
        <p:spPr>
          <a:xfrm>
            <a:off x="10012680" y="20208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793224" y="2441448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“Peace of mind is only digits away.”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793224" y="306324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Dismissal, then wherever they go after.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793224" y="3575304"/>
            <a:ext cx="1673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4000" dirty="0"/>
          </a:p>
        </p:txBody>
      </p:sp>
      <p:sp>
        <p:nvSpPr>
          <p:cNvPr id="62" name="Text 60"/>
          <p:cNvSpPr/>
          <p:nvPr/>
        </p:nvSpPr>
        <p:spPr>
          <a:xfrm>
            <a:off x="9793224" y="416052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schools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793224" y="4727448"/>
            <a:ext cx="1673352" cy="0"/>
          </a:xfrm>
          <a:prstGeom prst="line">
            <a:avLst/>
          </a:prstGeom>
          <a:noFill/>
          <a:ln w="12700">
            <a:solidFill>
              <a:srgbClr val="D8DD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93224" y="4837176"/>
            <a:ext cx="1673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JCs · 14 libraries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cinemas · 11 SportSG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793224" y="547725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793224" y="5660136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Serangoon (8) · Downtown Core (8) · Sengkang (7)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02920" y="60899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count is places within 400 m of a stop on the five routes — schools, clinics, community clubs and interchanges the buses actually pass.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464040" y="642823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spc="100" kern="0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MOOVE MEDIA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484632" y="64282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9184"/>
            <a:ext cx="1541678" cy="310896"/>
          </a:xfrm>
          <a:prstGeom prst="roundRect">
            <a:avLst>
              <a:gd name="adj" fmla="val 50000"/>
            </a:avLst>
          </a:prstGeom>
          <a:solidFill>
            <a:srgbClr val="F0245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9184"/>
            <a:ext cx="15416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DBP C2 · 1771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4632" y="74980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five buses, five different conversations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84632" y="131673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creative fires inside its own geofence, in its own time belt. Worked example below — the full zone-by-zone plan is built on confirmation.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0664" y="1847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37560" y="18470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0" y="1847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belt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36208" y="19568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076313" y="19568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916418" y="19568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756523" y="19568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596628" y="19568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436733" y="19568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21:00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2157984"/>
            <a:ext cx="1118311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8DD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2221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children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0664" y="24780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“Mind feeling under the weather?”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2221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Sengkang · Bukit Panjang · Hougang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478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school run, both directions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92240" y="2340864"/>
            <a:ext cx="4480560" cy="1554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332345" y="2340864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72450" y="2340864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12555" y="2340864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2660" y="2340864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2765" y="2340864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32258" y="2308860"/>
            <a:ext cx="350044" cy="219456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27" name="Shape 25"/>
          <p:cNvSpPr/>
          <p:nvPr/>
        </p:nvSpPr>
        <p:spPr>
          <a:xfrm>
            <a:off x="8452485" y="2308860"/>
            <a:ext cx="700088" cy="219456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542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06:30–07:45 · 13:00–15:30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2871216"/>
            <a:ext cx="1118311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8DD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29352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adults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0664" y="31912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“Burnt out and drowning?”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37560" y="29352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Downtown Core · Orchard · Museum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3191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commute peaks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92240" y="3054096"/>
            <a:ext cx="4480560" cy="1554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</p:sp>
      <p:sp>
        <p:nvSpPr>
          <p:cNvPr id="35" name="Shape 33"/>
          <p:cNvSpPr/>
          <p:nvPr/>
        </p:nvSpPr>
        <p:spPr>
          <a:xfrm>
            <a:off x="7332345" y="3054096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2450" y="3054096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12555" y="3054096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52660" y="3054096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92765" y="3054096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2292" y="3022092"/>
            <a:ext cx="560070" cy="219456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41" name="Shape 39"/>
          <p:cNvSpPr/>
          <p:nvPr/>
        </p:nvSpPr>
        <p:spPr>
          <a:xfrm>
            <a:off x="9712643" y="3022092"/>
            <a:ext cx="560070" cy="219456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32552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07:30–09:30 · 17:30–19:30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" y="3584448"/>
            <a:ext cx="11183112" cy="621792"/>
          </a:xfrm>
          <a:prstGeom prst="roundRect">
            <a:avLst>
              <a:gd name="adj" fmla="val 13235"/>
            </a:avLst>
          </a:prstGeom>
          <a:solidFill>
            <a:srgbClr val="FDF0F4"/>
          </a:solidFill>
          <a:ln w="19050">
            <a:solidFill>
              <a:srgbClr val="F024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" y="36484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Sandwich generation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40664" y="3904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“Searching for some calm in the chaos?”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37560" y="36484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Hougang · Sengkang · Bukit Panjang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37560" y="3904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work, and the weekend errand run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92240" y="3767328"/>
            <a:ext cx="4480560" cy="1554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</p:sp>
      <p:sp>
        <p:nvSpPr>
          <p:cNvPr id="49" name="Shape 47"/>
          <p:cNvSpPr/>
          <p:nvPr/>
        </p:nvSpPr>
        <p:spPr>
          <a:xfrm>
            <a:off x="7332345" y="3767328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72450" y="3767328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12555" y="3767328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52660" y="3767328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92765" y="3767328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12643" y="3735324"/>
            <a:ext cx="700088" cy="219456"/>
          </a:xfrm>
          <a:prstGeom prst="roundRect">
            <a:avLst>
              <a:gd name="adj" fmla="val 50000"/>
            </a:avLst>
          </a:prstGeom>
          <a:solidFill>
            <a:srgbClr val="F0245E"/>
          </a:solidFill>
          <a:ln/>
        </p:spPr>
      </p:sp>
      <p:sp>
        <p:nvSpPr>
          <p:cNvPr id="55" name="Text 53"/>
          <p:cNvSpPr/>
          <p:nvPr/>
        </p:nvSpPr>
        <p:spPr>
          <a:xfrm>
            <a:off x="6492240" y="39684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17:30–20:00 + weekend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1027664" y="3726180"/>
            <a:ext cx="6035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24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027664" y="372618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02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WKND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502920" y="4297680"/>
            <a:ext cx="1118311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8DD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0664" y="4361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740664" y="4617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“Feeling trapped in your own mind?”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337560" y="4361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 Mo Kio · Sengkang · Kallang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337560" y="4617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Polyclinic and CC morning peak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492240" y="4480560"/>
            <a:ext cx="4480560" cy="1554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</p:sp>
      <p:sp>
        <p:nvSpPr>
          <p:cNvPr id="64" name="Shape 62"/>
          <p:cNvSpPr/>
          <p:nvPr/>
        </p:nvSpPr>
        <p:spPr>
          <a:xfrm>
            <a:off x="7332345" y="4480560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72450" y="4480560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12555" y="4480560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52660" y="4480560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692765" y="4480560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52310" y="4448556"/>
            <a:ext cx="840105" cy="219456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70" name="Text 68"/>
          <p:cNvSpPr/>
          <p:nvPr/>
        </p:nvSpPr>
        <p:spPr>
          <a:xfrm>
            <a:off x="6492240" y="46817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08:00–11:00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02920" y="5010912"/>
            <a:ext cx="1118311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D8DD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0664" y="5074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740664" y="5330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“Peace of mind is only digits away.”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33756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Serangoon · Downtown Core · Sengkang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337560" y="5330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Dismissal and third-place dwell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492240" y="5193792"/>
            <a:ext cx="4480560" cy="15544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</p:sp>
      <p:sp>
        <p:nvSpPr>
          <p:cNvPr id="77" name="Shape 75"/>
          <p:cNvSpPr/>
          <p:nvPr/>
        </p:nvSpPr>
        <p:spPr>
          <a:xfrm>
            <a:off x="7332345" y="5193792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72450" y="5193792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012555" y="5193792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52660" y="5193792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92765" y="5193792"/>
            <a:ext cx="0" cy="155448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12555" y="5161788"/>
            <a:ext cx="840105" cy="219456"/>
          </a:xfrm>
          <a:prstGeom prst="roundRect">
            <a:avLst>
              <a:gd name="adj" fmla="val 50000"/>
            </a:avLst>
          </a:prstGeom>
          <a:solidFill>
            <a:srgbClr val="1B2D8A"/>
          </a:solidFill>
          <a:ln/>
        </p:spPr>
      </p:sp>
      <p:sp>
        <p:nvSpPr>
          <p:cNvPr id="83" name="Text 81"/>
          <p:cNvSpPr/>
          <p:nvPr/>
        </p:nvSpPr>
        <p:spPr>
          <a:xfrm>
            <a:off x="6492240" y="53949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15:00–18:00 + weekend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11027664" y="5152644"/>
            <a:ext cx="6035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B2D8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027664" y="5152644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12–20 WKND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2920" y="5760720"/>
            <a:ext cx="11183112" cy="585216"/>
          </a:xfrm>
          <a:prstGeom prst="roundRect">
            <a:avLst>
              <a:gd name="adj" fmla="val 14063"/>
            </a:avLst>
          </a:prstGeom>
          <a:solidFill>
            <a:srgbClr val="F5F7FC"/>
          </a:solidFill>
          <a:ln w="12700">
            <a:solidFill>
              <a:srgbClr val="D8DDE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5528" y="581558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creatives already exist. Nothing here needs new artwork — only a schedule.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95528" y="6071616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Geofences are where each audience concentrates on these five routes, measured from the place data. Belts follow when those places are open — tightened stop by stop once the buy is confirmed.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9464040" y="642823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i="1" spc="100" kern="0" dirty="0">
                <a:solidFill>
                  <a:srgbClr val="1B2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MOOVE MEDIA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484632" y="64282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Moove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DBP C2 — 1771</dc:title>
  <dc:subject>PptxGenJS Presentation</dc:subject>
  <dc:creator>Moove Media</dc:creator>
  <cp:lastModifiedBy>Moove Media</cp:lastModifiedBy>
  <cp:revision>1</cp:revision>
  <dcterms:created xsi:type="dcterms:W3CDTF">2026-08-17T08:12:43Z</dcterms:created>
  <dcterms:modified xsi:type="dcterms:W3CDTF">2026-08-17T08:12:43Z</dcterms:modified>
</cp:coreProperties>
</file>
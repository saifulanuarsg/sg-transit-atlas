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Overall index</c:v>
                </c:pt>
              </c:strCache>
            </c:strRef>
          </c:tx>
          <c:spPr>
            <a:solidFill>
              <a:srgbClr val="1B2D8A"/>
            </a:solidFill>
            <a:effectLst/>
          </c:spPr>
          <c:invertIfNegative val="0"/>
          <c:dLbls>
            <c:numFmt formatCode="0.0" sourceLinked="0"/>
            <c:txPr>
              <a:bodyPr/>
              <a:lstStyle/>
              <a:p>
                <a:pPr>
                  <a:defRPr b="1" i="0" strike="noStrike" sz="1100" u="none">
                    <a:solidFill>
                      <a:srgbClr val="14204A"/>
                    </a:solidFill>
                    <a:latin typeface="Arial"/>
                  </a:defRPr>
                </a:pPr>
              </a:p>
            </c:txPr>
            <c:showLegendKey val="0"/>
            <c:showVal val="1"/>
            <c:showCatName val="0"/>
            <c:showSerName val="0"/>
            <c:showPercent val="0"/>
            <c:showBubbleSize val="0"/>
            <c:showLeaderLines val="0"/>
          </c:dLbls>
          <c:dPt>
            <c:idx val="0"/>
            <c:invertIfNegative val="0"/>
            <c:bubble3D val="0"/>
            <c:spPr>
              <a:solidFill>
                <a:srgbClr val="1B2D8A"/>
              </a:solidFill>
              <a:effectLst/>
            </c:spPr>
          </c:dPt>
          <c:dPt>
            <c:idx val="1"/>
            <c:invertIfNegative val="0"/>
            <c:bubble3D val="0"/>
            <c:spPr>
              <a:solidFill>
                <a:srgbClr val="1B2D8A"/>
              </a:solidFill>
              <a:effectLst/>
            </c:spPr>
          </c:dPt>
          <c:dPt>
            <c:idx val="2"/>
            <c:invertIfNegative val="0"/>
            <c:bubble3D val="0"/>
            <c:spPr>
              <a:solidFill>
                <a:srgbClr val="F0245E"/>
              </a:solidFill>
              <a:effectLst/>
            </c:spPr>
          </c:dPt>
          <c:dPt>
            <c:idx val="3"/>
            <c:invertIfNegative val="0"/>
            <c:bubble3D val="0"/>
            <c:spPr>
              <a:solidFill>
                <a:srgbClr val="1B2D8A"/>
              </a:solidFill>
              <a:effectLst/>
            </c:spPr>
          </c:dPt>
          <c:cat>
            <c:multiLvlStrRef>
              <c:f>Sheet1!$A$2:$A$5</c:f>
              <c:multiLvlStrCache>
                <c:ptCount val="4"/>
                <c:lvl>
                  <c:pt idx="0">
                    <c:v>DBP C2</c:v>
                  </c:pt>
                  <c:pt idx="1">
                    <c:v>DBP L2</c:v>
                  </c:pt>
                  <c:pt idx="2">
                    <c:v>DBP C1 (Set 2)</c:v>
                  </c:pt>
                  <c:pt idx="3">
                    <c:v>Set 1</c:v>
                  </c:pt>
                </c:lvl>
              </c:multiLvlStrCache>
            </c:multiLvlStrRef>
          </c:cat>
          <c:val>
            <c:numRef>
              <c:f>Sheet1!$B$2:$B$5</c:f>
              <c:numCache>
                <c:formatCode>General</c:formatCode>
                <c:ptCount val="4"/>
                <c:pt idx="0">
                  <c:v>82.9</c:v>
                </c:pt>
                <c:pt idx="1">
                  <c:v>93.3</c:v>
                </c:pt>
                <c:pt idx="2">
                  <c:v>93.8</c:v>
                </c:pt>
                <c:pt idx="3">
                  <c:v>80.9</c:v>
                </c:pt>
              </c:numCache>
            </c:numRef>
          </c:val>
        </c:ser>
        <c:dLbls>
          <c:numFmt formatCode="0.0" sourceLinked="0"/>
          <c:txPr>
            <a:bodyPr/>
            <a:lstStyle/>
            <a:p>
              <a:pPr>
                <a:defRPr b="1" i="0" strike="noStrike" sz="1100" u="none">
                  <a:solidFill>
                    <a:srgbClr val="14204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04A"/>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b"/>
        <c:majorGridlines>
          <c:spPr>
            <a:ln w="12700" cap="flat">
              <a:solidFill>
                <a:srgbClr val="D8DDE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5A648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DBP C1 is Set 2 of the Five-route sets product: 190, 70, 133, 198,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D8A"/>
        </a:solidFill>
      </p:bgPr>
    </p:bg>
    <p:spTree>
      <p:nvGrpSpPr>
        <p:cNvPr id="1" name=""/>
        <p:cNvGrpSpPr/>
        <p:nvPr/>
      </p:nvGrpSpPr>
      <p:grpSpPr>
        <a:xfrm>
          <a:off x="0" y="0"/>
          <a:ext cx="0" cy="0"/>
          <a:chOff x="0" y="0"/>
          <a:chExt cx="0" cy="0"/>
        </a:xfrm>
      </p:grpSpPr>
      <p:sp>
        <p:nvSpPr>
          <p:cNvPr id="2" name="Shape 0"/>
          <p:cNvSpPr/>
          <p:nvPr/>
        </p:nvSpPr>
        <p:spPr>
          <a:xfrm>
            <a:off x="7818120" y="-1463040"/>
            <a:ext cx="6035040" cy="6035040"/>
          </a:xfrm>
          <a:prstGeom prst="roundRect">
            <a:avLst>
              <a:gd name="adj" fmla="val 50000"/>
            </a:avLst>
          </a:prstGeom>
          <a:solidFill>
            <a:srgbClr val="111A3E"/>
          </a:solidFill>
          <a:ln/>
        </p:spPr>
      </p:sp>
      <p:sp>
        <p:nvSpPr>
          <p:cNvPr id="3" name="Shape 1"/>
          <p:cNvSpPr/>
          <p:nvPr/>
        </p:nvSpPr>
        <p:spPr>
          <a:xfrm>
            <a:off x="502920" y="868680"/>
            <a:ext cx="1728216" cy="310896"/>
          </a:xfrm>
          <a:prstGeom prst="roundRect">
            <a:avLst>
              <a:gd name="adj" fmla="val 50000"/>
            </a:avLst>
          </a:prstGeom>
          <a:solidFill>
            <a:srgbClr val="F0245E"/>
          </a:solidFill>
          <a:ln/>
        </p:spPr>
      </p:sp>
      <p:sp>
        <p:nvSpPr>
          <p:cNvPr id="4" name="Text 2"/>
          <p:cNvSpPr/>
          <p:nvPr/>
        </p:nvSpPr>
        <p:spPr>
          <a:xfrm>
            <a:off x="502920" y="868680"/>
            <a:ext cx="1728216"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RECOMMENDED BUY</a:t>
            </a:r>
            <a:endParaRPr lang="en-US" sz="950" dirty="0"/>
          </a:p>
        </p:txBody>
      </p:sp>
      <p:sp>
        <p:nvSpPr>
          <p:cNvPr id="5" name="Text 3"/>
          <p:cNvSpPr/>
          <p:nvPr/>
        </p:nvSpPr>
        <p:spPr>
          <a:xfrm>
            <a:off x="475488" y="1371600"/>
            <a:ext cx="7680960" cy="1371600"/>
          </a:xfrm>
          <a:prstGeom prst="rect">
            <a:avLst/>
          </a:prstGeom>
          <a:noFill/>
          <a:ln/>
        </p:spPr>
        <p:txBody>
          <a:bodyPr wrap="square" lIns="0" tIns="0" rIns="0" bIns="0" rtlCol="0" anchor="ctr"/>
          <a:lstStyle/>
          <a:p>
            <a:pPr indent="0" marL="0">
              <a:buNone/>
            </a:pPr>
            <a:r>
              <a:rPr lang="en-US" sz="7600" b="1" dirty="0">
                <a:solidFill>
                  <a:srgbClr val="FFFFFF"/>
                </a:solidFill>
                <a:latin typeface="Arial" pitchFamily="34" charset="0"/>
                <a:ea typeface="Arial" pitchFamily="34" charset="-122"/>
                <a:cs typeface="Arial" pitchFamily="34" charset="-120"/>
              </a:rPr>
              <a:t>DBP C1</a:t>
            </a:r>
            <a:endParaRPr lang="en-US" sz="7600" dirty="0"/>
          </a:p>
        </p:txBody>
      </p:sp>
      <p:sp>
        <p:nvSpPr>
          <p:cNvPr id="6" name="Text 4"/>
          <p:cNvSpPr/>
          <p:nvPr/>
        </p:nvSpPr>
        <p:spPr>
          <a:xfrm>
            <a:off x="484632" y="2743200"/>
            <a:ext cx="7315200" cy="457200"/>
          </a:xfrm>
          <a:prstGeom prst="rect">
            <a:avLst/>
          </a:prstGeom>
          <a:noFill/>
          <a:ln/>
        </p:spPr>
        <p:txBody>
          <a:bodyPr wrap="square" lIns="0" tIns="0" rIns="0" bIns="0" rtlCol="0" anchor="ctr"/>
          <a:lstStyle/>
          <a:p>
            <a:pPr indent="0" marL="0">
              <a:buNone/>
            </a:pPr>
            <a:r>
              <a:rPr lang="en-US" sz="1900" dirty="0">
                <a:solidFill>
                  <a:srgbClr val="CBD3F2"/>
                </a:solidFill>
                <a:latin typeface="Arial" pitchFamily="34" charset="0"/>
                <a:ea typeface="Arial" pitchFamily="34" charset="-122"/>
                <a:cs typeface="Arial" pitchFamily="34" charset="-120"/>
              </a:rPr>
              <a:t>Five routes for the mindline.sg hotline</a:t>
            </a:r>
            <a:endParaRPr lang="en-US" sz="1900" dirty="0"/>
          </a:p>
        </p:txBody>
      </p:sp>
      <p:sp>
        <p:nvSpPr>
          <p:cNvPr id="7" name="Shape 5"/>
          <p:cNvSpPr/>
          <p:nvPr/>
        </p:nvSpPr>
        <p:spPr>
          <a:xfrm>
            <a:off x="502920" y="3401568"/>
            <a:ext cx="932688" cy="566928"/>
          </a:xfrm>
          <a:prstGeom prst="roundRect">
            <a:avLst>
              <a:gd name="adj" fmla="val 11290"/>
            </a:avLst>
          </a:prstGeom>
          <a:solidFill>
            <a:srgbClr val="FFFFFF"/>
          </a:solidFill>
          <a:ln w="15875">
            <a:solidFill>
              <a:srgbClr val="FFFFFF"/>
            </a:solidFill>
            <a:prstDash val="solid"/>
          </a:ln>
        </p:spPr>
      </p:sp>
      <p:sp>
        <p:nvSpPr>
          <p:cNvPr id="8" name="Text 6"/>
          <p:cNvSpPr/>
          <p:nvPr/>
        </p:nvSpPr>
        <p:spPr>
          <a:xfrm>
            <a:off x="502920"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190</a:t>
            </a:r>
            <a:endParaRPr lang="en-US" sz="2100" dirty="0"/>
          </a:p>
        </p:txBody>
      </p:sp>
      <p:sp>
        <p:nvSpPr>
          <p:cNvPr id="9" name="Shape 7"/>
          <p:cNvSpPr/>
          <p:nvPr/>
        </p:nvSpPr>
        <p:spPr>
          <a:xfrm>
            <a:off x="1581912" y="3401568"/>
            <a:ext cx="932688" cy="566928"/>
          </a:xfrm>
          <a:prstGeom prst="roundRect">
            <a:avLst>
              <a:gd name="adj" fmla="val 11290"/>
            </a:avLst>
          </a:prstGeom>
          <a:solidFill>
            <a:srgbClr val="FFFFFF"/>
          </a:solidFill>
          <a:ln w="15875">
            <a:solidFill>
              <a:srgbClr val="FFFFFF"/>
            </a:solidFill>
            <a:prstDash val="solid"/>
          </a:ln>
        </p:spPr>
      </p:sp>
      <p:sp>
        <p:nvSpPr>
          <p:cNvPr id="10" name="Text 8"/>
          <p:cNvSpPr/>
          <p:nvPr/>
        </p:nvSpPr>
        <p:spPr>
          <a:xfrm>
            <a:off x="1581912"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70</a:t>
            </a:r>
            <a:endParaRPr lang="en-US" sz="2100" dirty="0"/>
          </a:p>
        </p:txBody>
      </p:sp>
      <p:sp>
        <p:nvSpPr>
          <p:cNvPr id="11" name="Shape 9"/>
          <p:cNvSpPr/>
          <p:nvPr/>
        </p:nvSpPr>
        <p:spPr>
          <a:xfrm>
            <a:off x="2660904" y="3401568"/>
            <a:ext cx="932688" cy="566928"/>
          </a:xfrm>
          <a:prstGeom prst="roundRect">
            <a:avLst>
              <a:gd name="adj" fmla="val 11290"/>
            </a:avLst>
          </a:prstGeom>
          <a:solidFill>
            <a:srgbClr val="FFFFFF"/>
          </a:solidFill>
          <a:ln w="15875">
            <a:solidFill>
              <a:srgbClr val="FFFFFF"/>
            </a:solidFill>
            <a:prstDash val="solid"/>
          </a:ln>
        </p:spPr>
      </p:sp>
      <p:sp>
        <p:nvSpPr>
          <p:cNvPr id="12" name="Text 10"/>
          <p:cNvSpPr/>
          <p:nvPr/>
        </p:nvSpPr>
        <p:spPr>
          <a:xfrm>
            <a:off x="2660904"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133</a:t>
            </a:r>
            <a:endParaRPr lang="en-US" sz="2100" dirty="0"/>
          </a:p>
        </p:txBody>
      </p:sp>
      <p:sp>
        <p:nvSpPr>
          <p:cNvPr id="13" name="Shape 11"/>
          <p:cNvSpPr/>
          <p:nvPr/>
        </p:nvSpPr>
        <p:spPr>
          <a:xfrm>
            <a:off x="3739896" y="3401568"/>
            <a:ext cx="932688" cy="566928"/>
          </a:xfrm>
          <a:prstGeom prst="roundRect">
            <a:avLst>
              <a:gd name="adj" fmla="val 11290"/>
            </a:avLst>
          </a:prstGeom>
          <a:solidFill>
            <a:srgbClr val="FFFFFF"/>
          </a:solidFill>
          <a:ln w="15875">
            <a:solidFill>
              <a:srgbClr val="FFFFFF"/>
            </a:solidFill>
            <a:prstDash val="solid"/>
          </a:ln>
        </p:spPr>
      </p:sp>
      <p:sp>
        <p:nvSpPr>
          <p:cNvPr id="14" name="Text 12"/>
          <p:cNvSpPr/>
          <p:nvPr/>
        </p:nvSpPr>
        <p:spPr>
          <a:xfrm>
            <a:off x="3739896"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198</a:t>
            </a:r>
            <a:endParaRPr lang="en-US" sz="2100" dirty="0"/>
          </a:p>
        </p:txBody>
      </p:sp>
      <p:sp>
        <p:nvSpPr>
          <p:cNvPr id="15" name="Shape 13"/>
          <p:cNvSpPr/>
          <p:nvPr/>
        </p:nvSpPr>
        <p:spPr>
          <a:xfrm>
            <a:off x="4818888" y="3401568"/>
            <a:ext cx="932688" cy="566928"/>
          </a:xfrm>
          <a:prstGeom prst="roundRect">
            <a:avLst>
              <a:gd name="adj" fmla="val 11290"/>
            </a:avLst>
          </a:prstGeom>
          <a:solidFill>
            <a:srgbClr val="FFFFFF"/>
          </a:solidFill>
          <a:ln w="15875">
            <a:solidFill>
              <a:srgbClr val="FFFFFF"/>
            </a:solidFill>
            <a:prstDash val="solid"/>
          </a:ln>
        </p:spPr>
      </p:sp>
      <p:sp>
        <p:nvSpPr>
          <p:cNvPr id="16" name="Text 14"/>
          <p:cNvSpPr/>
          <p:nvPr/>
        </p:nvSpPr>
        <p:spPr>
          <a:xfrm>
            <a:off x="4818888" y="3401568"/>
            <a:ext cx="932688" cy="566928"/>
          </a:xfrm>
          <a:prstGeom prst="rect">
            <a:avLst/>
          </a:prstGeom>
          <a:noFill/>
          <a:ln/>
        </p:spPr>
        <p:txBody>
          <a:bodyPr wrap="square" lIns="0" tIns="0" rIns="0" bIns="0" rtlCol="0" anchor="ctr"/>
          <a:lstStyle/>
          <a:p>
            <a:pPr algn="ctr" indent="0" marL="0">
              <a:buNone/>
            </a:pPr>
            <a:r>
              <a:rPr lang="en-US" sz="2100" b="1" dirty="0">
                <a:solidFill>
                  <a:srgbClr val="1B2D8A"/>
                </a:solidFill>
                <a:latin typeface="Arial" pitchFamily="34" charset="0"/>
                <a:ea typeface="Arial" pitchFamily="34" charset="-122"/>
                <a:cs typeface="Arial" pitchFamily="34" charset="-120"/>
              </a:rPr>
              <a:t>85</a:t>
            </a:r>
            <a:endParaRPr lang="en-US" sz="2100" dirty="0"/>
          </a:p>
        </p:txBody>
      </p:sp>
      <p:sp>
        <p:nvSpPr>
          <p:cNvPr id="17" name="Text 15"/>
          <p:cNvSpPr/>
          <p:nvPr/>
        </p:nvSpPr>
        <p:spPr>
          <a:xfrm>
            <a:off x="484632" y="4261104"/>
            <a:ext cx="6949440" cy="548640"/>
          </a:xfrm>
          <a:prstGeom prst="rect">
            <a:avLst/>
          </a:prstGeom>
          <a:noFill/>
          <a:ln/>
        </p:spPr>
        <p:txBody>
          <a:bodyPr wrap="square" lIns="0" tIns="0" rIns="0" bIns="0" rtlCol="0" anchor="ctr"/>
          <a:lstStyle/>
          <a:p>
            <a:pPr indent="0" marL="0">
              <a:buNone/>
            </a:pPr>
            <a:r>
              <a:rPr lang="en-US" sz="1300" dirty="0">
                <a:solidFill>
                  <a:srgbClr val="9BA7D8"/>
                </a:solidFill>
                <a:latin typeface="Arial" pitchFamily="34" charset="0"/>
                <a:ea typeface="Arial" pitchFamily="34" charset="-122"/>
                <a:cs typeface="Arial" pitchFamily="34" charset="-120"/>
              </a:rPr>
              <a:t>Chosen from four candidate sets, scored against the five audiences the campaign named.</a:t>
            </a:r>
            <a:endParaRPr lang="en-US" sz="1300" dirty="0"/>
          </a:p>
        </p:txBody>
      </p:sp>
      <p:sp>
        <p:nvSpPr>
          <p:cNvPr id="18" name="Text 16"/>
          <p:cNvSpPr/>
          <p:nvPr/>
        </p:nvSpPr>
        <p:spPr>
          <a:xfrm>
            <a:off x="50292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396</a:t>
            </a:r>
            <a:endParaRPr lang="en-US" sz="2500" dirty="0"/>
          </a:p>
        </p:txBody>
      </p:sp>
      <p:sp>
        <p:nvSpPr>
          <p:cNvPr id="19" name="Text 17"/>
          <p:cNvSpPr/>
          <p:nvPr/>
        </p:nvSpPr>
        <p:spPr>
          <a:xfrm>
            <a:off x="50292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bus stops</a:t>
            </a:r>
            <a:endParaRPr lang="en-US" sz="1000" dirty="0"/>
          </a:p>
        </p:txBody>
      </p:sp>
      <p:sp>
        <p:nvSpPr>
          <p:cNvPr id="20" name="Text 18"/>
          <p:cNvSpPr/>
          <p:nvPr/>
        </p:nvSpPr>
        <p:spPr>
          <a:xfrm>
            <a:off x="237744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1.19M</a:t>
            </a:r>
            <a:endParaRPr lang="en-US" sz="2500" dirty="0"/>
          </a:p>
        </p:txBody>
      </p:sp>
      <p:sp>
        <p:nvSpPr>
          <p:cNvPr id="21" name="Text 19"/>
          <p:cNvSpPr/>
          <p:nvPr/>
        </p:nvSpPr>
        <p:spPr>
          <a:xfrm>
            <a:off x="237744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weekday boardings</a:t>
            </a:r>
            <a:endParaRPr lang="en-US" sz="1000" dirty="0"/>
          </a:p>
        </p:txBody>
      </p:sp>
      <p:sp>
        <p:nvSpPr>
          <p:cNvPr id="22" name="Text 20"/>
          <p:cNvSpPr/>
          <p:nvPr/>
        </p:nvSpPr>
        <p:spPr>
          <a:xfrm>
            <a:off x="425196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27</a:t>
            </a:r>
            <a:endParaRPr lang="en-US" sz="2500" dirty="0"/>
          </a:p>
        </p:txBody>
      </p:sp>
      <p:sp>
        <p:nvSpPr>
          <p:cNvPr id="23" name="Text 21"/>
          <p:cNvSpPr/>
          <p:nvPr/>
        </p:nvSpPr>
        <p:spPr>
          <a:xfrm>
            <a:off x="425196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planning areas</a:t>
            </a:r>
            <a:endParaRPr lang="en-US" sz="1000" dirty="0"/>
          </a:p>
        </p:txBody>
      </p:sp>
      <p:sp>
        <p:nvSpPr>
          <p:cNvPr id="24" name="Text 22"/>
          <p:cNvSpPr/>
          <p:nvPr/>
        </p:nvSpPr>
        <p:spPr>
          <a:xfrm>
            <a:off x="6126480" y="4983480"/>
            <a:ext cx="1828800" cy="457200"/>
          </a:xfrm>
          <a:prstGeom prst="rect">
            <a:avLst/>
          </a:prstGeom>
          <a:noFill/>
          <a:ln/>
        </p:spPr>
        <p:txBody>
          <a:bodyPr wrap="square" lIns="0" tIns="0" rIns="0" bIns="0" rtlCol="0" anchor="ctr"/>
          <a:lstStyle/>
          <a:p>
            <a:pPr indent="0" marL="0">
              <a:buNone/>
            </a:pPr>
            <a:r>
              <a:rPr lang="en-US" sz="2500" b="1" dirty="0">
                <a:solidFill>
                  <a:srgbClr val="F0245E"/>
                </a:solidFill>
                <a:latin typeface="Arial" pitchFamily="34" charset="0"/>
                <a:ea typeface="Arial" pitchFamily="34" charset="-122"/>
                <a:cs typeface="Arial" pitchFamily="34" charset="-120"/>
              </a:rPr>
              <a:t>99</a:t>
            </a:r>
            <a:endParaRPr lang="en-US" sz="2500" dirty="0"/>
          </a:p>
        </p:txBody>
      </p:sp>
      <p:sp>
        <p:nvSpPr>
          <p:cNvPr id="25" name="Text 23"/>
          <p:cNvSpPr/>
          <p:nvPr/>
        </p:nvSpPr>
        <p:spPr>
          <a:xfrm>
            <a:off x="6126480" y="5440680"/>
            <a:ext cx="1828800" cy="310896"/>
          </a:xfrm>
          <a:prstGeom prst="rect">
            <a:avLst/>
          </a:prstGeom>
          <a:noFill/>
          <a:ln/>
        </p:spPr>
        <p:txBody>
          <a:bodyPr wrap="square" lIns="0" tIns="0" rIns="0" bIns="0" rtlCol="0" anchor="ctr"/>
          <a:lstStyle/>
          <a:p>
            <a:pPr indent="0" marL="0">
              <a:buNone/>
            </a:pPr>
            <a:r>
              <a:rPr lang="en-US" sz="1000" dirty="0">
                <a:solidFill>
                  <a:srgbClr val="9BA7D8"/>
                </a:solidFill>
                <a:latin typeface="Arial" pitchFamily="34" charset="0"/>
                <a:ea typeface="Arial" pitchFamily="34" charset="-122"/>
                <a:cs typeface="Arial" pitchFamily="34" charset="-120"/>
              </a:rPr>
              <a:t>caregiving corridors</a:t>
            </a:r>
            <a:endParaRPr lang="en-US" sz="1000" dirty="0"/>
          </a:p>
        </p:txBody>
      </p:sp>
      <p:sp>
        <p:nvSpPr>
          <p:cNvPr id="26" name="Text 2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FFFFFF"/>
                </a:solidFill>
                <a:latin typeface="Arial" pitchFamily="34" charset="0"/>
                <a:ea typeface="Arial" pitchFamily="34" charset="-122"/>
                <a:cs typeface="Arial" pitchFamily="34" charset="-120"/>
              </a:rPr>
              <a:t>MOOVE MEDIA</a:t>
            </a:r>
            <a:endParaRPr lang="en-US" sz="1150" dirty="0"/>
          </a:p>
        </p:txBody>
      </p:sp>
      <p:sp>
        <p:nvSpPr>
          <p:cNvPr id="27" name="Text 2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7C87BC"/>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94560" cy="310896"/>
          </a:xfrm>
          <a:prstGeom prst="roundRect">
            <a:avLst>
              <a:gd name="adj" fmla="val 50000"/>
            </a:avLst>
          </a:prstGeom>
          <a:solidFill>
            <a:srgbClr val="F0245E"/>
          </a:solidFill>
          <a:ln/>
        </p:spPr>
      </p:sp>
      <p:sp>
        <p:nvSpPr>
          <p:cNvPr id="3" name="Text 1"/>
          <p:cNvSpPr/>
          <p:nvPr/>
        </p:nvSpPr>
        <p:spPr>
          <a:xfrm>
            <a:off x="502920" y="329184"/>
            <a:ext cx="2194560"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MINDLINE.SG</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Five audiences, one hotline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campaign named five audiences. Each one is reached in a different place, at a different hour.</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a:t>
            </a:r>
            <a:endParaRPr lang="en-US" sz="1000" dirty="0"/>
          </a:p>
        </p:txBody>
      </p:sp>
      <p:sp>
        <p:nvSpPr>
          <p:cNvPr id="8" name="Shape 6"/>
          <p:cNvSpPr/>
          <p:nvPr/>
        </p:nvSpPr>
        <p:spPr>
          <a:xfrm>
            <a:off x="502920" y="1874520"/>
            <a:ext cx="11183112" cy="786384"/>
          </a:xfrm>
          <a:prstGeom prst="roundRect">
            <a:avLst>
              <a:gd name="adj" fmla="val 10465"/>
            </a:avLst>
          </a:prstGeom>
          <a:solidFill>
            <a:srgbClr val="FFFFFF"/>
          </a:solidFill>
          <a:ln w="12700">
            <a:solidFill>
              <a:srgbClr val="D8DDE9"/>
            </a:solidFill>
            <a:prstDash val="solid"/>
          </a:ln>
        </p:spPr>
      </p:sp>
      <p:sp>
        <p:nvSpPr>
          <p:cNvPr id="9" name="Shape 7"/>
          <p:cNvSpPr/>
          <p:nvPr/>
        </p:nvSpPr>
        <p:spPr>
          <a:xfrm>
            <a:off x="740664" y="2075688"/>
            <a:ext cx="384048" cy="384048"/>
          </a:xfrm>
          <a:prstGeom prst="roundRect">
            <a:avLst>
              <a:gd name="adj" fmla="val 50000"/>
            </a:avLst>
          </a:prstGeom>
          <a:solidFill>
            <a:srgbClr val="1B2D8A"/>
          </a:solidFill>
          <a:ln/>
        </p:spPr>
      </p:sp>
      <p:sp>
        <p:nvSpPr>
          <p:cNvPr id="10" name="Text 8"/>
          <p:cNvSpPr/>
          <p:nvPr/>
        </p:nvSpPr>
        <p:spPr>
          <a:xfrm>
            <a:off x="740664" y="20756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1289304" y="1965960"/>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Young children</a:t>
            </a:r>
            <a:endParaRPr lang="en-US" sz="1450" dirty="0"/>
          </a:p>
        </p:txBody>
      </p:sp>
      <p:sp>
        <p:nvSpPr>
          <p:cNvPr id="12" name="Text 10"/>
          <p:cNvSpPr/>
          <p:nvPr/>
        </p:nvSpPr>
        <p:spPr>
          <a:xfrm>
            <a:off x="1289304" y="2276856"/>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Reached through the adult at the school gate — not the child.</a:t>
            </a:r>
            <a:endParaRPr lang="en-US" sz="1150" dirty="0"/>
          </a:p>
        </p:txBody>
      </p:sp>
      <p:sp>
        <p:nvSpPr>
          <p:cNvPr id="13" name="Text 11"/>
          <p:cNvSpPr/>
          <p:nvPr/>
        </p:nvSpPr>
        <p:spPr>
          <a:xfrm>
            <a:off x="9966960" y="2084832"/>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a0–14</a:t>
            </a:r>
            <a:endParaRPr lang="en-US" sz="1200" dirty="0"/>
          </a:p>
        </p:txBody>
      </p:sp>
      <p:sp>
        <p:nvSpPr>
          <p:cNvPr id="14" name="Shape 12"/>
          <p:cNvSpPr/>
          <p:nvPr/>
        </p:nvSpPr>
        <p:spPr>
          <a:xfrm>
            <a:off x="502920" y="2770632"/>
            <a:ext cx="11183112" cy="786384"/>
          </a:xfrm>
          <a:prstGeom prst="roundRect">
            <a:avLst>
              <a:gd name="adj" fmla="val 10465"/>
            </a:avLst>
          </a:prstGeom>
          <a:solidFill>
            <a:srgbClr val="FFFFFF"/>
          </a:solidFill>
          <a:ln w="12700">
            <a:solidFill>
              <a:srgbClr val="D8DDE9"/>
            </a:solidFill>
            <a:prstDash val="solid"/>
          </a:ln>
        </p:spPr>
      </p:sp>
      <p:sp>
        <p:nvSpPr>
          <p:cNvPr id="15" name="Shape 13"/>
          <p:cNvSpPr/>
          <p:nvPr/>
        </p:nvSpPr>
        <p:spPr>
          <a:xfrm>
            <a:off x="740664" y="2971800"/>
            <a:ext cx="384048" cy="384048"/>
          </a:xfrm>
          <a:prstGeom prst="roundRect">
            <a:avLst>
              <a:gd name="adj" fmla="val 50000"/>
            </a:avLst>
          </a:prstGeom>
          <a:solidFill>
            <a:srgbClr val="1B2D8A"/>
          </a:solidFill>
          <a:ln/>
        </p:spPr>
      </p:sp>
      <p:sp>
        <p:nvSpPr>
          <p:cNvPr id="16" name="Text 14"/>
          <p:cNvSpPr/>
          <p:nvPr/>
        </p:nvSpPr>
        <p:spPr>
          <a:xfrm>
            <a:off x="740664"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p:nvPr/>
        </p:nvSpPr>
        <p:spPr>
          <a:xfrm>
            <a:off x="1289304" y="2862072"/>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Seniors</a:t>
            </a:r>
            <a:endParaRPr lang="en-US" sz="1450" dirty="0"/>
          </a:p>
        </p:txBody>
      </p:sp>
      <p:sp>
        <p:nvSpPr>
          <p:cNvPr id="18" name="Text 16"/>
          <p:cNvSpPr/>
          <p:nvPr/>
        </p:nvSpPr>
        <p:spPr>
          <a:xfrm>
            <a:off x="1289304" y="3172968"/>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Polyclinic and senior-activity mornings, in the mature estates.</a:t>
            </a:r>
            <a:endParaRPr lang="en-US" sz="1150" dirty="0"/>
          </a:p>
        </p:txBody>
      </p:sp>
      <p:sp>
        <p:nvSpPr>
          <p:cNvPr id="19" name="Text 17"/>
          <p:cNvSpPr/>
          <p:nvPr/>
        </p:nvSpPr>
        <p:spPr>
          <a:xfrm>
            <a:off x="9966960" y="2980944"/>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a65+</a:t>
            </a:r>
            <a:endParaRPr lang="en-US" sz="1200" dirty="0"/>
          </a:p>
        </p:txBody>
      </p:sp>
      <p:sp>
        <p:nvSpPr>
          <p:cNvPr id="20" name="Shape 18"/>
          <p:cNvSpPr/>
          <p:nvPr/>
        </p:nvSpPr>
        <p:spPr>
          <a:xfrm>
            <a:off x="502920" y="3666744"/>
            <a:ext cx="11183112" cy="786384"/>
          </a:xfrm>
          <a:prstGeom prst="roundRect">
            <a:avLst>
              <a:gd name="adj" fmla="val 10465"/>
            </a:avLst>
          </a:prstGeom>
          <a:solidFill>
            <a:srgbClr val="FFFFFF"/>
          </a:solidFill>
          <a:ln w="12700">
            <a:solidFill>
              <a:srgbClr val="D8DDE9"/>
            </a:solidFill>
            <a:prstDash val="solid"/>
          </a:ln>
        </p:spPr>
      </p:sp>
      <p:sp>
        <p:nvSpPr>
          <p:cNvPr id="21" name="Shape 19"/>
          <p:cNvSpPr/>
          <p:nvPr/>
        </p:nvSpPr>
        <p:spPr>
          <a:xfrm>
            <a:off x="740664" y="3867912"/>
            <a:ext cx="384048" cy="384048"/>
          </a:xfrm>
          <a:prstGeom prst="roundRect">
            <a:avLst>
              <a:gd name="adj" fmla="val 50000"/>
            </a:avLst>
          </a:prstGeom>
          <a:solidFill>
            <a:srgbClr val="1B2D8A"/>
          </a:solidFill>
          <a:ln/>
        </p:spPr>
      </p:sp>
      <p:sp>
        <p:nvSpPr>
          <p:cNvPr id="22" name="Text 20"/>
          <p:cNvSpPr/>
          <p:nvPr/>
        </p:nvSpPr>
        <p:spPr>
          <a:xfrm>
            <a:off x="740664" y="38679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3" name="Text 21"/>
          <p:cNvSpPr/>
          <p:nvPr/>
        </p:nvSpPr>
        <p:spPr>
          <a:xfrm>
            <a:off x="1289304" y="3758184"/>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Working adults</a:t>
            </a:r>
            <a:endParaRPr lang="en-US" sz="1450" dirty="0"/>
          </a:p>
        </p:txBody>
      </p:sp>
      <p:sp>
        <p:nvSpPr>
          <p:cNvPr id="24" name="Text 22"/>
          <p:cNvSpPr/>
          <p:nvPr/>
        </p:nvSpPr>
        <p:spPr>
          <a:xfrm>
            <a:off x="1289304" y="4069080"/>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Interchange and CBD commute, twice a day.</a:t>
            </a:r>
            <a:endParaRPr lang="en-US" sz="1150" dirty="0"/>
          </a:p>
        </p:txBody>
      </p:sp>
      <p:sp>
        <p:nvSpPr>
          <p:cNvPr id="25" name="Text 23"/>
          <p:cNvSpPr/>
          <p:nvPr/>
        </p:nvSpPr>
        <p:spPr>
          <a:xfrm>
            <a:off x="9966960" y="3877056"/>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a25–64</a:t>
            </a:r>
            <a:endParaRPr lang="en-US" sz="1200" dirty="0"/>
          </a:p>
        </p:txBody>
      </p:sp>
      <p:sp>
        <p:nvSpPr>
          <p:cNvPr id="26" name="Shape 24"/>
          <p:cNvSpPr/>
          <p:nvPr/>
        </p:nvSpPr>
        <p:spPr>
          <a:xfrm>
            <a:off x="502920" y="4562856"/>
            <a:ext cx="11183112" cy="786384"/>
          </a:xfrm>
          <a:prstGeom prst="roundRect">
            <a:avLst>
              <a:gd name="adj" fmla="val 10465"/>
            </a:avLst>
          </a:prstGeom>
          <a:solidFill>
            <a:srgbClr val="FDF0F4"/>
          </a:solidFill>
          <a:ln w="12700">
            <a:solidFill>
              <a:srgbClr val="F0245E"/>
            </a:solidFill>
            <a:prstDash val="solid"/>
          </a:ln>
        </p:spPr>
      </p:sp>
      <p:sp>
        <p:nvSpPr>
          <p:cNvPr id="27" name="Shape 25"/>
          <p:cNvSpPr/>
          <p:nvPr/>
        </p:nvSpPr>
        <p:spPr>
          <a:xfrm>
            <a:off x="740664" y="4764024"/>
            <a:ext cx="384048" cy="384048"/>
          </a:xfrm>
          <a:prstGeom prst="roundRect">
            <a:avLst>
              <a:gd name="adj" fmla="val 50000"/>
            </a:avLst>
          </a:prstGeom>
          <a:solidFill>
            <a:srgbClr val="F0245E"/>
          </a:solidFill>
          <a:ln/>
        </p:spPr>
      </p:sp>
      <p:sp>
        <p:nvSpPr>
          <p:cNvPr id="28" name="Text 26"/>
          <p:cNvSpPr/>
          <p:nvPr/>
        </p:nvSpPr>
        <p:spPr>
          <a:xfrm>
            <a:off x="740664" y="47640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9" name="Text 27"/>
          <p:cNvSpPr/>
          <p:nvPr/>
        </p:nvSpPr>
        <p:spPr>
          <a:xfrm>
            <a:off x="1289304" y="4654296"/>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Sandwich generation</a:t>
            </a:r>
            <a:endParaRPr lang="en-US" sz="1450" dirty="0"/>
          </a:p>
        </p:txBody>
      </p:sp>
      <p:sp>
        <p:nvSpPr>
          <p:cNvPr id="30" name="Text 28"/>
          <p:cNvSpPr/>
          <p:nvPr/>
        </p:nvSpPr>
        <p:spPr>
          <a:xfrm>
            <a:off x="1289304" y="4965192"/>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Caring for a child and a parent at once. No layer maps them.</a:t>
            </a:r>
            <a:endParaRPr lang="en-US" sz="1150" dirty="0"/>
          </a:p>
        </p:txBody>
      </p:sp>
      <p:sp>
        <p:nvSpPr>
          <p:cNvPr id="31" name="Text 29"/>
          <p:cNvSpPr/>
          <p:nvPr/>
        </p:nvSpPr>
        <p:spPr>
          <a:xfrm>
            <a:off x="9966960" y="4773168"/>
            <a:ext cx="1554480" cy="365760"/>
          </a:xfrm>
          <a:prstGeom prst="rect">
            <a:avLst/>
          </a:prstGeom>
          <a:noFill/>
          <a:ln/>
        </p:spPr>
        <p:txBody>
          <a:bodyPr wrap="square" lIns="0" tIns="0" rIns="0" bIns="0" rtlCol="0" anchor="ctr"/>
          <a:lstStyle/>
          <a:p>
            <a:pPr algn="r" indent="0" marL="0">
              <a:buNone/>
            </a:pPr>
            <a:r>
              <a:rPr lang="en-US" sz="1200" b="1" dirty="0">
                <a:solidFill>
                  <a:srgbClr val="F0245E"/>
                </a:solidFill>
                <a:latin typeface="Arial" pitchFamily="34" charset="0"/>
                <a:ea typeface="Arial" pitchFamily="34" charset="-122"/>
                <a:cs typeface="Arial" pitchFamily="34" charset="-120"/>
              </a:rPr>
              <a:t>the gap</a:t>
            </a:r>
            <a:endParaRPr lang="en-US" sz="1200" dirty="0"/>
          </a:p>
        </p:txBody>
      </p:sp>
      <p:sp>
        <p:nvSpPr>
          <p:cNvPr id="32" name="Shape 30"/>
          <p:cNvSpPr/>
          <p:nvPr/>
        </p:nvSpPr>
        <p:spPr>
          <a:xfrm>
            <a:off x="502920" y="5458968"/>
            <a:ext cx="11183112" cy="786384"/>
          </a:xfrm>
          <a:prstGeom prst="roundRect">
            <a:avLst>
              <a:gd name="adj" fmla="val 10465"/>
            </a:avLst>
          </a:prstGeom>
          <a:solidFill>
            <a:srgbClr val="FFFFFF"/>
          </a:solidFill>
          <a:ln w="12700">
            <a:solidFill>
              <a:srgbClr val="D8DDE9"/>
            </a:solidFill>
            <a:prstDash val="solid"/>
          </a:ln>
        </p:spPr>
      </p:sp>
      <p:sp>
        <p:nvSpPr>
          <p:cNvPr id="33" name="Shape 31"/>
          <p:cNvSpPr/>
          <p:nvPr/>
        </p:nvSpPr>
        <p:spPr>
          <a:xfrm>
            <a:off x="740664" y="5660136"/>
            <a:ext cx="384048" cy="384048"/>
          </a:xfrm>
          <a:prstGeom prst="roundRect">
            <a:avLst>
              <a:gd name="adj" fmla="val 50000"/>
            </a:avLst>
          </a:prstGeom>
          <a:solidFill>
            <a:srgbClr val="1B2D8A"/>
          </a:solidFill>
          <a:ln/>
        </p:spPr>
      </p:sp>
      <p:sp>
        <p:nvSpPr>
          <p:cNvPr id="34" name="Text 32"/>
          <p:cNvSpPr/>
          <p:nvPr/>
        </p:nvSpPr>
        <p:spPr>
          <a:xfrm>
            <a:off x="740664" y="56601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5" name="Text 33"/>
          <p:cNvSpPr/>
          <p:nvPr/>
        </p:nvSpPr>
        <p:spPr>
          <a:xfrm>
            <a:off x="1289304" y="5550408"/>
            <a:ext cx="3017520" cy="320040"/>
          </a:xfrm>
          <a:prstGeom prst="rect">
            <a:avLst/>
          </a:prstGeom>
          <a:noFill/>
          <a:ln/>
        </p:spPr>
        <p:txBody>
          <a:bodyPr wrap="square" lIns="0" tIns="0" rIns="0" bIns="0" rtlCol="0" anchor="ctr"/>
          <a:lstStyle/>
          <a:p>
            <a:pPr indent="0" marL="0">
              <a:buNone/>
            </a:pPr>
            <a:r>
              <a:rPr lang="en-US" sz="1450" b="1" dirty="0">
                <a:solidFill>
                  <a:srgbClr val="1B2D8A"/>
                </a:solidFill>
                <a:latin typeface="Arial" pitchFamily="34" charset="0"/>
                <a:ea typeface="Arial" pitchFamily="34" charset="-122"/>
                <a:cs typeface="Arial" pitchFamily="34" charset="-120"/>
              </a:rPr>
              <a:t>Youth</a:t>
            </a:r>
            <a:endParaRPr lang="en-US" sz="1450" dirty="0"/>
          </a:p>
        </p:txBody>
      </p:sp>
      <p:sp>
        <p:nvSpPr>
          <p:cNvPr id="36" name="Text 34"/>
          <p:cNvSpPr/>
          <p:nvPr/>
        </p:nvSpPr>
        <p:spPr>
          <a:xfrm>
            <a:off x="1289304" y="5861304"/>
            <a:ext cx="7498080" cy="301752"/>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Secondary and IHL dismissal, then the third places after.</a:t>
            </a:r>
            <a:endParaRPr lang="en-US" sz="1150" dirty="0"/>
          </a:p>
        </p:txBody>
      </p:sp>
      <p:sp>
        <p:nvSpPr>
          <p:cNvPr id="37" name="Text 35"/>
          <p:cNvSpPr/>
          <p:nvPr/>
        </p:nvSpPr>
        <p:spPr>
          <a:xfrm>
            <a:off x="9966960" y="5669280"/>
            <a:ext cx="1554480" cy="365760"/>
          </a:xfrm>
          <a:prstGeom prst="rect">
            <a:avLst/>
          </a:prstGeom>
          <a:noFill/>
          <a:ln/>
        </p:spPr>
        <p:txBody>
          <a:bodyPr wrap="square" lIns="0" tIns="0" rIns="0" bIns="0" rtlCol="0" anchor="ctr"/>
          <a:lstStyle/>
          <a:p>
            <a:pPr algn="r" indent="0" marL="0">
              <a:buNone/>
            </a:pPr>
            <a:r>
              <a:rPr lang="en-US" sz="1200" b="1" dirty="0">
                <a:solidFill>
                  <a:srgbClr val="1B2D8A"/>
                </a:solidFill>
                <a:latin typeface="Arial" pitchFamily="34" charset="0"/>
                <a:ea typeface="Arial" pitchFamily="34" charset="-122"/>
                <a:cs typeface="Arial" pitchFamily="34" charset="-120"/>
              </a:rPr>
              <a:t>a15–24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728216" cy="310896"/>
          </a:xfrm>
          <a:prstGeom prst="roundRect">
            <a:avLst>
              <a:gd name="adj" fmla="val 50000"/>
            </a:avLst>
          </a:prstGeom>
          <a:solidFill>
            <a:srgbClr val="F0245E"/>
          </a:solidFill>
          <a:ln/>
        </p:spPr>
      </p:sp>
      <p:sp>
        <p:nvSpPr>
          <p:cNvPr id="3" name="Text 1"/>
          <p:cNvSpPr/>
          <p:nvPr/>
        </p:nvSpPr>
        <p:spPr>
          <a:xfrm>
            <a:off x="502920" y="329184"/>
            <a:ext cx="1728216"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METHOD</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How the four sets were scored</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Every set measured the same way, on the atlas’s own 400 m rule — so these counts match the map.</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3</a:t>
            </a:r>
            <a:endParaRPr lang="en-US" sz="1000" dirty="0"/>
          </a:p>
        </p:txBody>
      </p:sp>
      <p:sp>
        <p:nvSpPr>
          <p:cNvPr id="8" name="Shape 6"/>
          <p:cNvSpPr/>
          <p:nvPr/>
        </p:nvSpPr>
        <p:spPr>
          <a:xfrm>
            <a:off x="502920" y="1965960"/>
            <a:ext cx="5431536" cy="2057400"/>
          </a:xfrm>
          <a:prstGeom prst="roundRect">
            <a:avLst>
              <a:gd name="adj" fmla="val 4000"/>
            </a:avLst>
          </a:prstGeom>
          <a:solidFill>
            <a:srgbClr val="FFFFFF"/>
          </a:solidFill>
          <a:ln w="12700">
            <a:solidFill>
              <a:srgbClr val="D8DDE9"/>
            </a:solidFill>
            <a:prstDash val="solid"/>
          </a:ln>
        </p:spPr>
      </p:sp>
      <p:sp>
        <p:nvSpPr>
          <p:cNvPr id="9" name="Shape 7"/>
          <p:cNvSpPr/>
          <p:nvPr/>
        </p:nvSpPr>
        <p:spPr>
          <a:xfrm>
            <a:off x="777240" y="2212848"/>
            <a:ext cx="914400" cy="310896"/>
          </a:xfrm>
          <a:prstGeom prst="roundRect">
            <a:avLst>
              <a:gd name="adj" fmla="val 50000"/>
            </a:avLst>
          </a:prstGeom>
          <a:solidFill>
            <a:srgbClr val="F0245E"/>
          </a:solidFill>
          <a:ln/>
        </p:spPr>
      </p:sp>
      <p:sp>
        <p:nvSpPr>
          <p:cNvPr id="10" name="Text 8"/>
          <p:cNvSpPr/>
          <p:nvPr/>
        </p:nvSpPr>
        <p:spPr>
          <a:xfrm>
            <a:off x="777240" y="2212848"/>
            <a:ext cx="914400"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PLACES</a:t>
            </a:r>
            <a:endParaRPr lang="en-US" sz="900" dirty="0"/>
          </a:p>
        </p:txBody>
      </p:sp>
      <p:sp>
        <p:nvSpPr>
          <p:cNvPr id="11" name="Text 9"/>
          <p:cNvSpPr/>
          <p:nvPr/>
        </p:nvSpPr>
        <p:spPr>
          <a:xfrm>
            <a:off x="777240" y="2633472"/>
            <a:ext cx="4882896" cy="347472"/>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Is the ad where this audience gathers?</a:t>
            </a:r>
            <a:endParaRPr lang="en-US" sz="1400" dirty="0"/>
          </a:p>
        </p:txBody>
      </p:sp>
      <p:sp>
        <p:nvSpPr>
          <p:cNvPr id="12" name="Text 10"/>
          <p:cNvSpPr/>
          <p:nvPr/>
        </p:nvSpPr>
        <p:spPr>
          <a:xfrm>
            <a:off x="777240" y="2999232"/>
            <a:ext cx="4882896" cy="8686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Counted from 37 place layers — schools, eldercare, polyclinics, community clubs, interchanges. Deduplicated across the five routes: a school two buses both pass is one school.</a:t>
            </a:r>
            <a:endParaRPr lang="en-US" sz="1150" dirty="0"/>
          </a:p>
        </p:txBody>
      </p:sp>
      <p:sp>
        <p:nvSpPr>
          <p:cNvPr id="13" name="Shape 11"/>
          <p:cNvSpPr/>
          <p:nvPr/>
        </p:nvSpPr>
        <p:spPr>
          <a:xfrm>
            <a:off x="6254496" y="1965960"/>
            <a:ext cx="5431536" cy="2057400"/>
          </a:xfrm>
          <a:prstGeom prst="roundRect">
            <a:avLst>
              <a:gd name="adj" fmla="val 4000"/>
            </a:avLst>
          </a:prstGeom>
          <a:solidFill>
            <a:srgbClr val="FFFFFF"/>
          </a:solidFill>
          <a:ln w="12700">
            <a:solidFill>
              <a:srgbClr val="D8DDE9"/>
            </a:solidFill>
            <a:prstDash val="solid"/>
          </a:ln>
        </p:spPr>
      </p:sp>
      <p:sp>
        <p:nvSpPr>
          <p:cNvPr id="14" name="Shape 12"/>
          <p:cNvSpPr/>
          <p:nvPr/>
        </p:nvSpPr>
        <p:spPr>
          <a:xfrm>
            <a:off x="6528816" y="2212848"/>
            <a:ext cx="1355141" cy="310896"/>
          </a:xfrm>
          <a:prstGeom prst="roundRect">
            <a:avLst>
              <a:gd name="adj" fmla="val 50000"/>
            </a:avLst>
          </a:prstGeom>
          <a:solidFill>
            <a:srgbClr val="1B2D8A"/>
          </a:solidFill>
          <a:ln/>
        </p:spPr>
      </p:sp>
      <p:sp>
        <p:nvSpPr>
          <p:cNvPr id="15" name="Text 13"/>
          <p:cNvSpPr/>
          <p:nvPr/>
        </p:nvSpPr>
        <p:spPr>
          <a:xfrm>
            <a:off x="6528816" y="2212848"/>
            <a:ext cx="1355141"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IMPRESSIONS</a:t>
            </a:r>
            <a:endParaRPr lang="en-US" sz="900" dirty="0"/>
          </a:p>
        </p:txBody>
      </p:sp>
      <p:sp>
        <p:nvSpPr>
          <p:cNvPr id="16" name="Text 14"/>
          <p:cNvSpPr/>
          <p:nvPr/>
        </p:nvSpPr>
        <p:spPr>
          <a:xfrm>
            <a:off x="6528816" y="2633472"/>
            <a:ext cx="4882896" cy="347472"/>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How many of that audience actually see it?</a:t>
            </a:r>
            <a:endParaRPr lang="en-US" sz="1400" dirty="0"/>
          </a:p>
        </p:txBody>
      </p:sp>
      <p:sp>
        <p:nvSpPr>
          <p:cNvPr id="17" name="Text 15"/>
          <p:cNvSpPr/>
          <p:nvPr/>
        </p:nvSpPr>
        <p:spPr>
          <a:xfrm>
            <a:off x="6528816" y="2999232"/>
            <a:ext cx="4882896" cy="8686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Weekday boardings at each stop, weighted by that cohort’s share of the stop’s planning area.</a:t>
            </a:r>
            <a:endParaRPr lang="en-US" sz="1150" dirty="0"/>
          </a:p>
        </p:txBody>
      </p:sp>
      <p:sp>
        <p:nvSpPr>
          <p:cNvPr id="18" name="Shape 16"/>
          <p:cNvSpPr/>
          <p:nvPr/>
        </p:nvSpPr>
        <p:spPr>
          <a:xfrm>
            <a:off x="502920" y="4224528"/>
            <a:ext cx="11183112" cy="1024128"/>
          </a:xfrm>
          <a:prstGeom prst="roundRect">
            <a:avLst>
              <a:gd name="adj" fmla="val 8036"/>
            </a:avLst>
          </a:prstGeom>
          <a:solidFill>
            <a:srgbClr val="F5F7FC"/>
          </a:solidFill>
          <a:ln w="12700">
            <a:solidFill>
              <a:srgbClr val="D8DDE9"/>
            </a:solidFill>
            <a:prstDash val="solid"/>
          </a:ln>
        </p:spPr>
      </p:sp>
      <p:sp>
        <p:nvSpPr>
          <p:cNvPr id="19" name="Text 17"/>
          <p:cNvSpPr/>
          <p:nvPr/>
        </p:nvSpPr>
        <p:spPr>
          <a:xfrm>
            <a:off x="795528" y="4370832"/>
            <a:ext cx="27432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Why both halves</a:t>
            </a:r>
            <a:endParaRPr lang="en-US" sz="1250" dirty="0"/>
          </a:p>
        </p:txBody>
      </p:sp>
      <p:sp>
        <p:nvSpPr>
          <p:cNvPr id="20" name="Text 18"/>
          <p:cNvSpPr/>
          <p:nvPr/>
        </p:nvSpPr>
        <p:spPr>
          <a:xfrm>
            <a:off x="795528" y="4663440"/>
            <a:ext cx="10607040" cy="512064"/>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Places alone would rank ten quiet schools above one packed interchange. Boardings alone would put every CBD route on top and ignore the brief entirely. Each audience is scored 50 / 50, and the best set in each column is indexed to 100.</a:t>
            </a:r>
            <a:endParaRPr lang="en-US" sz="1150" dirty="0"/>
          </a:p>
        </p:txBody>
      </p:sp>
      <p:sp>
        <p:nvSpPr>
          <p:cNvPr id="21" name="Text 19"/>
          <p:cNvSpPr/>
          <p:nvPr/>
        </p:nvSpPr>
        <p:spPr>
          <a:xfrm>
            <a:off x="502920" y="5486400"/>
            <a:ext cx="10607040" cy="365760"/>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Sources — LTA DataMall passenger volume · SingStat Census 2020 · MOE school registry · 5,880 places across 37 layers, verified 13 Aug 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008022" cy="310896"/>
          </a:xfrm>
          <a:prstGeom prst="roundRect">
            <a:avLst>
              <a:gd name="adj" fmla="val 50000"/>
            </a:avLst>
          </a:prstGeom>
          <a:solidFill>
            <a:srgbClr val="F0245E"/>
          </a:solidFill>
          <a:ln/>
        </p:spPr>
      </p:sp>
      <p:sp>
        <p:nvSpPr>
          <p:cNvPr id="3" name="Text 1"/>
          <p:cNvSpPr/>
          <p:nvPr/>
        </p:nvSpPr>
        <p:spPr>
          <a:xfrm>
            <a:off x="502920" y="329184"/>
            <a:ext cx="2008022"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SHORTLIST</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Four sets, scored side by side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Overall index — the mean of the five audience columns. Best set in each column = 100.</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4</a:t>
            </a:r>
            <a:endParaRPr lang="en-US" sz="1000" dirty="0"/>
          </a:p>
        </p:txBody>
      </p:sp>
      <p:graphicFrame>
        <p:nvGraphicFramePr>
          <p:cNvPr id="8" name="Chart 0" descr=""/>
          <p:cNvGraphicFramePr/>
          <p:nvPr/>
        </p:nvGraphicFramePr>
        <p:xfrm>
          <a:off x="502920" y="1874520"/>
          <a:ext cx="5943600" cy="36576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6720840" y="1874520"/>
            <a:ext cx="1234440" cy="365760"/>
          </a:xfrm>
          <a:prstGeom prst="rect">
            <a:avLst/>
          </a:prstGeom>
          <a:noFill/>
          <a:ln/>
        </p:spPr>
        <p:txBody>
          <a:bodyPr wrap="square" lIns="0" tIns="0" rIns="0" bIns="0" rtlCol="0" anchor="ctr"/>
          <a:lstStyle/>
          <a:p>
            <a:pPr algn="l" indent="0" marL="0">
              <a:buNone/>
            </a:pPr>
            <a:endParaRPr lang="en-US" sz="950" dirty="0"/>
          </a:p>
        </p:txBody>
      </p:sp>
      <p:sp>
        <p:nvSpPr>
          <p:cNvPr id="10" name="Text 7"/>
          <p:cNvSpPr/>
          <p:nvPr/>
        </p:nvSpPr>
        <p:spPr>
          <a:xfrm>
            <a:off x="7955280" y="1874520"/>
            <a:ext cx="841248"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Child</a:t>
            </a:r>
            <a:endParaRPr lang="en-US" sz="950" dirty="0"/>
          </a:p>
        </p:txBody>
      </p:sp>
      <p:sp>
        <p:nvSpPr>
          <p:cNvPr id="11" name="Text 8"/>
          <p:cNvSpPr/>
          <p:nvPr/>
        </p:nvSpPr>
        <p:spPr>
          <a:xfrm>
            <a:off x="8796528" y="1874520"/>
            <a:ext cx="896112"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Senior</a:t>
            </a:r>
            <a:endParaRPr lang="en-US" sz="950" dirty="0"/>
          </a:p>
        </p:txBody>
      </p:sp>
      <p:sp>
        <p:nvSpPr>
          <p:cNvPr id="12" name="Text 9"/>
          <p:cNvSpPr/>
          <p:nvPr/>
        </p:nvSpPr>
        <p:spPr>
          <a:xfrm>
            <a:off x="9692640" y="1874520"/>
            <a:ext cx="822960"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Work</a:t>
            </a:r>
            <a:endParaRPr lang="en-US" sz="950" dirty="0"/>
          </a:p>
        </p:txBody>
      </p:sp>
      <p:sp>
        <p:nvSpPr>
          <p:cNvPr id="13" name="Text 10"/>
          <p:cNvSpPr/>
          <p:nvPr/>
        </p:nvSpPr>
        <p:spPr>
          <a:xfrm>
            <a:off x="10515600" y="1874520"/>
            <a:ext cx="822960"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Sand.</a:t>
            </a:r>
            <a:endParaRPr lang="en-US" sz="950" dirty="0"/>
          </a:p>
        </p:txBody>
      </p:sp>
      <p:sp>
        <p:nvSpPr>
          <p:cNvPr id="14" name="Text 11"/>
          <p:cNvSpPr/>
          <p:nvPr/>
        </p:nvSpPr>
        <p:spPr>
          <a:xfrm>
            <a:off x="11338560" y="1874520"/>
            <a:ext cx="850392" cy="365760"/>
          </a:xfrm>
          <a:prstGeom prst="rect">
            <a:avLst/>
          </a:prstGeom>
          <a:noFill/>
          <a:ln/>
        </p:spPr>
        <p:txBody>
          <a:bodyPr wrap="square" lIns="0" tIns="0" rIns="0" bIns="0" rtlCol="0" anchor="ctr"/>
          <a:lstStyle/>
          <a:p>
            <a:pPr algn="ctr" indent="0" marL="0">
              <a:buNone/>
            </a:pPr>
            <a:r>
              <a:rPr lang="en-US" sz="950" b="1" dirty="0">
                <a:solidFill>
                  <a:srgbClr val="5A6484"/>
                </a:solidFill>
                <a:latin typeface="Arial" pitchFamily="34" charset="0"/>
                <a:ea typeface="Arial" pitchFamily="34" charset="-122"/>
                <a:cs typeface="Arial" pitchFamily="34" charset="-120"/>
              </a:rPr>
              <a:t>Youth</a:t>
            </a:r>
            <a:endParaRPr lang="en-US" sz="950" dirty="0"/>
          </a:p>
        </p:txBody>
      </p:sp>
      <p:sp>
        <p:nvSpPr>
          <p:cNvPr id="15" name="Shape 12"/>
          <p:cNvSpPr/>
          <p:nvPr/>
        </p:nvSpPr>
        <p:spPr>
          <a:xfrm>
            <a:off x="6720840" y="2249424"/>
            <a:ext cx="5166360" cy="0"/>
          </a:xfrm>
          <a:prstGeom prst="line">
            <a:avLst/>
          </a:prstGeom>
          <a:noFill/>
          <a:ln w="12700">
            <a:solidFill>
              <a:srgbClr val="D8DDE9"/>
            </a:solidFill>
            <a:prstDash val="solid"/>
          </a:ln>
        </p:spPr>
      </p:sp>
      <p:sp>
        <p:nvSpPr>
          <p:cNvPr id="16" name="Text 13"/>
          <p:cNvSpPr/>
          <p:nvPr/>
        </p:nvSpPr>
        <p:spPr>
          <a:xfrm>
            <a:off x="6720840" y="2331720"/>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Set 1</a:t>
            </a:r>
            <a:endParaRPr lang="en-US" sz="1150" dirty="0"/>
          </a:p>
        </p:txBody>
      </p:sp>
      <p:sp>
        <p:nvSpPr>
          <p:cNvPr id="17" name="Text 14"/>
          <p:cNvSpPr/>
          <p:nvPr/>
        </p:nvSpPr>
        <p:spPr>
          <a:xfrm>
            <a:off x="7955280" y="2331720"/>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92.7</a:t>
            </a:r>
            <a:endParaRPr lang="en-US" sz="1150" dirty="0"/>
          </a:p>
        </p:txBody>
      </p:sp>
      <p:sp>
        <p:nvSpPr>
          <p:cNvPr id="18" name="Text 15"/>
          <p:cNvSpPr/>
          <p:nvPr/>
        </p:nvSpPr>
        <p:spPr>
          <a:xfrm>
            <a:off x="8796528" y="2331720"/>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67.4</a:t>
            </a:r>
            <a:endParaRPr lang="en-US" sz="1150" dirty="0"/>
          </a:p>
        </p:txBody>
      </p:sp>
      <p:sp>
        <p:nvSpPr>
          <p:cNvPr id="19" name="Text 16"/>
          <p:cNvSpPr/>
          <p:nvPr/>
        </p:nvSpPr>
        <p:spPr>
          <a:xfrm>
            <a:off x="9692640" y="2331720"/>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82.2</a:t>
            </a:r>
            <a:endParaRPr lang="en-US" sz="1150" dirty="0"/>
          </a:p>
        </p:txBody>
      </p:sp>
      <p:sp>
        <p:nvSpPr>
          <p:cNvPr id="20" name="Text 17"/>
          <p:cNvSpPr/>
          <p:nvPr/>
        </p:nvSpPr>
        <p:spPr>
          <a:xfrm>
            <a:off x="10515600" y="2331720"/>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74.8</a:t>
            </a:r>
            <a:endParaRPr lang="en-US" sz="1150" dirty="0"/>
          </a:p>
        </p:txBody>
      </p:sp>
      <p:sp>
        <p:nvSpPr>
          <p:cNvPr id="21" name="Text 18"/>
          <p:cNvSpPr/>
          <p:nvPr/>
        </p:nvSpPr>
        <p:spPr>
          <a:xfrm>
            <a:off x="11338560" y="2331720"/>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87.2</a:t>
            </a:r>
            <a:endParaRPr lang="en-US" sz="1150" dirty="0"/>
          </a:p>
        </p:txBody>
      </p:sp>
      <p:sp>
        <p:nvSpPr>
          <p:cNvPr id="22" name="Shape 19"/>
          <p:cNvSpPr/>
          <p:nvPr/>
        </p:nvSpPr>
        <p:spPr>
          <a:xfrm>
            <a:off x="6629400" y="2779776"/>
            <a:ext cx="5349240" cy="420624"/>
          </a:xfrm>
          <a:prstGeom prst="roundRect">
            <a:avLst>
              <a:gd name="adj" fmla="val 15217"/>
            </a:avLst>
          </a:prstGeom>
          <a:solidFill>
            <a:srgbClr val="FDF0F4"/>
          </a:solidFill>
          <a:ln w="12700">
            <a:solidFill>
              <a:srgbClr val="F0245E"/>
            </a:solidFill>
            <a:prstDash val="solid"/>
          </a:ln>
        </p:spPr>
      </p:sp>
      <p:sp>
        <p:nvSpPr>
          <p:cNvPr id="23" name="Text 20"/>
          <p:cNvSpPr/>
          <p:nvPr/>
        </p:nvSpPr>
        <p:spPr>
          <a:xfrm>
            <a:off x="6720840" y="2807208"/>
            <a:ext cx="1234440" cy="365760"/>
          </a:xfrm>
          <a:prstGeom prst="rect">
            <a:avLst/>
          </a:prstGeom>
          <a:noFill/>
          <a:ln/>
        </p:spPr>
        <p:txBody>
          <a:bodyPr wrap="square" lIns="0" tIns="0" rIns="0" bIns="0" rtlCol="0" anchor="ctr"/>
          <a:lstStyle/>
          <a:p>
            <a:pPr algn="l" indent="0" marL="0">
              <a:buNone/>
            </a:pPr>
            <a:r>
              <a:rPr lang="en-US" sz="1150" b="1" dirty="0">
                <a:solidFill>
                  <a:srgbClr val="F0245E"/>
                </a:solidFill>
                <a:latin typeface="Arial" pitchFamily="34" charset="0"/>
                <a:ea typeface="Arial" pitchFamily="34" charset="-122"/>
                <a:cs typeface="Arial" pitchFamily="34" charset="-120"/>
              </a:rPr>
              <a:t>DBP C1</a:t>
            </a:r>
            <a:endParaRPr lang="en-US" sz="1150" dirty="0"/>
          </a:p>
        </p:txBody>
      </p:sp>
      <p:sp>
        <p:nvSpPr>
          <p:cNvPr id="24" name="Text 21"/>
          <p:cNvSpPr/>
          <p:nvPr/>
        </p:nvSpPr>
        <p:spPr>
          <a:xfrm>
            <a:off x="7955280" y="2807208"/>
            <a:ext cx="841248"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96.5</a:t>
            </a:r>
            <a:endParaRPr lang="en-US" sz="1150" dirty="0"/>
          </a:p>
        </p:txBody>
      </p:sp>
      <p:sp>
        <p:nvSpPr>
          <p:cNvPr id="25" name="Text 22"/>
          <p:cNvSpPr/>
          <p:nvPr/>
        </p:nvSpPr>
        <p:spPr>
          <a:xfrm>
            <a:off x="8796528" y="2807208"/>
            <a:ext cx="896112"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90.6</a:t>
            </a:r>
            <a:endParaRPr lang="en-US" sz="1150" dirty="0"/>
          </a:p>
        </p:txBody>
      </p:sp>
      <p:sp>
        <p:nvSpPr>
          <p:cNvPr id="26" name="Text 23"/>
          <p:cNvSpPr/>
          <p:nvPr/>
        </p:nvSpPr>
        <p:spPr>
          <a:xfrm>
            <a:off x="9692640" y="2807208"/>
            <a:ext cx="822960"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92.9</a:t>
            </a:r>
            <a:endParaRPr lang="en-US" sz="1150" dirty="0"/>
          </a:p>
        </p:txBody>
      </p:sp>
      <p:sp>
        <p:nvSpPr>
          <p:cNvPr id="27" name="Text 24"/>
          <p:cNvSpPr/>
          <p:nvPr/>
        </p:nvSpPr>
        <p:spPr>
          <a:xfrm>
            <a:off x="10515600" y="2807208"/>
            <a:ext cx="822960"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92.7</a:t>
            </a:r>
            <a:endParaRPr lang="en-US" sz="1150" dirty="0"/>
          </a:p>
        </p:txBody>
      </p:sp>
      <p:sp>
        <p:nvSpPr>
          <p:cNvPr id="28" name="Text 25"/>
          <p:cNvSpPr/>
          <p:nvPr/>
        </p:nvSpPr>
        <p:spPr>
          <a:xfrm>
            <a:off x="11338560" y="2807208"/>
            <a:ext cx="850392" cy="365760"/>
          </a:xfrm>
          <a:prstGeom prst="rect">
            <a:avLst/>
          </a:prstGeom>
          <a:noFill/>
          <a:ln/>
        </p:spPr>
        <p:txBody>
          <a:bodyPr wrap="square" lIns="0" tIns="0" rIns="0" bIns="0" rtlCol="0" anchor="ctr"/>
          <a:lstStyle/>
          <a:p>
            <a:pPr algn="ctr" indent="0" marL="0">
              <a:buNone/>
            </a:pPr>
            <a:r>
              <a:rPr lang="en-US" sz="1150" b="1" dirty="0">
                <a:solidFill>
                  <a:srgbClr val="F0245E"/>
                </a:solidFill>
                <a:latin typeface="Arial" pitchFamily="34" charset="0"/>
                <a:ea typeface="Arial" pitchFamily="34" charset="-122"/>
                <a:cs typeface="Arial" pitchFamily="34" charset="-120"/>
              </a:rPr>
              <a:t>96.4</a:t>
            </a:r>
            <a:endParaRPr lang="en-US" sz="1150" dirty="0"/>
          </a:p>
        </p:txBody>
      </p:sp>
      <p:sp>
        <p:nvSpPr>
          <p:cNvPr id="29" name="Text 26"/>
          <p:cNvSpPr/>
          <p:nvPr/>
        </p:nvSpPr>
        <p:spPr>
          <a:xfrm>
            <a:off x="6720840" y="3282696"/>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DBP L2</a:t>
            </a:r>
            <a:endParaRPr lang="en-US" sz="1150" dirty="0"/>
          </a:p>
        </p:txBody>
      </p:sp>
      <p:sp>
        <p:nvSpPr>
          <p:cNvPr id="30" name="Text 27"/>
          <p:cNvSpPr/>
          <p:nvPr/>
        </p:nvSpPr>
        <p:spPr>
          <a:xfrm>
            <a:off x="7955280" y="3282696"/>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95.2</a:t>
            </a:r>
            <a:endParaRPr lang="en-US" sz="1150" dirty="0"/>
          </a:p>
        </p:txBody>
      </p:sp>
      <p:sp>
        <p:nvSpPr>
          <p:cNvPr id="31" name="Text 28"/>
          <p:cNvSpPr/>
          <p:nvPr/>
        </p:nvSpPr>
        <p:spPr>
          <a:xfrm>
            <a:off x="8796528" y="3282696"/>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97.7</a:t>
            </a:r>
            <a:endParaRPr lang="en-US" sz="1150" dirty="0"/>
          </a:p>
        </p:txBody>
      </p:sp>
      <p:sp>
        <p:nvSpPr>
          <p:cNvPr id="32" name="Text 29"/>
          <p:cNvSpPr/>
          <p:nvPr/>
        </p:nvSpPr>
        <p:spPr>
          <a:xfrm>
            <a:off x="9692640" y="3282696"/>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86.8</a:t>
            </a:r>
            <a:endParaRPr lang="en-US" sz="1150" dirty="0"/>
          </a:p>
        </p:txBody>
      </p:sp>
      <p:sp>
        <p:nvSpPr>
          <p:cNvPr id="33" name="Text 30"/>
          <p:cNvSpPr/>
          <p:nvPr/>
        </p:nvSpPr>
        <p:spPr>
          <a:xfrm>
            <a:off x="10515600" y="3282696"/>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93.9</a:t>
            </a:r>
            <a:endParaRPr lang="en-US" sz="1150" dirty="0"/>
          </a:p>
        </p:txBody>
      </p:sp>
      <p:sp>
        <p:nvSpPr>
          <p:cNvPr id="34" name="Text 31"/>
          <p:cNvSpPr/>
          <p:nvPr/>
        </p:nvSpPr>
        <p:spPr>
          <a:xfrm>
            <a:off x="11338560" y="3282696"/>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92.7</a:t>
            </a:r>
            <a:endParaRPr lang="en-US" sz="1150" dirty="0"/>
          </a:p>
        </p:txBody>
      </p:sp>
      <p:sp>
        <p:nvSpPr>
          <p:cNvPr id="35" name="Text 32"/>
          <p:cNvSpPr/>
          <p:nvPr/>
        </p:nvSpPr>
        <p:spPr>
          <a:xfrm>
            <a:off x="6720840" y="3758184"/>
            <a:ext cx="1234440" cy="365760"/>
          </a:xfrm>
          <a:prstGeom prst="rect">
            <a:avLst/>
          </a:prstGeom>
          <a:noFill/>
          <a:ln/>
        </p:spPr>
        <p:txBody>
          <a:bodyPr wrap="square" lIns="0" tIns="0" rIns="0" bIns="0" rtlCol="0" anchor="ctr"/>
          <a:lstStyle/>
          <a:p>
            <a:pPr algn="l" indent="0" marL="0">
              <a:buNone/>
            </a:pPr>
            <a:r>
              <a:rPr lang="en-US" sz="1150" dirty="0">
                <a:solidFill>
                  <a:srgbClr val="14204A"/>
                </a:solidFill>
                <a:latin typeface="Arial" pitchFamily="34" charset="0"/>
                <a:ea typeface="Arial" pitchFamily="34" charset="-122"/>
                <a:cs typeface="Arial" pitchFamily="34" charset="-120"/>
              </a:rPr>
              <a:t>DBP C2</a:t>
            </a:r>
            <a:endParaRPr lang="en-US" sz="1150" dirty="0"/>
          </a:p>
        </p:txBody>
      </p:sp>
      <p:sp>
        <p:nvSpPr>
          <p:cNvPr id="36" name="Text 33"/>
          <p:cNvSpPr/>
          <p:nvPr/>
        </p:nvSpPr>
        <p:spPr>
          <a:xfrm>
            <a:off x="7955280" y="3758184"/>
            <a:ext cx="841248"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92.2</a:t>
            </a:r>
            <a:endParaRPr lang="en-US" sz="1150" dirty="0"/>
          </a:p>
        </p:txBody>
      </p:sp>
      <p:sp>
        <p:nvSpPr>
          <p:cNvPr id="37" name="Text 34"/>
          <p:cNvSpPr/>
          <p:nvPr/>
        </p:nvSpPr>
        <p:spPr>
          <a:xfrm>
            <a:off x="8796528" y="3758184"/>
            <a:ext cx="89611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70.4</a:t>
            </a:r>
            <a:endParaRPr lang="en-US" sz="1150" dirty="0"/>
          </a:p>
        </p:txBody>
      </p:sp>
      <p:sp>
        <p:nvSpPr>
          <p:cNvPr id="38" name="Text 35"/>
          <p:cNvSpPr/>
          <p:nvPr/>
        </p:nvSpPr>
        <p:spPr>
          <a:xfrm>
            <a:off x="9692640" y="3758184"/>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88.9</a:t>
            </a:r>
            <a:endParaRPr lang="en-US" sz="1150" dirty="0"/>
          </a:p>
        </p:txBody>
      </p:sp>
      <p:sp>
        <p:nvSpPr>
          <p:cNvPr id="39" name="Text 36"/>
          <p:cNvSpPr/>
          <p:nvPr/>
        </p:nvSpPr>
        <p:spPr>
          <a:xfrm>
            <a:off x="10515600" y="3758184"/>
            <a:ext cx="822960"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77.8</a:t>
            </a:r>
            <a:endParaRPr lang="en-US" sz="1150" dirty="0"/>
          </a:p>
        </p:txBody>
      </p:sp>
      <p:sp>
        <p:nvSpPr>
          <p:cNvPr id="40" name="Text 37"/>
          <p:cNvSpPr/>
          <p:nvPr/>
        </p:nvSpPr>
        <p:spPr>
          <a:xfrm>
            <a:off x="11338560" y="3758184"/>
            <a:ext cx="850392" cy="365760"/>
          </a:xfrm>
          <a:prstGeom prst="rect">
            <a:avLst/>
          </a:prstGeom>
          <a:noFill/>
          <a:ln/>
        </p:spPr>
        <p:txBody>
          <a:bodyPr wrap="square" lIns="0" tIns="0" rIns="0" bIns="0" rtlCol="0" anchor="ctr"/>
          <a:lstStyle/>
          <a:p>
            <a:pPr algn="ctr" indent="0" marL="0">
              <a:buNone/>
            </a:pPr>
            <a:r>
              <a:rPr lang="en-US" sz="1150" dirty="0">
                <a:solidFill>
                  <a:srgbClr val="14204A"/>
                </a:solidFill>
                <a:latin typeface="Arial" pitchFamily="34" charset="0"/>
                <a:ea typeface="Arial" pitchFamily="34" charset="-122"/>
                <a:cs typeface="Arial" pitchFamily="34" charset="-120"/>
              </a:rPr>
              <a:t>85.2</a:t>
            </a:r>
            <a:endParaRPr lang="en-US" sz="1150" dirty="0"/>
          </a:p>
        </p:txBody>
      </p:sp>
      <p:sp>
        <p:nvSpPr>
          <p:cNvPr id="41" name="Shape 38"/>
          <p:cNvSpPr/>
          <p:nvPr/>
        </p:nvSpPr>
        <p:spPr>
          <a:xfrm>
            <a:off x="6629400" y="4389120"/>
            <a:ext cx="5349240" cy="1143000"/>
          </a:xfrm>
          <a:prstGeom prst="roundRect">
            <a:avLst>
              <a:gd name="adj" fmla="val 7200"/>
            </a:avLst>
          </a:prstGeom>
          <a:solidFill>
            <a:srgbClr val="F5F7FC"/>
          </a:solidFill>
          <a:ln w="12700">
            <a:solidFill>
              <a:srgbClr val="D8DDE9"/>
            </a:solidFill>
            <a:prstDash val="solid"/>
          </a:ln>
        </p:spPr>
      </p:sp>
      <p:sp>
        <p:nvSpPr>
          <p:cNvPr id="42" name="Text 39"/>
          <p:cNvSpPr/>
          <p:nvPr/>
        </p:nvSpPr>
        <p:spPr>
          <a:xfrm>
            <a:off x="6830568" y="4572000"/>
            <a:ext cx="4937760" cy="822960"/>
          </a:xfrm>
          <a:prstGeom prst="rect">
            <a:avLst/>
          </a:prstGeom>
          <a:noFill/>
          <a:ln/>
        </p:spPr>
        <p:txBody>
          <a:bodyPr wrap="square" lIns="0" tIns="0" rIns="0" bIns="0" rtlCol="0" anchor="ctr"/>
          <a:lstStyle/>
          <a:p>
            <a:pPr indent="0" marL="0">
              <a:buNone/>
            </a:pPr>
            <a:r>
              <a:rPr lang="en-US" sz="1100" dirty="0">
                <a:solidFill>
                  <a:srgbClr val="5A6484"/>
                </a:solidFill>
                <a:latin typeface="Arial" pitchFamily="34" charset="0"/>
                <a:ea typeface="Arial" pitchFamily="34" charset="-122"/>
                <a:cs typeface="Arial" pitchFamily="34" charset="-120"/>
              </a:rPr>
              <a:t>DBP L2 scores within half a point of DBP C1 — and on the index alone the two swap places depending on how you weight them. The score does not separate them. Slide 8 does.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REJECTED</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Why the other three lost</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A winner with no losers is a sales claim. Here is what each rejected set actually fails at.</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5</a:t>
            </a:r>
            <a:endParaRPr lang="en-US" sz="1000" dirty="0"/>
          </a:p>
        </p:txBody>
      </p:sp>
      <p:sp>
        <p:nvSpPr>
          <p:cNvPr id="8" name="Shape 6"/>
          <p:cNvSpPr/>
          <p:nvPr/>
        </p:nvSpPr>
        <p:spPr>
          <a:xfrm>
            <a:off x="502920" y="1965960"/>
            <a:ext cx="3602736" cy="3017520"/>
          </a:xfrm>
          <a:prstGeom prst="roundRect">
            <a:avLst>
              <a:gd name="adj" fmla="val 2727"/>
            </a:avLst>
          </a:prstGeom>
          <a:solidFill>
            <a:srgbClr val="FFFFFF"/>
          </a:solidFill>
          <a:ln w="12700">
            <a:solidFill>
              <a:srgbClr val="D8DDE9"/>
            </a:solidFill>
            <a:prstDash val="solid"/>
          </a:ln>
        </p:spPr>
      </p:sp>
      <p:sp>
        <p:nvSpPr>
          <p:cNvPr id="9" name="Text 7"/>
          <p:cNvSpPr/>
          <p:nvPr/>
        </p:nvSpPr>
        <p:spPr>
          <a:xfrm>
            <a:off x="777240" y="2194560"/>
            <a:ext cx="2011680" cy="384048"/>
          </a:xfrm>
          <a:prstGeom prst="rect">
            <a:avLst/>
          </a:prstGeom>
          <a:noFill/>
          <a:ln/>
        </p:spPr>
        <p:txBody>
          <a:bodyPr wrap="square" lIns="0" tIns="0" rIns="0" bIns="0" rtlCol="0" anchor="ctr"/>
          <a:lstStyle/>
          <a:p>
            <a:pPr indent="0" marL="0">
              <a:buNone/>
            </a:pPr>
            <a:r>
              <a:rPr lang="en-US" sz="2000" b="1" dirty="0">
                <a:solidFill>
                  <a:srgbClr val="1B2D8A"/>
                </a:solidFill>
                <a:latin typeface="Arial" pitchFamily="34" charset="0"/>
                <a:ea typeface="Arial" pitchFamily="34" charset="-122"/>
                <a:cs typeface="Arial" pitchFamily="34" charset="-120"/>
              </a:rPr>
              <a:t>Set 1</a:t>
            </a:r>
            <a:endParaRPr lang="en-US" sz="2000" dirty="0"/>
          </a:p>
        </p:txBody>
      </p:sp>
      <p:sp>
        <p:nvSpPr>
          <p:cNvPr id="10" name="Text 8"/>
          <p:cNvSpPr/>
          <p:nvPr/>
        </p:nvSpPr>
        <p:spPr>
          <a:xfrm>
            <a:off x="2606040" y="2194560"/>
            <a:ext cx="1225296" cy="384048"/>
          </a:xfrm>
          <a:prstGeom prst="rect">
            <a:avLst/>
          </a:prstGeom>
          <a:noFill/>
          <a:ln/>
        </p:spPr>
        <p:txBody>
          <a:bodyPr wrap="square" lIns="0" tIns="0" rIns="0" bIns="0" rtlCol="0" anchor="ctr"/>
          <a:lstStyle/>
          <a:p>
            <a:pPr algn="r" indent="0" marL="0">
              <a:buNone/>
            </a:pPr>
            <a:r>
              <a:rPr lang="en-US" sz="1600" b="1" dirty="0">
                <a:solidFill>
                  <a:srgbClr val="5A6484"/>
                </a:solidFill>
                <a:latin typeface="Arial" pitchFamily="34" charset="0"/>
                <a:ea typeface="Arial" pitchFamily="34" charset="-122"/>
                <a:cs typeface="Arial" pitchFamily="34" charset="-120"/>
              </a:rPr>
              <a:t>80.9</a:t>
            </a:r>
            <a:endParaRPr lang="en-US" sz="1600" dirty="0"/>
          </a:p>
        </p:txBody>
      </p:sp>
      <p:sp>
        <p:nvSpPr>
          <p:cNvPr id="11" name="Shape 9"/>
          <p:cNvSpPr/>
          <p:nvPr/>
        </p:nvSpPr>
        <p:spPr>
          <a:xfrm>
            <a:off x="777240" y="2688336"/>
            <a:ext cx="3054096" cy="0"/>
          </a:xfrm>
          <a:prstGeom prst="line">
            <a:avLst/>
          </a:prstGeom>
          <a:noFill/>
          <a:ln w="12700">
            <a:solidFill>
              <a:srgbClr val="D8DDE9"/>
            </a:solidFill>
            <a:prstDash val="solid"/>
          </a:ln>
        </p:spPr>
      </p:sp>
      <p:sp>
        <p:nvSpPr>
          <p:cNvPr id="12" name="Text 10"/>
          <p:cNvSpPr/>
          <p:nvPr/>
        </p:nvSpPr>
        <p:spPr>
          <a:xfrm>
            <a:off x="777240" y="2816352"/>
            <a:ext cx="3054096" cy="192024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Seniors 67.4 — the weakest column in the whole evaluation. Passes 19 eldercare facilities against DBP C1’s 37, barely half. Its one virtue is balance: it is the most evenly spread set of the four.</a:t>
            </a:r>
            <a:endParaRPr lang="en-US" sz="1150" dirty="0"/>
          </a:p>
        </p:txBody>
      </p:sp>
      <p:sp>
        <p:nvSpPr>
          <p:cNvPr id="13" name="Shape 11"/>
          <p:cNvSpPr/>
          <p:nvPr/>
        </p:nvSpPr>
        <p:spPr>
          <a:xfrm>
            <a:off x="4297680" y="1965960"/>
            <a:ext cx="3602736" cy="3017520"/>
          </a:xfrm>
          <a:prstGeom prst="roundRect">
            <a:avLst>
              <a:gd name="adj" fmla="val 2727"/>
            </a:avLst>
          </a:prstGeom>
          <a:solidFill>
            <a:srgbClr val="FFFFFF"/>
          </a:solidFill>
          <a:ln w="12700">
            <a:solidFill>
              <a:srgbClr val="D8DDE9"/>
            </a:solidFill>
            <a:prstDash val="solid"/>
          </a:ln>
        </p:spPr>
      </p:sp>
      <p:sp>
        <p:nvSpPr>
          <p:cNvPr id="14" name="Text 12"/>
          <p:cNvSpPr/>
          <p:nvPr/>
        </p:nvSpPr>
        <p:spPr>
          <a:xfrm>
            <a:off x="4572000" y="2194560"/>
            <a:ext cx="2011680" cy="384048"/>
          </a:xfrm>
          <a:prstGeom prst="rect">
            <a:avLst/>
          </a:prstGeom>
          <a:noFill/>
          <a:ln/>
        </p:spPr>
        <p:txBody>
          <a:bodyPr wrap="square" lIns="0" tIns="0" rIns="0" bIns="0" rtlCol="0" anchor="ctr"/>
          <a:lstStyle/>
          <a:p>
            <a:pPr indent="0" marL="0">
              <a:buNone/>
            </a:pPr>
            <a:r>
              <a:rPr lang="en-US" sz="2000" b="1" dirty="0">
                <a:solidFill>
                  <a:srgbClr val="1B2D8A"/>
                </a:solidFill>
                <a:latin typeface="Arial" pitchFamily="34" charset="0"/>
                <a:ea typeface="Arial" pitchFamily="34" charset="-122"/>
                <a:cs typeface="Arial" pitchFamily="34" charset="-120"/>
              </a:rPr>
              <a:t>DBP L2</a:t>
            </a:r>
            <a:endParaRPr lang="en-US" sz="2000" dirty="0"/>
          </a:p>
        </p:txBody>
      </p:sp>
      <p:sp>
        <p:nvSpPr>
          <p:cNvPr id="15" name="Text 13"/>
          <p:cNvSpPr/>
          <p:nvPr/>
        </p:nvSpPr>
        <p:spPr>
          <a:xfrm>
            <a:off x="6400800" y="2194560"/>
            <a:ext cx="1225296" cy="384048"/>
          </a:xfrm>
          <a:prstGeom prst="rect">
            <a:avLst/>
          </a:prstGeom>
          <a:noFill/>
          <a:ln/>
        </p:spPr>
        <p:txBody>
          <a:bodyPr wrap="square" lIns="0" tIns="0" rIns="0" bIns="0" rtlCol="0" anchor="ctr"/>
          <a:lstStyle/>
          <a:p>
            <a:pPr algn="r" indent="0" marL="0">
              <a:buNone/>
            </a:pPr>
            <a:r>
              <a:rPr lang="en-US" sz="1600" b="1" dirty="0">
                <a:solidFill>
                  <a:srgbClr val="5A6484"/>
                </a:solidFill>
                <a:latin typeface="Arial" pitchFamily="34" charset="0"/>
                <a:ea typeface="Arial" pitchFamily="34" charset="-122"/>
                <a:cs typeface="Arial" pitchFamily="34" charset="-120"/>
              </a:rPr>
              <a:t>93.3</a:t>
            </a:r>
            <a:endParaRPr lang="en-US" sz="1600" dirty="0"/>
          </a:p>
        </p:txBody>
      </p:sp>
      <p:sp>
        <p:nvSpPr>
          <p:cNvPr id="16" name="Shape 14"/>
          <p:cNvSpPr/>
          <p:nvPr/>
        </p:nvSpPr>
        <p:spPr>
          <a:xfrm>
            <a:off x="4572000" y="2688336"/>
            <a:ext cx="3054096" cy="0"/>
          </a:xfrm>
          <a:prstGeom prst="line">
            <a:avLst/>
          </a:prstGeom>
          <a:noFill/>
          <a:ln w="12700">
            <a:solidFill>
              <a:srgbClr val="D8DDE9"/>
            </a:solidFill>
            <a:prstDash val="solid"/>
          </a:ln>
        </p:spPr>
      </p:sp>
      <p:sp>
        <p:nvSpPr>
          <p:cNvPr id="17" name="Text 15"/>
          <p:cNvSpPr/>
          <p:nvPr/>
        </p:nvSpPr>
        <p:spPr>
          <a:xfrm>
            <a:off x="4572000" y="2816352"/>
            <a:ext cx="3054096" cy="192024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Scores level with DBP C1 and leads on senior volume. But it reaches no part of the North Region at all, and 6% of its stops are duplicates — inventory paid for twice.</a:t>
            </a:r>
            <a:endParaRPr lang="en-US" sz="1150" dirty="0"/>
          </a:p>
        </p:txBody>
      </p:sp>
      <p:sp>
        <p:nvSpPr>
          <p:cNvPr id="18" name="Shape 16"/>
          <p:cNvSpPr/>
          <p:nvPr/>
        </p:nvSpPr>
        <p:spPr>
          <a:xfrm>
            <a:off x="8092440" y="1965960"/>
            <a:ext cx="3602736" cy="3017520"/>
          </a:xfrm>
          <a:prstGeom prst="roundRect">
            <a:avLst>
              <a:gd name="adj" fmla="val 2727"/>
            </a:avLst>
          </a:prstGeom>
          <a:solidFill>
            <a:srgbClr val="FFFFFF"/>
          </a:solidFill>
          <a:ln w="12700">
            <a:solidFill>
              <a:srgbClr val="D8DDE9"/>
            </a:solidFill>
            <a:prstDash val="solid"/>
          </a:ln>
        </p:spPr>
      </p:sp>
      <p:sp>
        <p:nvSpPr>
          <p:cNvPr id="19" name="Text 17"/>
          <p:cNvSpPr/>
          <p:nvPr/>
        </p:nvSpPr>
        <p:spPr>
          <a:xfrm>
            <a:off x="8366760" y="2194560"/>
            <a:ext cx="2011680" cy="384048"/>
          </a:xfrm>
          <a:prstGeom prst="rect">
            <a:avLst/>
          </a:prstGeom>
          <a:noFill/>
          <a:ln/>
        </p:spPr>
        <p:txBody>
          <a:bodyPr wrap="square" lIns="0" tIns="0" rIns="0" bIns="0" rtlCol="0" anchor="ctr"/>
          <a:lstStyle/>
          <a:p>
            <a:pPr indent="0" marL="0">
              <a:buNone/>
            </a:pPr>
            <a:r>
              <a:rPr lang="en-US" sz="2000" b="1" dirty="0">
                <a:solidFill>
                  <a:srgbClr val="1B2D8A"/>
                </a:solidFill>
                <a:latin typeface="Arial" pitchFamily="34" charset="0"/>
                <a:ea typeface="Arial" pitchFamily="34" charset="-122"/>
                <a:cs typeface="Arial" pitchFamily="34" charset="-120"/>
              </a:rPr>
              <a:t>DBP C2</a:t>
            </a:r>
            <a:endParaRPr lang="en-US" sz="2000" dirty="0"/>
          </a:p>
        </p:txBody>
      </p:sp>
      <p:sp>
        <p:nvSpPr>
          <p:cNvPr id="20" name="Text 18"/>
          <p:cNvSpPr/>
          <p:nvPr/>
        </p:nvSpPr>
        <p:spPr>
          <a:xfrm>
            <a:off x="10195560" y="2194560"/>
            <a:ext cx="1225296" cy="384048"/>
          </a:xfrm>
          <a:prstGeom prst="rect">
            <a:avLst/>
          </a:prstGeom>
          <a:noFill/>
          <a:ln/>
        </p:spPr>
        <p:txBody>
          <a:bodyPr wrap="square" lIns="0" tIns="0" rIns="0" bIns="0" rtlCol="0" anchor="ctr"/>
          <a:lstStyle/>
          <a:p>
            <a:pPr algn="r" indent="0" marL="0">
              <a:buNone/>
            </a:pPr>
            <a:r>
              <a:rPr lang="en-US" sz="1600" b="1" dirty="0">
                <a:solidFill>
                  <a:srgbClr val="5A6484"/>
                </a:solidFill>
                <a:latin typeface="Arial" pitchFamily="34" charset="0"/>
                <a:ea typeface="Arial" pitchFamily="34" charset="-122"/>
                <a:cs typeface="Arial" pitchFamily="34" charset="-120"/>
              </a:rPr>
              <a:t>82.9</a:t>
            </a:r>
            <a:endParaRPr lang="en-US" sz="1600" dirty="0"/>
          </a:p>
        </p:txBody>
      </p:sp>
      <p:sp>
        <p:nvSpPr>
          <p:cNvPr id="21" name="Shape 19"/>
          <p:cNvSpPr/>
          <p:nvPr/>
        </p:nvSpPr>
        <p:spPr>
          <a:xfrm>
            <a:off x="8366760" y="2688336"/>
            <a:ext cx="3054096" cy="0"/>
          </a:xfrm>
          <a:prstGeom prst="line">
            <a:avLst/>
          </a:prstGeom>
          <a:noFill/>
          <a:ln w="12700">
            <a:solidFill>
              <a:srgbClr val="D8DDE9"/>
            </a:solidFill>
            <a:prstDash val="solid"/>
          </a:ln>
        </p:spPr>
      </p:sp>
      <p:sp>
        <p:nvSpPr>
          <p:cNvPr id="22" name="Text 20"/>
          <p:cNvSpPr/>
          <p:nvPr/>
        </p:nvSpPr>
        <p:spPr>
          <a:xfrm>
            <a:off x="8366760" y="2816352"/>
            <a:ext cx="3054096" cy="192024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Seniors 70.4 and the fewest caregiving corridors relative to its size. Carries the most malls (129) but the thinnest daytime corridors. Reaches the North at 0.3%.</a:t>
            </a:r>
            <a:endParaRPr lang="en-US" sz="1150" dirty="0"/>
          </a:p>
        </p:txBody>
      </p:sp>
      <p:sp>
        <p:nvSpPr>
          <p:cNvPr id="23" name="Shape 21"/>
          <p:cNvSpPr/>
          <p:nvPr/>
        </p:nvSpPr>
        <p:spPr>
          <a:xfrm>
            <a:off x="502920" y="5193792"/>
            <a:ext cx="11183112" cy="713232"/>
          </a:xfrm>
          <a:prstGeom prst="roundRect">
            <a:avLst>
              <a:gd name="adj" fmla="val 11538"/>
            </a:avLst>
          </a:prstGeom>
          <a:solidFill>
            <a:srgbClr val="F5F7FC"/>
          </a:solidFill>
          <a:ln w="12700">
            <a:solidFill>
              <a:srgbClr val="D8DDE9"/>
            </a:solidFill>
            <a:prstDash val="solid"/>
          </a:ln>
        </p:spPr>
      </p:sp>
      <p:sp>
        <p:nvSpPr>
          <p:cNvPr id="24" name="Text 22"/>
          <p:cNvSpPr/>
          <p:nvPr/>
        </p:nvSpPr>
        <p:spPr>
          <a:xfrm>
            <a:off x="795528" y="5321808"/>
            <a:ext cx="10607040" cy="457200"/>
          </a:xfrm>
          <a:prstGeom prst="rect">
            <a:avLst/>
          </a:prstGeom>
          <a:noFill/>
          <a:ln/>
        </p:spPr>
        <p:txBody>
          <a:bodyPr wrap="square" lIns="0" tIns="0" rIns="0" bIns="0" rtlCol="0" anchor="ctr"/>
          <a:lstStyle/>
          <a:p>
            <a:pPr indent="0" marL="0">
              <a:buNone/>
            </a:pPr>
            <a:r>
              <a:rPr lang="en-US" sz="1150" dirty="0">
                <a:solidFill>
                  <a:srgbClr val="1B2D8A"/>
                </a:solidFill>
                <a:latin typeface="Arial" pitchFamily="34" charset="0"/>
                <a:ea typeface="Arial" pitchFamily="34" charset="-122"/>
                <a:cs typeface="Arial" pitchFamily="34" charset="-120"/>
              </a:rPr>
              <a:t>Tested under six different weightings. Sets 1 and 4 lose under all six — that part is settled, not a judgement call.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DELIVERY</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DBP C1 delivers, audience by audience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Index out of 100, and the places on the ground that carry it.</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6</a:t>
            </a:r>
            <a:endParaRPr lang="en-US" sz="1000" dirty="0"/>
          </a:p>
        </p:txBody>
      </p:sp>
      <p:sp>
        <p:nvSpPr>
          <p:cNvPr id="8" name="Shape 6"/>
          <p:cNvSpPr/>
          <p:nvPr/>
        </p:nvSpPr>
        <p:spPr>
          <a:xfrm>
            <a:off x="502920" y="1920240"/>
            <a:ext cx="11183112" cy="749808"/>
          </a:xfrm>
          <a:prstGeom prst="roundRect">
            <a:avLst>
              <a:gd name="adj" fmla="val 10976"/>
            </a:avLst>
          </a:prstGeom>
          <a:solidFill>
            <a:srgbClr val="FFFFFF"/>
          </a:solidFill>
          <a:ln w="12700">
            <a:solidFill>
              <a:srgbClr val="D8DDE9"/>
            </a:solidFill>
            <a:prstDash val="solid"/>
          </a:ln>
        </p:spPr>
      </p:sp>
      <p:sp>
        <p:nvSpPr>
          <p:cNvPr id="9" name="Text 7"/>
          <p:cNvSpPr/>
          <p:nvPr/>
        </p:nvSpPr>
        <p:spPr>
          <a:xfrm>
            <a:off x="795528" y="210312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Young children</a:t>
            </a:r>
            <a:endParaRPr lang="en-US" sz="1400" dirty="0"/>
          </a:p>
        </p:txBody>
      </p:sp>
      <p:sp>
        <p:nvSpPr>
          <p:cNvPr id="10" name="Shape 8"/>
          <p:cNvSpPr/>
          <p:nvPr/>
        </p:nvSpPr>
        <p:spPr>
          <a:xfrm>
            <a:off x="3703320" y="2212848"/>
            <a:ext cx="3200400" cy="164592"/>
          </a:xfrm>
          <a:prstGeom prst="roundRect">
            <a:avLst>
              <a:gd name="adj" fmla="val 50000"/>
            </a:avLst>
          </a:prstGeom>
          <a:solidFill>
            <a:srgbClr val="EBEFF7"/>
          </a:solidFill>
          <a:ln/>
        </p:spPr>
      </p:sp>
      <p:sp>
        <p:nvSpPr>
          <p:cNvPr id="11" name="Shape 9"/>
          <p:cNvSpPr/>
          <p:nvPr/>
        </p:nvSpPr>
        <p:spPr>
          <a:xfrm>
            <a:off x="3703320" y="2212848"/>
            <a:ext cx="3088386" cy="164592"/>
          </a:xfrm>
          <a:prstGeom prst="roundRect">
            <a:avLst>
              <a:gd name="adj" fmla="val 50000"/>
            </a:avLst>
          </a:prstGeom>
          <a:solidFill>
            <a:srgbClr val="F0245E"/>
          </a:solidFill>
          <a:ln/>
        </p:spPr>
      </p:sp>
      <p:sp>
        <p:nvSpPr>
          <p:cNvPr id="12" name="Text 10"/>
          <p:cNvSpPr/>
          <p:nvPr/>
        </p:nvSpPr>
        <p:spPr>
          <a:xfrm>
            <a:off x="7013448" y="210312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96.5</a:t>
            </a:r>
            <a:endParaRPr lang="en-US" sz="1250" dirty="0"/>
          </a:p>
        </p:txBody>
      </p:sp>
      <p:sp>
        <p:nvSpPr>
          <p:cNvPr id="13" name="Text 11"/>
          <p:cNvSpPr/>
          <p:nvPr/>
        </p:nvSpPr>
        <p:spPr>
          <a:xfrm>
            <a:off x="7772400" y="210312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45 primary schools · 67 student-care centres</a:t>
            </a:r>
            <a:endParaRPr lang="en-US" sz="1050" dirty="0"/>
          </a:p>
        </p:txBody>
      </p:sp>
      <p:sp>
        <p:nvSpPr>
          <p:cNvPr id="14" name="Shape 12"/>
          <p:cNvSpPr/>
          <p:nvPr/>
        </p:nvSpPr>
        <p:spPr>
          <a:xfrm>
            <a:off x="502920" y="2743200"/>
            <a:ext cx="11183112" cy="749808"/>
          </a:xfrm>
          <a:prstGeom prst="roundRect">
            <a:avLst>
              <a:gd name="adj" fmla="val 10976"/>
            </a:avLst>
          </a:prstGeom>
          <a:solidFill>
            <a:srgbClr val="FFFFFF"/>
          </a:solidFill>
          <a:ln w="12700">
            <a:solidFill>
              <a:srgbClr val="D8DDE9"/>
            </a:solidFill>
            <a:prstDash val="solid"/>
          </a:ln>
        </p:spPr>
      </p:sp>
      <p:sp>
        <p:nvSpPr>
          <p:cNvPr id="15" name="Text 13"/>
          <p:cNvSpPr/>
          <p:nvPr/>
        </p:nvSpPr>
        <p:spPr>
          <a:xfrm>
            <a:off x="795528" y="292608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Seniors</a:t>
            </a:r>
            <a:endParaRPr lang="en-US" sz="1400" dirty="0"/>
          </a:p>
        </p:txBody>
      </p:sp>
      <p:sp>
        <p:nvSpPr>
          <p:cNvPr id="16" name="Shape 14"/>
          <p:cNvSpPr/>
          <p:nvPr/>
        </p:nvSpPr>
        <p:spPr>
          <a:xfrm>
            <a:off x="3703320" y="3035808"/>
            <a:ext cx="3200400" cy="164592"/>
          </a:xfrm>
          <a:prstGeom prst="roundRect">
            <a:avLst>
              <a:gd name="adj" fmla="val 50000"/>
            </a:avLst>
          </a:prstGeom>
          <a:solidFill>
            <a:srgbClr val="EBEFF7"/>
          </a:solidFill>
          <a:ln/>
        </p:spPr>
      </p:sp>
      <p:sp>
        <p:nvSpPr>
          <p:cNvPr id="17" name="Shape 15"/>
          <p:cNvSpPr/>
          <p:nvPr/>
        </p:nvSpPr>
        <p:spPr>
          <a:xfrm>
            <a:off x="3703320" y="3035808"/>
            <a:ext cx="2899562" cy="164592"/>
          </a:xfrm>
          <a:prstGeom prst="roundRect">
            <a:avLst>
              <a:gd name="adj" fmla="val 50000"/>
            </a:avLst>
          </a:prstGeom>
          <a:solidFill>
            <a:srgbClr val="F0245E"/>
          </a:solidFill>
          <a:ln/>
        </p:spPr>
      </p:sp>
      <p:sp>
        <p:nvSpPr>
          <p:cNvPr id="18" name="Text 16"/>
          <p:cNvSpPr/>
          <p:nvPr/>
        </p:nvSpPr>
        <p:spPr>
          <a:xfrm>
            <a:off x="7013448" y="292608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90.6</a:t>
            </a:r>
            <a:endParaRPr lang="en-US" sz="1250" dirty="0"/>
          </a:p>
        </p:txBody>
      </p:sp>
      <p:sp>
        <p:nvSpPr>
          <p:cNvPr id="19" name="Text 17"/>
          <p:cNvSpPr/>
          <p:nvPr/>
        </p:nvSpPr>
        <p:spPr>
          <a:xfrm>
            <a:off x="7772400" y="292608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37 eldercare · 39 community clubs · 9 polyclinics</a:t>
            </a:r>
            <a:endParaRPr lang="en-US" sz="1050" dirty="0"/>
          </a:p>
        </p:txBody>
      </p:sp>
      <p:sp>
        <p:nvSpPr>
          <p:cNvPr id="20" name="Shape 18"/>
          <p:cNvSpPr/>
          <p:nvPr/>
        </p:nvSpPr>
        <p:spPr>
          <a:xfrm>
            <a:off x="502920" y="3566160"/>
            <a:ext cx="11183112" cy="749808"/>
          </a:xfrm>
          <a:prstGeom prst="roundRect">
            <a:avLst>
              <a:gd name="adj" fmla="val 10976"/>
            </a:avLst>
          </a:prstGeom>
          <a:solidFill>
            <a:srgbClr val="FFFFFF"/>
          </a:solidFill>
          <a:ln w="12700">
            <a:solidFill>
              <a:srgbClr val="D8DDE9"/>
            </a:solidFill>
            <a:prstDash val="solid"/>
          </a:ln>
        </p:spPr>
      </p:sp>
      <p:sp>
        <p:nvSpPr>
          <p:cNvPr id="21" name="Text 19"/>
          <p:cNvSpPr/>
          <p:nvPr/>
        </p:nvSpPr>
        <p:spPr>
          <a:xfrm>
            <a:off x="795528" y="374904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Working adults</a:t>
            </a:r>
            <a:endParaRPr lang="en-US" sz="1400" dirty="0"/>
          </a:p>
        </p:txBody>
      </p:sp>
      <p:sp>
        <p:nvSpPr>
          <p:cNvPr id="22" name="Shape 20"/>
          <p:cNvSpPr/>
          <p:nvPr/>
        </p:nvSpPr>
        <p:spPr>
          <a:xfrm>
            <a:off x="3703320" y="3858768"/>
            <a:ext cx="3200400" cy="164592"/>
          </a:xfrm>
          <a:prstGeom prst="roundRect">
            <a:avLst>
              <a:gd name="adj" fmla="val 50000"/>
            </a:avLst>
          </a:prstGeom>
          <a:solidFill>
            <a:srgbClr val="EBEFF7"/>
          </a:solidFill>
          <a:ln/>
        </p:spPr>
      </p:sp>
      <p:sp>
        <p:nvSpPr>
          <p:cNvPr id="23" name="Shape 21"/>
          <p:cNvSpPr/>
          <p:nvPr/>
        </p:nvSpPr>
        <p:spPr>
          <a:xfrm>
            <a:off x="3703320" y="3858768"/>
            <a:ext cx="2973172" cy="164592"/>
          </a:xfrm>
          <a:prstGeom prst="roundRect">
            <a:avLst>
              <a:gd name="adj" fmla="val 50000"/>
            </a:avLst>
          </a:prstGeom>
          <a:solidFill>
            <a:srgbClr val="F0245E"/>
          </a:solidFill>
          <a:ln/>
        </p:spPr>
      </p:sp>
      <p:sp>
        <p:nvSpPr>
          <p:cNvPr id="24" name="Text 22"/>
          <p:cNvSpPr/>
          <p:nvPr/>
        </p:nvSpPr>
        <p:spPr>
          <a:xfrm>
            <a:off x="7013448" y="374904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92.9</a:t>
            </a:r>
            <a:endParaRPr lang="en-US" sz="1250" dirty="0"/>
          </a:p>
        </p:txBody>
      </p:sp>
      <p:sp>
        <p:nvSpPr>
          <p:cNvPr id="25" name="Text 23"/>
          <p:cNvSpPr/>
          <p:nvPr/>
        </p:nvSpPr>
        <p:spPr>
          <a:xfrm>
            <a:off x="7772400" y="374904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21 MRT/LRT interchanges · 114 malls</a:t>
            </a:r>
            <a:endParaRPr lang="en-US" sz="1050" dirty="0"/>
          </a:p>
        </p:txBody>
      </p:sp>
      <p:sp>
        <p:nvSpPr>
          <p:cNvPr id="26" name="Shape 24"/>
          <p:cNvSpPr/>
          <p:nvPr/>
        </p:nvSpPr>
        <p:spPr>
          <a:xfrm>
            <a:off x="502920" y="4389120"/>
            <a:ext cx="11183112" cy="749808"/>
          </a:xfrm>
          <a:prstGeom prst="roundRect">
            <a:avLst>
              <a:gd name="adj" fmla="val 10976"/>
            </a:avLst>
          </a:prstGeom>
          <a:solidFill>
            <a:srgbClr val="FFFFFF"/>
          </a:solidFill>
          <a:ln w="12700">
            <a:solidFill>
              <a:srgbClr val="D8DDE9"/>
            </a:solidFill>
            <a:prstDash val="solid"/>
          </a:ln>
        </p:spPr>
      </p:sp>
      <p:sp>
        <p:nvSpPr>
          <p:cNvPr id="27" name="Text 25"/>
          <p:cNvSpPr/>
          <p:nvPr/>
        </p:nvSpPr>
        <p:spPr>
          <a:xfrm>
            <a:off x="795528" y="457200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Sandwich generation</a:t>
            </a:r>
            <a:endParaRPr lang="en-US" sz="1400" dirty="0"/>
          </a:p>
        </p:txBody>
      </p:sp>
      <p:sp>
        <p:nvSpPr>
          <p:cNvPr id="28" name="Shape 26"/>
          <p:cNvSpPr/>
          <p:nvPr/>
        </p:nvSpPr>
        <p:spPr>
          <a:xfrm>
            <a:off x="3703320" y="4681728"/>
            <a:ext cx="3200400" cy="164592"/>
          </a:xfrm>
          <a:prstGeom prst="roundRect">
            <a:avLst>
              <a:gd name="adj" fmla="val 50000"/>
            </a:avLst>
          </a:prstGeom>
          <a:solidFill>
            <a:srgbClr val="EBEFF7"/>
          </a:solidFill>
          <a:ln/>
        </p:spPr>
      </p:sp>
      <p:sp>
        <p:nvSpPr>
          <p:cNvPr id="29" name="Shape 27"/>
          <p:cNvSpPr/>
          <p:nvPr/>
        </p:nvSpPr>
        <p:spPr>
          <a:xfrm>
            <a:off x="3703320" y="4681728"/>
            <a:ext cx="2966771" cy="164592"/>
          </a:xfrm>
          <a:prstGeom prst="roundRect">
            <a:avLst>
              <a:gd name="adj" fmla="val 50000"/>
            </a:avLst>
          </a:prstGeom>
          <a:solidFill>
            <a:srgbClr val="F0245E"/>
          </a:solidFill>
          <a:ln/>
        </p:spPr>
      </p:sp>
      <p:sp>
        <p:nvSpPr>
          <p:cNvPr id="30" name="Text 28"/>
          <p:cNvSpPr/>
          <p:nvPr/>
        </p:nvSpPr>
        <p:spPr>
          <a:xfrm>
            <a:off x="7013448" y="457200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92.7</a:t>
            </a:r>
            <a:endParaRPr lang="en-US" sz="1250" dirty="0"/>
          </a:p>
        </p:txBody>
      </p:sp>
      <p:sp>
        <p:nvSpPr>
          <p:cNvPr id="31" name="Text 29"/>
          <p:cNvSpPr/>
          <p:nvPr/>
        </p:nvSpPr>
        <p:spPr>
          <a:xfrm>
            <a:off x="7772400" y="457200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99 stops with a school and a senior place inside 400 m</a:t>
            </a:r>
            <a:endParaRPr lang="en-US" sz="1050" dirty="0"/>
          </a:p>
        </p:txBody>
      </p:sp>
      <p:sp>
        <p:nvSpPr>
          <p:cNvPr id="32" name="Shape 30"/>
          <p:cNvSpPr/>
          <p:nvPr/>
        </p:nvSpPr>
        <p:spPr>
          <a:xfrm>
            <a:off x="502920" y="5212080"/>
            <a:ext cx="11183112" cy="749808"/>
          </a:xfrm>
          <a:prstGeom prst="roundRect">
            <a:avLst>
              <a:gd name="adj" fmla="val 10976"/>
            </a:avLst>
          </a:prstGeom>
          <a:solidFill>
            <a:srgbClr val="FFFFFF"/>
          </a:solidFill>
          <a:ln w="12700">
            <a:solidFill>
              <a:srgbClr val="D8DDE9"/>
            </a:solidFill>
            <a:prstDash val="solid"/>
          </a:ln>
        </p:spPr>
      </p:sp>
      <p:sp>
        <p:nvSpPr>
          <p:cNvPr id="33" name="Text 31"/>
          <p:cNvSpPr/>
          <p:nvPr/>
        </p:nvSpPr>
        <p:spPr>
          <a:xfrm>
            <a:off x="795528" y="5394960"/>
            <a:ext cx="2834640" cy="384048"/>
          </a:xfrm>
          <a:prstGeom prst="rect">
            <a:avLst/>
          </a:prstGeom>
          <a:noFill/>
          <a:ln/>
        </p:spPr>
        <p:txBody>
          <a:bodyPr wrap="square" lIns="0" tIns="0" rIns="0" bIns="0" rtlCol="0" anchor="ctr"/>
          <a:lstStyle/>
          <a:p>
            <a:pPr indent="0" marL="0">
              <a:buNone/>
            </a:pPr>
            <a:r>
              <a:rPr lang="en-US" sz="1400" b="1" dirty="0">
                <a:solidFill>
                  <a:srgbClr val="1B2D8A"/>
                </a:solidFill>
                <a:latin typeface="Arial" pitchFamily="34" charset="0"/>
                <a:ea typeface="Arial" pitchFamily="34" charset="-122"/>
                <a:cs typeface="Arial" pitchFamily="34" charset="-120"/>
              </a:rPr>
              <a:t>Youth</a:t>
            </a:r>
            <a:endParaRPr lang="en-US" sz="1400" dirty="0"/>
          </a:p>
        </p:txBody>
      </p:sp>
      <p:sp>
        <p:nvSpPr>
          <p:cNvPr id="34" name="Shape 32"/>
          <p:cNvSpPr/>
          <p:nvPr/>
        </p:nvSpPr>
        <p:spPr>
          <a:xfrm>
            <a:off x="3703320" y="5504688"/>
            <a:ext cx="3200400" cy="164592"/>
          </a:xfrm>
          <a:prstGeom prst="roundRect">
            <a:avLst>
              <a:gd name="adj" fmla="val 50000"/>
            </a:avLst>
          </a:prstGeom>
          <a:solidFill>
            <a:srgbClr val="EBEFF7"/>
          </a:solidFill>
          <a:ln/>
        </p:spPr>
      </p:sp>
      <p:sp>
        <p:nvSpPr>
          <p:cNvPr id="35" name="Shape 33"/>
          <p:cNvSpPr/>
          <p:nvPr/>
        </p:nvSpPr>
        <p:spPr>
          <a:xfrm>
            <a:off x="3703320" y="5504688"/>
            <a:ext cx="3085186" cy="164592"/>
          </a:xfrm>
          <a:prstGeom prst="roundRect">
            <a:avLst>
              <a:gd name="adj" fmla="val 50000"/>
            </a:avLst>
          </a:prstGeom>
          <a:solidFill>
            <a:srgbClr val="F0245E"/>
          </a:solidFill>
          <a:ln/>
        </p:spPr>
      </p:sp>
      <p:sp>
        <p:nvSpPr>
          <p:cNvPr id="36" name="Text 34"/>
          <p:cNvSpPr/>
          <p:nvPr/>
        </p:nvSpPr>
        <p:spPr>
          <a:xfrm>
            <a:off x="7013448" y="5394960"/>
            <a:ext cx="658368" cy="38404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96.4</a:t>
            </a:r>
            <a:endParaRPr lang="en-US" sz="1250" dirty="0"/>
          </a:p>
        </p:txBody>
      </p:sp>
      <p:sp>
        <p:nvSpPr>
          <p:cNvPr id="37" name="Text 35"/>
          <p:cNvSpPr/>
          <p:nvPr/>
        </p:nvSpPr>
        <p:spPr>
          <a:xfrm>
            <a:off x="7772400" y="5394960"/>
            <a:ext cx="3749040" cy="384048"/>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33 secondary · 3 JCs · 19 SportSG · 18 cinemas · 14 libraries</a:t>
            </a:r>
            <a:endParaRPr lang="en-US" sz="1050" dirty="0"/>
          </a:p>
        </p:txBody>
      </p:sp>
      <p:sp>
        <p:nvSpPr>
          <p:cNvPr id="38" name="Text 36"/>
          <p:cNvSpPr/>
          <p:nvPr/>
        </p:nvSpPr>
        <p:spPr>
          <a:xfrm>
            <a:off x="502920" y="6053328"/>
            <a:ext cx="10607040" cy="320040"/>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Index is relative: 100 = the best of the four sets in that column, not a percentage of the audience reached.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287829" cy="310896"/>
          </a:xfrm>
          <a:prstGeom prst="roundRect">
            <a:avLst>
              <a:gd name="adj" fmla="val 50000"/>
            </a:avLst>
          </a:prstGeom>
          <a:solidFill>
            <a:srgbClr val="F0245E"/>
          </a:solidFill>
          <a:ln/>
        </p:spPr>
      </p:sp>
      <p:sp>
        <p:nvSpPr>
          <p:cNvPr id="3" name="Text 1"/>
          <p:cNvSpPr/>
          <p:nvPr/>
        </p:nvSpPr>
        <p:spPr>
          <a:xfrm>
            <a:off x="502920" y="329184"/>
            <a:ext cx="2287829"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SANDWICH GEN</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The sandwich generation, actually measured</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No place layer maps "adult with a child in school and a parent in a clinic". So we measured the corridor instead.</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7</a:t>
            </a:r>
            <a:endParaRPr lang="en-US" sz="1000" dirty="0"/>
          </a:p>
        </p:txBody>
      </p:sp>
      <p:sp>
        <p:nvSpPr>
          <p:cNvPr id="8" name="Shape 6"/>
          <p:cNvSpPr/>
          <p:nvPr/>
        </p:nvSpPr>
        <p:spPr>
          <a:xfrm>
            <a:off x="502920" y="2011680"/>
            <a:ext cx="3931920" cy="3017520"/>
          </a:xfrm>
          <a:prstGeom prst="roundRect">
            <a:avLst>
              <a:gd name="adj" fmla="val 2727"/>
            </a:avLst>
          </a:prstGeom>
          <a:solidFill>
            <a:srgbClr val="1B2D8A"/>
          </a:solidFill>
          <a:ln/>
        </p:spPr>
      </p:sp>
      <p:sp>
        <p:nvSpPr>
          <p:cNvPr id="9" name="Text 7"/>
          <p:cNvSpPr/>
          <p:nvPr/>
        </p:nvSpPr>
        <p:spPr>
          <a:xfrm>
            <a:off x="777240" y="2331720"/>
            <a:ext cx="3383280" cy="1188720"/>
          </a:xfrm>
          <a:prstGeom prst="rect">
            <a:avLst/>
          </a:prstGeom>
          <a:noFill/>
          <a:ln/>
        </p:spPr>
        <p:txBody>
          <a:bodyPr wrap="square" lIns="0" tIns="0" rIns="0" bIns="0" rtlCol="0" anchor="ctr"/>
          <a:lstStyle/>
          <a:p>
            <a:pPr indent="0" marL="0">
              <a:buNone/>
            </a:pPr>
            <a:r>
              <a:rPr lang="en-US" sz="7600" b="1" dirty="0">
                <a:solidFill>
                  <a:srgbClr val="FFFFFF"/>
                </a:solidFill>
                <a:latin typeface="Arial" pitchFamily="34" charset="0"/>
                <a:ea typeface="Arial" pitchFamily="34" charset="-122"/>
                <a:cs typeface="Arial" pitchFamily="34" charset="-120"/>
              </a:rPr>
              <a:t>99</a:t>
            </a:r>
            <a:endParaRPr lang="en-US" sz="7600" dirty="0"/>
          </a:p>
        </p:txBody>
      </p:sp>
      <p:sp>
        <p:nvSpPr>
          <p:cNvPr id="10" name="Text 8"/>
          <p:cNvSpPr/>
          <p:nvPr/>
        </p:nvSpPr>
        <p:spPr>
          <a:xfrm>
            <a:off x="777240" y="3566160"/>
            <a:ext cx="3383280" cy="914400"/>
          </a:xfrm>
          <a:prstGeom prst="rect">
            <a:avLst/>
          </a:prstGeom>
          <a:noFill/>
          <a:ln/>
        </p:spPr>
        <p:txBody>
          <a:bodyPr wrap="square" lIns="0" tIns="0" rIns="0" bIns="0" rtlCol="0" anchor="ctr"/>
          <a:lstStyle/>
          <a:p>
            <a:pPr indent="0" marL="0">
              <a:buNone/>
            </a:pPr>
            <a:r>
              <a:rPr lang="en-US" sz="1300" dirty="0">
                <a:solidFill>
                  <a:srgbClr val="CBD3F2"/>
                </a:solidFill>
                <a:latin typeface="Arial" pitchFamily="34" charset="0"/>
                <a:ea typeface="Arial" pitchFamily="34" charset="-122"/>
                <a:cs typeface="Arial" pitchFamily="34" charset="-120"/>
              </a:rPr>
              <a:t>stops on DBP C1 with BOTH a child place and a senior place within 400 m</a:t>
            </a:r>
            <a:endParaRPr lang="en-US" sz="1300" dirty="0"/>
          </a:p>
        </p:txBody>
      </p:sp>
      <p:sp>
        <p:nvSpPr>
          <p:cNvPr id="11" name="Text 9"/>
          <p:cNvSpPr/>
          <p:nvPr/>
        </p:nvSpPr>
        <p:spPr>
          <a:xfrm>
            <a:off x="777240" y="4434840"/>
            <a:ext cx="3383280" cy="320040"/>
          </a:xfrm>
          <a:prstGeom prst="rect">
            <a:avLst/>
          </a:prstGeom>
          <a:noFill/>
          <a:ln/>
        </p:spPr>
        <p:txBody>
          <a:bodyPr wrap="square" lIns="0" tIns="0" rIns="0" bIns="0" rtlCol="0" anchor="ctr"/>
          <a:lstStyle/>
          <a:p>
            <a:pPr indent="0" marL="0">
              <a:buNone/>
            </a:pPr>
            <a:r>
              <a:rPr lang="en-US" sz="1100" b="1" dirty="0">
                <a:solidFill>
                  <a:srgbClr val="F0245E"/>
                </a:solidFill>
                <a:latin typeface="Arial" pitchFamily="34" charset="0"/>
                <a:ea typeface="Arial" pitchFamily="34" charset="-122"/>
                <a:cs typeface="Arial" pitchFamily="34" charset="-120"/>
              </a:rPr>
              <a:t>DBP L2: 87   ·   DBP C2: 84   ·   Set 1: 77</a:t>
            </a:r>
            <a:endParaRPr lang="en-US" sz="1100" dirty="0"/>
          </a:p>
        </p:txBody>
      </p:sp>
      <p:sp>
        <p:nvSpPr>
          <p:cNvPr id="12" name="Shape 10"/>
          <p:cNvSpPr/>
          <p:nvPr/>
        </p:nvSpPr>
        <p:spPr>
          <a:xfrm>
            <a:off x="4754880" y="2011680"/>
            <a:ext cx="6931152" cy="3017520"/>
          </a:xfrm>
          <a:prstGeom prst="roundRect">
            <a:avLst>
              <a:gd name="adj" fmla="val 2727"/>
            </a:avLst>
          </a:prstGeom>
          <a:solidFill>
            <a:srgbClr val="FFFFFF"/>
          </a:solidFill>
          <a:ln w="12700">
            <a:solidFill>
              <a:srgbClr val="D8DDE9"/>
            </a:solidFill>
            <a:prstDash val="solid"/>
          </a:ln>
        </p:spPr>
      </p:sp>
      <p:sp>
        <p:nvSpPr>
          <p:cNvPr id="13" name="Text 11"/>
          <p:cNvSpPr/>
          <p:nvPr/>
        </p:nvSpPr>
        <p:spPr>
          <a:xfrm>
            <a:off x="5047488" y="2240280"/>
            <a:ext cx="6309360" cy="329184"/>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Why this is the number to trust</a:t>
            </a:r>
            <a:endParaRPr lang="en-US" sz="1500" dirty="0"/>
          </a:p>
        </p:txBody>
      </p:sp>
      <p:sp>
        <p:nvSpPr>
          <p:cNvPr id="14" name="Text 12"/>
          <p:cNvSpPr/>
          <p:nvPr/>
        </p:nvSpPr>
        <p:spPr>
          <a:xfrm>
            <a:off x="5047488" y="2633472"/>
            <a:ext cx="6309360" cy="731520"/>
          </a:xfrm>
          <a:prstGeom prst="rect">
            <a:avLst/>
          </a:prstGeom>
          <a:noFill/>
          <a:ln/>
        </p:spPr>
        <p:txBody>
          <a:bodyPr wrap="square" lIns="0" tIns="0" rIns="0" bIns="0" rtlCol="0" anchor="ctr"/>
          <a:lstStyle/>
          <a:p>
            <a:pPr indent="0" marL="0">
              <a:buNone/>
            </a:pPr>
            <a:endParaRPr lang="en-US" sz="1150" dirty="0"/>
          </a:p>
        </p:txBody>
      </p:sp>
      <p:sp>
        <p:nvSpPr>
          <p:cNvPr id="15" name="Text 13"/>
          <p:cNvSpPr/>
          <p:nvPr/>
        </p:nvSpPr>
        <p:spPr>
          <a:xfrm>
            <a:off x="5047488" y="3401568"/>
            <a:ext cx="6309360" cy="6400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It is also the only audience of the five that is defined by a behaviour rather than an age band — the caregiving trip, run after work and at the weekend. That is why it drives the dayparting on slide 11.</a:t>
            </a:r>
            <a:endParaRPr lang="en-US" sz="1150" dirty="0"/>
          </a:p>
        </p:txBody>
      </p:sp>
      <p:sp>
        <p:nvSpPr>
          <p:cNvPr id="16" name="Text 14"/>
          <p:cNvSpPr/>
          <p:nvPr/>
        </p:nvSpPr>
        <p:spPr>
          <a:xfrm>
            <a:off x="5047488" y="4114800"/>
            <a:ext cx="6309360" cy="640080"/>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DBP C1 carries 0.250 caregiving stops per stop bought — the highest of the four sets, and 34% ahead of DBP L2.</a:t>
            </a:r>
            <a:endParaRPr lang="en-US" sz="1200" dirty="0"/>
          </a:p>
        </p:txBody>
      </p:sp>
      <p:sp>
        <p:nvSpPr>
          <p:cNvPr id="17" name="Shape 15"/>
          <p:cNvSpPr/>
          <p:nvPr/>
        </p:nvSpPr>
        <p:spPr>
          <a:xfrm>
            <a:off x="502920" y="5193792"/>
            <a:ext cx="11183112" cy="713232"/>
          </a:xfrm>
          <a:prstGeom prst="roundRect">
            <a:avLst>
              <a:gd name="adj" fmla="val 11538"/>
            </a:avLst>
          </a:prstGeom>
          <a:solidFill>
            <a:srgbClr val="F5F7FC"/>
          </a:solidFill>
          <a:ln w="12700">
            <a:solidFill>
              <a:srgbClr val="D8DDE9"/>
            </a:solidFill>
            <a:prstDash val="solid"/>
          </a:ln>
        </p:spPr>
      </p:sp>
      <p:sp>
        <p:nvSpPr>
          <p:cNvPr id="18" name="Text 16"/>
          <p:cNvSpPr/>
          <p:nvPr/>
        </p:nvSpPr>
        <p:spPr>
          <a:xfrm>
            <a:off x="795528" y="5321808"/>
            <a:ext cx="10607040" cy="457200"/>
          </a:xfrm>
          <a:prstGeom prst="rect">
            <a:avLst/>
          </a:prstGeom>
          <a:noFill/>
          <a:ln/>
        </p:spPr>
        <p:txBody>
          <a:bodyPr wrap="square" lIns="0" tIns="0" rIns="0" bIns="0" rtlCol="0" anchor="ctr"/>
          <a:lstStyle/>
          <a:p>
            <a:pPr indent="0" marL="0">
              <a:buNone/>
            </a:pPr>
            <a:r>
              <a:rPr lang="en-US" sz="1150" dirty="0">
                <a:solidFill>
                  <a:srgbClr val="1B2D8A"/>
                </a:solidFill>
                <a:latin typeface="Arial" pitchFamily="34" charset="0"/>
                <a:ea typeface="Arial" pitchFamily="34" charset="-122"/>
                <a:cs typeface="Arial" pitchFamily="34" charset="-120"/>
              </a:rPr>
              <a:t>Top caregiving zones — Sengkang (15) · Choa Chu Kang (9) · Punggol (9) · Jurong East (8) · Serangoon (6)</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COVERAGE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A national hotline needs national coverage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audience index counts seniors — but not where they live. This is what it could not see.</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8</a:t>
            </a:r>
            <a:endParaRPr lang="en-US" sz="1000" dirty="0"/>
          </a:p>
        </p:txBody>
      </p:sp>
      <p:sp>
        <p:nvSpPr>
          <p:cNvPr id="8" name="Text 6"/>
          <p:cNvSpPr/>
          <p:nvPr/>
        </p:nvSpPr>
        <p:spPr>
          <a:xfrm>
            <a:off x="22860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Central</a:t>
            </a:r>
            <a:endParaRPr lang="en-US" sz="1050" dirty="0"/>
          </a:p>
        </p:txBody>
      </p:sp>
      <p:sp>
        <p:nvSpPr>
          <p:cNvPr id="9" name="Text 7"/>
          <p:cNvSpPr/>
          <p:nvPr/>
        </p:nvSpPr>
        <p:spPr>
          <a:xfrm>
            <a:off x="41148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East</a:t>
            </a:r>
            <a:endParaRPr lang="en-US" sz="1050" dirty="0"/>
          </a:p>
        </p:txBody>
      </p:sp>
      <p:sp>
        <p:nvSpPr>
          <p:cNvPr id="10" name="Text 8"/>
          <p:cNvSpPr/>
          <p:nvPr/>
        </p:nvSpPr>
        <p:spPr>
          <a:xfrm>
            <a:off x="59436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North</a:t>
            </a:r>
            <a:endParaRPr lang="en-US" sz="1050" dirty="0"/>
          </a:p>
        </p:txBody>
      </p:sp>
      <p:sp>
        <p:nvSpPr>
          <p:cNvPr id="11" name="Text 9"/>
          <p:cNvSpPr/>
          <p:nvPr/>
        </p:nvSpPr>
        <p:spPr>
          <a:xfrm>
            <a:off x="77724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North-East</a:t>
            </a:r>
            <a:endParaRPr lang="en-US" sz="1050" dirty="0"/>
          </a:p>
        </p:txBody>
      </p:sp>
      <p:sp>
        <p:nvSpPr>
          <p:cNvPr id="12" name="Text 10"/>
          <p:cNvSpPr/>
          <p:nvPr/>
        </p:nvSpPr>
        <p:spPr>
          <a:xfrm>
            <a:off x="9601200" y="1874520"/>
            <a:ext cx="1828800" cy="329184"/>
          </a:xfrm>
          <a:prstGeom prst="rect">
            <a:avLst/>
          </a:prstGeom>
          <a:noFill/>
          <a:ln/>
        </p:spPr>
        <p:txBody>
          <a:bodyPr wrap="square" lIns="0" tIns="0" rIns="0" bIns="0" rtlCol="0" anchor="ctr"/>
          <a:lstStyle/>
          <a:p>
            <a:pPr algn="ctr" indent="0" marL="0">
              <a:buNone/>
            </a:pPr>
            <a:r>
              <a:rPr lang="en-US" sz="1050" b="1" dirty="0">
                <a:solidFill>
                  <a:srgbClr val="5A6484"/>
                </a:solidFill>
                <a:latin typeface="Arial" pitchFamily="34" charset="0"/>
                <a:ea typeface="Arial" pitchFamily="34" charset="-122"/>
                <a:cs typeface="Arial" pitchFamily="34" charset="-120"/>
              </a:rPr>
              <a:t>West</a:t>
            </a:r>
            <a:endParaRPr lang="en-US" sz="1050" dirty="0"/>
          </a:p>
        </p:txBody>
      </p:sp>
      <p:sp>
        <p:nvSpPr>
          <p:cNvPr id="13" name="Text 11"/>
          <p:cNvSpPr/>
          <p:nvPr/>
        </p:nvSpPr>
        <p:spPr>
          <a:xfrm>
            <a:off x="502920" y="2286000"/>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Set 1</a:t>
            </a:r>
            <a:endParaRPr lang="en-US" sz="1300" dirty="0"/>
          </a:p>
        </p:txBody>
      </p:sp>
      <p:sp>
        <p:nvSpPr>
          <p:cNvPr id="14" name="Shape 12"/>
          <p:cNvSpPr/>
          <p:nvPr/>
        </p:nvSpPr>
        <p:spPr>
          <a:xfrm>
            <a:off x="2340864" y="2286000"/>
            <a:ext cx="1719072" cy="566928"/>
          </a:xfrm>
          <a:prstGeom prst="roundRect">
            <a:avLst>
              <a:gd name="adj" fmla="val 11290"/>
            </a:avLst>
          </a:prstGeom>
          <a:solidFill>
            <a:srgbClr val="4A5BB0"/>
          </a:solidFill>
          <a:ln/>
        </p:spPr>
      </p:sp>
      <p:sp>
        <p:nvSpPr>
          <p:cNvPr id="15" name="Text 13"/>
          <p:cNvSpPr/>
          <p:nvPr/>
        </p:nvSpPr>
        <p:spPr>
          <a:xfrm>
            <a:off x="23408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24.0%</a:t>
            </a:r>
            <a:endParaRPr lang="en-US" sz="1200" dirty="0"/>
          </a:p>
        </p:txBody>
      </p:sp>
      <p:sp>
        <p:nvSpPr>
          <p:cNvPr id="16" name="Shape 14"/>
          <p:cNvSpPr/>
          <p:nvPr/>
        </p:nvSpPr>
        <p:spPr>
          <a:xfrm>
            <a:off x="4169664" y="2286000"/>
            <a:ext cx="1719072" cy="566928"/>
          </a:xfrm>
          <a:prstGeom prst="roundRect">
            <a:avLst>
              <a:gd name="adj" fmla="val 11290"/>
            </a:avLst>
          </a:prstGeom>
          <a:solidFill>
            <a:srgbClr val="4A5BB0"/>
          </a:solidFill>
          <a:ln/>
        </p:spPr>
      </p:sp>
      <p:sp>
        <p:nvSpPr>
          <p:cNvPr id="17" name="Text 15"/>
          <p:cNvSpPr/>
          <p:nvPr/>
        </p:nvSpPr>
        <p:spPr>
          <a:xfrm>
            <a:off x="41696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28.9%</a:t>
            </a:r>
            <a:endParaRPr lang="en-US" sz="1200" dirty="0"/>
          </a:p>
        </p:txBody>
      </p:sp>
      <p:sp>
        <p:nvSpPr>
          <p:cNvPr id="18" name="Shape 16"/>
          <p:cNvSpPr/>
          <p:nvPr/>
        </p:nvSpPr>
        <p:spPr>
          <a:xfrm>
            <a:off x="5998464" y="2286000"/>
            <a:ext cx="1719072" cy="566928"/>
          </a:xfrm>
          <a:prstGeom prst="roundRect">
            <a:avLst>
              <a:gd name="adj" fmla="val 11290"/>
            </a:avLst>
          </a:prstGeom>
          <a:solidFill>
            <a:srgbClr val="9AA5D6"/>
          </a:solidFill>
          <a:ln/>
        </p:spPr>
      </p:sp>
      <p:sp>
        <p:nvSpPr>
          <p:cNvPr id="19" name="Text 17"/>
          <p:cNvSpPr/>
          <p:nvPr/>
        </p:nvSpPr>
        <p:spPr>
          <a:xfrm>
            <a:off x="5998464" y="2286000"/>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13.6%</a:t>
            </a:r>
            <a:endParaRPr lang="en-US" sz="1200" dirty="0"/>
          </a:p>
        </p:txBody>
      </p:sp>
      <p:sp>
        <p:nvSpPr>
          <p:cNvPr id="20" name="Shape 18"/>
          <p:cNvSpPr/>
          <p:nvPr/>
        </p:nvSpPr>
        <p:spPr>
          <a:xfrm>
            <a:off x="7827264" y="2286000"/>
            <a:ext cx="1719072" cy="566928"/>
          </a:xfrm>
          <a:prstGeom prst="roundRect">
            <a:avLst>
              <a:gd name="adj" fmla="val 11290"/>
            </a:avLst>
          </a:prstGeom>
          <a:solidFill>
            <a:srgbClr val="4A5BB0"/>
          </a:solidFill>
          <a:ln/>
        </p:spPr>
      </p:sp>
      <p:sp>
        <p:nvSpPr>
          <p:cNvPr id="21" name="Text 19"/>
          <p:cNvSpPr/>
          <p:nvPr/>
        </p:nvSpPr>
        <p:spPr>
          <a:xfrm>
            <a:off x="7827264" y="2286000"/>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23.0%</a:t>
            </a:r>
            <a:endParaRPr lang="en-US" sz="1200" dirty="0"/>
          </a:p>
        </p:txBody>
      </p:sp>
      <p:sp>
        <p:nvSpPr>
          <p:cNvPr id="22" name="Shape 20"/>
          <p:cNvSpPr/>
          <p:nvPr/>
        </p:nvSpPr>
        <p:spPr>
          <a:xfrm>
            <a:off x="9656064" y="2286000"/>
            <a:ext cx="1719072" cy="566928"/>
          </a:xfrm>
          <a:prstGeom prst="roundRect">
            <a:avLst>
              <a:gd name="adj" fmla="val 11290"/>
            </a:avLst>
          </a:prstGeom>
          <a:solidFill>
            <a:srgbClr val="DDE2F2"/>
          </a:solidFill>
          <a:ln/>
        </p:spPr>
      </p:sp>
      <p:sp>
        <p:nvSpPr>
          <p:cNvPr id="23" name="Text 21"/>
          <p:cNvSpPr/>
          <p:nvPr/>
        </p:nvSpPr>
        <p:spPr>
          <a:xfrm>
            <a:off x="9656064" y="2286000"/>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10.5%</a:t>
            </a:r>
            <a:endParaRPr lang="en-US" sz="1200" dirty="0"/>
          </a:p>
        </p:txBody>
      </p:sp>
      <p:sp>
        <p:nvSpPr>
          <p:cNvPr id="24" name="Text 22"/>
          <p:cNvSpPr/>
          <p:nvPr/>
        </p:nvSpPr>
        <p:spPr>
          <a:xfrm>
            <a:off x="502920" y="2962656"/>
            <a:ext cx="1645920" cy="566928"/>
          </a:xfrm>
          <a:prstGeom prst="rect">
            <a:avLst/>
          </a:prstGeom>
          <a:noFill/>
          <a:ln/>
        </p:spPr>
        <p:txBody>
          <a:bodyPr wrap="square" lIns="0" tIns="0" rIns="0" bIns="0" rtlCol="0" anchor="ctr"/>
          <a:lstStyle/>
          <a:p>
            <a:pPr indent="0" marL="0">
              <a:buNone/>
            </a:pPr>
            <a:r>
              <a:rPr lang="en-US" sz="1300" b="1" dirty="0">
                <a:solidFill>
                  <a:srgbClr val="F0245E"/>
                </a:solidFill>
                <a:latin typeface="Arial" pitchFamily="34" charset="0"/>
                <a:ea typeface="Arial" pitchFamily="34" charset="-122"/>
                <a:cs typeface="Arial" pitchFamily="34" charset="-120"/>
              </a:rPr>
              <a:t>DBP C1</a:t>
            </a:r>
            <a:endParaRPr lang="en-US" sz="1300" dirty="0"/>
          </a:p>
        </p:txBody>
      </p:sp>
      <p:sp>
        <p:nvSpPr>
          <p:cNvPr id="25" name="Shape 23"/>
          <p:cNvSpPr/>
          <p:nvPr/>
        </p:nvSpPr>
        <p:spPr>
          <a:xfrm>
            <a:off x="2340864" y="2962656"/>
            <a:ext cx="1719072" cy="566928"/>
          </a:xfrm>
          <a:prstGeom prst="roundRect">
            <a:avLst>
              <a:gd name="adj" fmla="val 11290"/>
            </a:avLst>
          </a:prstGeom>
          <a:solidFill>
            <a:srgbClr val="1B2D8A"/>
          </a:solidFill>
          <a:ln/>
        </p:spPr>
      </p:sp>
      <p:sp>
        <p:nvSpPr>
          <p:cNvPr id="26" name="Text 24"/>
          <p:cNvSpPr/>
          <p:nvPr/>
        </p:nvSpPr>
        <p:spPr>
          <a:xfrm>
            <a:off x="23408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39.0%</a:t>
            </a:r>
            <a:endParaRPr lang="en-US" sz="1200" dirty="0"/>
          </a:p>
        </p:txBody>
      </p:sp>
      <p:sp>
        <p:nvSpPr>
          <p:cNvPr id="27" name="Shape 25"/>
          <p:cNvSpPr/>
          <p:nvPr/>
        </p:nvSpPr>
        <p:spPr>
          <a:xfrm>
            <a:off x="4169664" y="2962656"/>
            <a:ext cx="1719072" cy="566928"/>
          </a:xfrm>
          <a:prstGeom prst="roundRect">
            <a:avLst>
              <a:gd name="adj" fmla="val 11290"/>
            </a:avLst>
          </a:prstGeom>
          <a:solidFill>
            <a:srgbClr val="FFFFFF"/>
          </a:solidFill>
          <a:ln w="19050">
            <a:solidFill>
              <a:srgbClr val="F0245E"/>
            </a:solidFill>
            <a:prstDash val="dash"/>
          </a:ln>
        </p:spPr>
      </p:sp>
      <p:sp>
        <p:nvSpPr>
          <p:cNvPr id="28" name="Text 26"/>
          <p:cNvSpPr/>
          <p:nvPr/>
        </p:nvSpPr>
        <p:spPr>
          <a:xfrm>
            <a:off x="4169664" y="2962656"/>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0.0%</a:t>
            </a:r>
            <a:endParaRPr lang="en-US" sz="1200" dirty="0"/>
          </a:p>
        </p:txBody>
      </p:sp>
      <p:sp>
        <p:nvSpPr>
          <p:cNvPr id="29" name="Shape 27"/>
          <p:cNvSpPr/>
          <p:nvPr/>
        </p:nvSpPr>
        <p:spPr>
          <a:xfrm>
            <a:off x="5998464" y="2962656"/>
            <a:ext cx="1719072" cy="566928"/>
          </a:xfrm>
          <a:prstGeom prst="roundRect">
            <a:avLst>
              <a:gd name="adj" fmla="val 11290"/>
            </a:avLst>
          </a:prstGeom>
          <a:solidFill>
            <a:srgbClr val="DDE2F2"/>
          </a:solidFill>
          <a:ln/>
        </p:spPr>
      </p:sp>
      <p:sp>
        <p:nvSpPr>
          <p:cNvPr id="30" name="Text 28"/>
          <p:cNvSpPr/>
          <p:nvPr/>
        </p:nvSpPr>
        <p:spPr>
          <a:xfrm>
            <a:off x="5998464" y="2962656"/>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7.8%</a:t>
            </a:r>
            <a:endParaRPr lang="en-US" sz="1200" dirty="0"/>
          </a:p>
        </p:txBody>
      </p:sp>
      <p:sp>
        <p:nvSpPr>
          <p:cNvPr id="31" name="Shape 29"/>
          <p:cNvSpPr/>
          <p:nvPr/>
        </p:nvSpPr>
        <p:spPr>
          <a:xfrm>
            <a:off x="7827264" y="2962656"/>
            <a:ext cx="1719072" cy="566928"/>
          </a:xfrm>
          <a:prstGeom prst="roundRect">
            <a:avLst>
              <a:gd name="adj" fmla="val 11290"/>
            </a:avLst>
          </a:prstGeom>
          <a:solidFill>
            <a:srgbClr val="4A5BB0"/>
          </a:solidFill>
          <a:ln/>
        </p:spPr>
      </p:sp>
      <p:sp>
        <p:nvSpPr>
          <p:cNvPr id="32" name="Text 30"/>
          <p:cNvSpPr/>
          <p:nvPr/>
        </p:nvSpPr>
        <p:spPr>
          <a:xfrm>
            <a:off x="78272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26.1%</a:t>
            </a:r>
            <a:endParaRPr lang="en-US" sz="1200" dirty="0"/>
          </a:p>
        </p:txBody>
      </p:sp>
      <p:sp>
        <p:nvSpPr>
          <p:cNvPr id="33" name="Shape 31"/>
          <p:cNvSpPr/>
          <p:nvPr/>
        </p:nvSpPr>
        <p:spPr>
          <a:xfrm>
            <a:off x="9656064" y="2962656"/>
            <a:ext cx="1719072" cy="566928"/>
          </a:xfrm>
          <a:prstGeom prst="roundRect">
            <a:avLst>
              <a:gd name="adj" fmla="val 11290"/>
            </a:avLst>
          </a:prstGeom>
          <a:solidFill>
            <a:srgbClr val="4A5BB0"/>
          </a:solidFill>
          <a:ln/>
        </p:spPr>
      </p:sp>
      <p:sp>
        <p:nvSpPr>
          <p:cNvPr id="34" name="Text 32"/>
          <p:cNvSpPr/>
          <p:nvPr/>
        </p:nvSpPr>
        <p:spPr>
          <a:xfrm>
            <a:off x="9656064" y="2962656"/>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27.1%</a:t>
            </a:r>
            <a:endParaRPr lang="en-US" sz="1200" dirty="0"/>
          </a:p>
        </p:txBody>
      </p:sp>
      <p:sp>
        <p:nvSpPr>
          <p:cNvPr id="35" name="Text 33"/>
          <p:cNvSpPr/>
          <p:nvPr/>
        </p:nvSpPr>
        <p:spPr>
          <a:xfrm>
            <a:off x="502920" y="3639312"/>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DBP L2</a:t>
            </a:r>
            <a:endParaRPr lang="en-US" sz="1300" dirty="0"/>
          </a:p>
        </p:txBody>
      </p:sp>
      <p:sp>
        <p:nvSpPr>
          <p:cNvPr id="36" name="Shape 34"/>
          <p:cNvSpPr/>
          <p:nvPr/>
        </p:nvSpPr>
        <p:spPr>
          <a:xfrm>
            <a:off x="2340864" y="3639312"/>
            <a:ext cx="1719072" cy="566928"/>
          </a:xfrm>
          <a:prstGeom prst="roundRect">
            <a:avLst>
              <a:gd name="adj" fmla="val 11290"/>
            </a:avLst>
          </a:prstGeom>
          <a:solidFill>
            <a:srgbClr val="1B2D8A"/>
          </a:solidFill>
          <a:ln/>
        </p:spPr>
      </p:sp>
      <p:sp>
        <p:nvSpPr>
          <p:cNvPr id="37" name="Text 35"/>
          <p:cNvSpPr/>
          <p:nvPr/>
        </p:nvSpPr>
        <p:spPr>
          <a:xfrm>
            <a:off x="2340864" y="3639312"/>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46.2%</a:t>
            </a:r>
            <a:endParaRPr lang="en-US" sz="1200" dirty="0"/>
          </a:p>
        </p:txBody>
      </p:sp>
      <p:sp>
        <p:nvSpPr>
          <p:cNvPr id="38" name="Shape 36"/>
          <p:cNvSpPr/>
          <p:nvPr/>
        </p:nvSpPr>
        <p:spPr>
          <a:xfrm>
            <a:off x="4169664" y="3639312"/>
            <a:ext cx="1719072" cy="566928"/>
          </a:xfrm>
          <a:prstGeom prst="roundRect">
            <a:avLst>
              <a:gd name="adj" fmla="val 11290"/>
            </a:avLst>
          </a:prstGeom>
          <a:solidFill>
            <a:srgbClr val="4A5BB0"/>
          </a:solidFill>
          <a:ln/>
        </p:spPr>
      </p:sp>
      <p:sp>
        <p:nvSpPr>
          <p:cNvPr id="39" name="Text 37"/>
          <p:cNvSpPr/>
          <p:nvPr/>
        </p:nvSpPr>
        <p:spPr>
          <a:xfrm>
            <a:off x="4169664" y="3639312"/>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28.8%</a:t>
            </a:r>
            <a:endParaRPr lang="en-US" sz="1200" dirty="0"/>
          </a:p>
        </p:txBody>
      </p:sp>
      <p:sp>
        <p:nvSpPr>
          <p:cNvPr id="40" name="Shape 38"/>
          <p:cNvSpPr/>
          <p:nvPr/>
        </p:nvSpPr>
        <p:spPr>
          <a:xfrm>
            <a:off x="5998464" y="3639312"/>
            <a:ext cx="1719072" cy="566928"/>
          </a:xfrm>
          <a:prstGeom prst="roundRect">
            <a:avLst>
              <a:gd name="adj" fmla="val 11290"/>
            </a:avLst>
          </a:prstGeom>
          <a:solidFill>
            <a:srgbClr val="FFFFFF"/>
          </a:solidFill>
          <a:ln w="19050">
            <a:solidFill>
              <a:srgbClr val="F0245E"/>
            </a:solidFill>
            <a:prstDash val="dash"/>
          </a:ln>
        </p:spPr>
      </p:sp>
      <p:sp>
        <p:nvSpPr>
          <p:cNvPr id="41" name="Text 39"/>
          <p:cNvSpPr/>
          <p:nvPr/>
        </p:nvSpPr>
        <p:spPr>
          <a:xfrm>
            <a:off x="5998464" y="3639312"/>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0.0%</a:t>
            </a:r>
            <a:endParaRPr lang="en-US" sz="1200" dirty="0"/>
          </a:p>
        </p:txBody>
      </p:sp>
      <p:sp>
        <p:nvSpPr>
          <p:cNvPr id="42" name="Shape 40"/>
          <p:cNvSpPr/>
          <p:nvPr/>
        </p:nvSpPr>
        <p:spPr>
          <a:xfrm>
            <a:off x="7827264" y="3639312"/>
            <a:ext cx="1719072" cy="566928"/>
          </a:xfrm>
          <a:prstGeom prst="roundRect">
            <a:avLst>
              <a:gd name="adj" fmla="val 11290"/>
            </a:avLst>
          </a:prstGeom>
          <a:solidFill>
            <a:srgbClr val="9AA5D6"/>
          </a:solidFill>
          <a:ln/>
        </p:spPr>
      </p:sp>
      <p:sp>
        <p:nvSpPr>
          <p:cNvPr id="43" name="Text 41"/>
          <p:cNvSpPr/>
          <p:nvPr/>
        </p:nvSpPr>
        <p:spPr>
          <a:xfrm>
            <a:off x="7827264" y="3639312"/>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12.5%</a:t>
            </a:r>
            <a:endParaRPr lang="en-US" sz="1200" dirty="0"/>
          </a:p>
        </p:txBody>
      </p:sp>
      <p:sp>
        <p:nvSpPr>
          <p:cNvPr id="44" name="Shape 42"/>
          <p:cNvSpPr/>
          <p:nvPr/>
        </p:nvSpPr>
        <p:spPr>
          <a:xfrm>
            <a:off x="9656064" y="3639312"/>
            <a:ext cx="1719072" cy="566928"/>
          </a:xfrm>
          <a:prstGeom prst="roundRect">
            <a:avLst>
              <a:gd name="adj" fmla="val 11290"/>
            </a:avLst>
          </a:prstGeom>
          <a:solidFill>
            <a:srgbClr val="9AA5D6"/>
          </a:solidFill>
          <a:ln/>
        </p:spPr>
      </p:sp>
      <p:sp>
        <p:nvSpPr>
          <p:cNvPr id="45" name="Text 43"/>
          <p:cNvSpPr/>
          <p:nvPr/>
        </p:nvSpPr>
        <p:spPr>
          <a:xfrm>
            <a:off x="9656064" y="3639312"/>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12.6%</a:t>
            </a:r>
            <a:endParaRPr lang="en-US" sz="1200" dirty="0"/>
          </a:p>
        </p:txBody>
      </p:sp>
      <p:sp>
        <p:nvSpPr>
          <p:cNvPr id="46" name="Text 44"/>
          <p:cNvSpPr/>
          <p:nvPr/>
        </p:nvSpPr>
        <p:spPr>
          <a:xfrm>
            <a:off x="502920" y="4315968"/>
            <a:ext cx="1645920" cy="566928"/>
          </a:xfrm>
          <a:prstGeom prst="rect">
            <a:avLst/>
          </a:prstGeom>
          <a:noFill/>
          <a:ln/>
        </p:spPr>
        <p:txBody>
          <a:bodyPr wrap="square" lIns="0" tIns="0" rIns="0" bIns="0" rtlCol="0" anchor="ctr"/>
          <a:lstStyle/>
          <a:p>
            <a:pPr indent="0" marL="0">
              <a:buNone/>
            </a:pPr>
            <a:r>
              <a:rPr lang="en-US" sz="1300" dirty="0">
                <a:solidFill>
                  <a:srgbClr val="14204A"/>
                </a:solidFill>
                <a:latin typeface="Arial" pitchFamily="34" charset="0"/>
                <a:ea typeface="Arial" pitchFamily="34" charset="-122"/>
                <a:cs typeface="Arial" pitchFamily="34" charset="-120"/>
              </a:rPr>
              <a:t>DBP C2</a:t>
            </a:r>
            <a:endParaRPr lang="en-US" sz="1300" dirty="0"/>
          </a:p>
        </p:txBody>
      </p:sp>
      <p:sp>
        <p:nvSpPr>
          <p:cNvPr id="47" name="Shape 45"/>
          <p:cNvSpPr/>
          <p:nvPr/>
        </p:nvSpPr>
        <p:spPr>
          <a:xfrm>
            <a:off x="2340864" y="4315968"/>
            <a:ext cx="1719072" cy="566928"/>
          </a:xfrm>
          <a:prstGeom prst="roundRect">
            <a:avLst>
              <a:gd name="adj" fmla="val 11290"/>
            </a:avLst>
          </a:prstGeom>
          <a:solidFill>
            <a:srgbClr val="1B2D8A"/>
          </a:solidFill>
          <a:ln/>
        </p:spPr>
      </p:sp>
      <p:sp>
        <p:nvSpPr>
          <p:cNvPr id="48" name="Text 46"/>
          <p:cNvSpPr/>
          <p:nvPr/>
        </p:nvSpPr>
        <p:spPr>
          <a:xfrm>
            <a:off x="2340864" y="4315968"/>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37.5%</a:t>
            </a:r>
            <a:endParaRPr lang="en-US" sz="1200" dirty="0"/>
          </a:p>
        </p:txBody>
      </p:sp>
      <p:sp>
        <p:nvSpPr>
          <p:cNvPr id="49" name="Shape 47"/>
          <p:cNvSpPr/>
          <p:nvPr/>
        </p:nvSpPr>
        <p:spPr>
          <a:xfrm>
            <a:off x="4169664" y="4315968"/>
            <a:ext cx="1719072" cy="566928"/>
          </a:xfrm>
          <a:prstGeom prst="roundRect">
            <a:avLst>
              <a:gd name="adj" fmla="val 11290"/>
            </a:avLst>
          </a:prstGeom>
          <a:solidFill>
            <a:srgbClr val="DDE2F2"/>
          </a:solidFill>
          <a:ln/>
        </p:spPr>
      </p:sp>
      <p:sp>
        <p:nvSpPr>
          <p:cNvPr id="50" name="Text 48"/>
          <p:cNvSpPr/>
          <p:nvPr/>
        </p:nvSpPr>
        <p:spPr>
          <a:xfrm>
            <a:off x="4169664" y="4315968"/>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11.7%</a:t>
            </a:r>
            <a:endParaRPr lang="en-US" sz="1200" dirty="0"/>
          </a:p>
        </p:txBody>
      </p:sp>
      <p:sp>
        <p:nvSpPr>
          <p:cNvPr id="51" name="Shape 49"/>
          <p:cNvSpPr/>
          <p:nvPr/>
        </p:nvSpPr>
        <p:spPr>
          <a:xfrm>
            <a:off x="5998464" y="4315968"/>
            <a:ext cx="1719072" cy="566928"/>
          </a:xfrm>
          <a:prstGeom prst="roundRect">
            <a:avLst>
              <a:gd name="adj" fmla="val 11290"/>
            </a:avLst>
          </a:prstGeom>
          <a:solidFill>
            <a:srgbClr val="FFFFFF"/>
          </a:solidFill>
          <a:ln w="19050">
            <a:solidFill>
              <a:srgbClr val="F0245E"/>
            </a:solidFill>
            <a:prstDash val="dash"/>
          </a:ln>
        </p:spPr>
      </p:sp>
      <p:sp>
        <p:nvSpPr>
          <p:cNvPr id="52" name="Text 50"/>
          <p:cNvSpPr/>
          <p:nvPr/>
        </p:nvSpPr>
        <p:spPr>
          <a:xfrm>
            <a:off x="5998464" y="4315968"/>
            <a:ext cx="1719072" cy="566928"/>
          </a:xfrm>
          <a:prstGeom prst="rect">
            <a:avLst/>
          </a:prstGeom>
          <a:noFill/>
          <a:ln/>
        </p:spPr>
        <p:txBody>
          <a:bodyPr wrap="square" lIns="0" tIns="0" rIns="0" bIns="0" rtlCol="0" anchor="ctr"/>
          <a:lstStyle/>
          <a:p>
            <a:pPr algn="ctr" indent="0" marL="0">
              <a:buNone/>
            </a:pPr>
            <a:r>
              <a:rPr lang="en-US" sz="1200" b="1" dirty="0">
                <a:solidFill>
                  <a:srgbClr val="F0245E"/>
                </a:solidFill>
                <a:latin typeface="Arial" pitchFamily="34" charset="0"/>
                <a:ea typeface="Arial" pitchFamily="34" charset="-122"/>
                <a:cs typeface="Arial" pitchFamily="34" charset="-120"/>
              </a:rPr>
              <a:t>0.3%</a:t>
            </a:r>
            <a:endParaRPr lang="en-US" sz="1200" dirty="0"/>
          </a:p>
        </p:txBody>
      </p:sp>
      <p:sp>
        <p:nvSpPr>
          <p:cNvPr id="53" name="Shape 51"/>
          <p:cNvSpPr/>
          <p:nvPr/>
        </p:nvSpPr>
        <p:spPr>
          <a:xfrm>
            <a:off x="7827264" y="4315968"/>
            <a:ext cx="1719072" cy="566928"/>
          </a:xfrm>
          <a:prstGeom prst="roundRect">
            <a:avLst>
              <a:gd name="adj" fmla="val 11290"/>
            </a:avLst>
          </a:prstGeom>
          <a:solidFill>
            <a:srgbClr val="1B2D8A"/>
          </a:solidFill>
          <a:ln/>
        </p:spPr>
      </p:sp>
      <p:sp>
        <p:nvSpPr>
          <p:cNvPr id="54" name="Text 52"/>
          <p:cNvSpPr/>
          <p:nvPr/>
        </p:nvSpPr>
        <p:spPr>
          <a:xfrm>
            <a:off x="7827264" y="4315968"/>
            <a:ext cx="171907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36.0%</a:t>
            </a:r>
            <a:endParaRPr lang="en-US" sz="1200" dirty="0"/>
          </a:p>
        </p:txBody>
      </p:sp>
      <p:sp>
        <p:nvSpPr>
          <p:cNvPr id="55" name="Shape 53"/>
          <p:cNvSpPr/>
          <p:nvPr/>
        </p:nvSpPr>
        <p:spPr>
          <a:xfrm>
            <a:off x="9656064" y="4315968"/>
            <a:ext cx="1719072" cy="566928"/>
          </a:xfrm>
          <a:prstGeom prst="roundRect">
            <a:avLst>
              <a:gd name="adj" fmla="val 11290"/>
            </a:avLst>
          </a:prstGeom>
          <a:solidFill>
            <a:srgbClr val="9AA5D6"/>
          </a:solidFill>
          <a:ln/>
        </p:spPr>
      </p:sp>
      <p:sp>
        <p:nvSpPr>
          <p:cNvPr id="56" name="Text 54"/>
          <p:cNvSpPr/>
          <p:nvPr/>
        </p:nvSpPr>
        <p:spPr>
          <a:xfrm>
            <a:off x="9656064" y="4315968"/>
            <a:ext cx="1719072" cy="566928"/>
          </a:xfrm>
          <a:prstGeom prst="rect">
            <a:avLst/>
          </a:prstGeom>
          <a:noFill/>
          <a:ln/>
        </p:spPr>
        <p:txBody>
          <a:bodyPr wrap="square" lIns="0" tIns="0" rIns="0" bIns="0" rtlCol="0" anchor="ctr"/>
          <a:lstStyle/>
          <a:p>
            <a:pPr algn="ctr" indent="0" marL="0">
              <a:buNone/>
            </a:pPr>
            <a:r>
              <a:rPr lang="en-US" sz="1200" dirty="0">
                <a:solidFill>
                  <a:srgbClr val="14204A"/>
                </a:solidFill>
                <a:latin typeface="Arial" pitchFamily="34" charset="0"/>
                <a:ea typeface="Arial" pitchFamily="34" charset="-122"/>
                <a:cs typeface="Arial" pitchFamily="34" charset="-120"/>
              </a:rPr>
              <a:t>14.6%</a:t>
            </a:r>
            <a:endParaRPr lang="en-US" sz="1200" dirty="0"/>
          </a:p>
        </p:txBody>
      </p:sp>
      <p:sp>
        <p:nvSpPr>
          <p:cNvPr id="57" name="Shape 55"/>
          <p:cNvSpPr/>
          <p:nvPr/>
        </p:nvSpPr>
        <p:spPr>
          <a:xfrm>
            <a:off x="502920" y="5047488"/>
            <a:ext cx="11183112" cy="868680"/>
          </a:xfrm>
          <a:prstGeom prst="roundRect">
            <a:avLst>
              <a:gd name="adj" fmla="val 9474"/>
            </a:avLst>
          </a:prstGeom>
          <a:solidFill>
            <a:srgbClr val="FDF0F4"/>
          </a:solidFill>
          <a:ln w="12700">
            <a:solidFill>
              <a:srgbClr val="F0245E"/>
            </a:solidFill>
            <a:prstDash val="solid"/>
          </a:ln>
        </p:spPr>
      </p:sp>
      <p:sp>
        <p:nvSpPr>
          <p:cNvPr id="58" name="Text 56"/>
          <p:cNvSpPr/>
          <p:nvPr/>
        </p:nvSpPr>
        <p:spPr>
          <a:xfrm>
            <a:off x="795528" y="5175504"/>
            <a:ext cx="10607040" cy="621792"/>
          </a:xfrm>
          <a:prstGeom prst="rect">
            <a:avLst/>
          </a:prstGeom>
          <a:noFill/>
          <a:ln/>
        </p:spPr>
        <p:txBody>
          <a:bodyPr wrap="square" lIns="0" tIns="0" rIns="0" bIns="0" rtlCol="0" anchor="ctr"/>
          <a:lstStyle/>
          <a:p>
            <a:pPr indent="0" marL="0">
              <a:buNone/>
            </a:pPr>
            <a:r>
              <a:rPr lang="en-US" sz="1200" dirty="0">
                <a:solidFill>
                  <a:srgbClr val="1B2D8A"/>
                </a:solidFill>
                <a:latin typeface="Arial" pitchFamily="34" charset="0"/>
                <a:ea typeface="Arial" pitchFamily="34" charset="-122"/>
                <a:cs typeface="Arial" pitchFamily="34" charset="-120"/>
              </a:rPr>
              <a:t>Only two routes in the entire twenty-route pool reach the North: 117 and 85. Sets 3 and 4 contain neither — so Woodlands, Sembawang and Yishun would see nothing. DBP C1 carries 85. That, not the score, is why it is the recommendation.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448410" cy="310896"/>
          </a:xfrm>
          <a:prstGeom prst="roundRect">
            <a:avLst>
              <a:gd name="adj" fmla="val 50000"/>
            </a:avLst>
          </a:prstGeom>
          <a:solidFill>
            <a:srgbClr val="F0245E"/>
          </a:solidFill>
          <a:ln/>
        </p:spPr>
      </p:sp>
      <p:sp>
        <p:nvSpPr>
          <p:cNvPr id="3" name="Text 1"/>
          <p:cNvSpPr/>
          <p:nvPr/>
        </p:nvSpPr>
        <p:spPr>
          <a:xfrm>
            <a:off x="502920" y="329184"/>
            <a:ext cx="1448410"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DCO</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One buy, five conversations</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The same five buses carry a different message depending on where they are and what hour it is.</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9</a:t>
            </a:r>
            <a:endParaRPr lang="en-US" sz="1000" dirty="0"/>
          </a:p>
        </p:txBody>
      </p:sp>
      <p:sp>
        <p:nvSpPr>
          <p:cNvPr id="8" name="Shape 6"/>
          <p:cNvSpPr/>
          <p:nvPr/>
        </p:nvSpPr>
        <p:spPr>
          <a:xfrm>
            <a:off x="502920" y="2011680"/>
            <a:ext cx="3602736" cy="2514600"/>
          </a:xfrm>
          <a:prstGeom prst="roundRect">
            <a:avLst>
              <a:gd name="adj" fmla="val 3273"/>
            </a:avLst>
          </a:prstGeom>
          <a:solidFill>
            <a:srgbClr val="FFFFFF"/>
          </a:solidFill>
          <a:ln w="12700">
            <a:solidFill>
              <a:srgbClr val="D8DDE9"/>
            </a:solidFill>
            <a:prstDash val="solid"/>
          </a:ln>
        </p:spPr>
      </p:sp>
      <p:sp>
        <p:nvSpPr>
          <p:cNvPr id="9" name="Shape 7"/>
          <p:cNvSpPr/>
          <p:nvPr/>
        </p:nvSpPr>
        <p:spPr>
          <a:xfrm>
            <a:off x="777240" y="2267712"/>
            <a:ext cx="420624" cy="420624"/>
          </a:xfrm>
          <a:prstGeom prst="roundRect">
            <a:avLst>
              <a:gd name="adj" fmla="val 50000"/>
            </a:avLst>
          </a:prstGeom>
          <a:solidFill>
            <a:srgbClr val="F0245E"/>
          </a:solidFill>
          <a:ln/>
        </p:spPr>
      </p:sp>
      <p:sp>
        <p:nvSpPr>
          <p:cNvPr id="10" name="Text 8"/>
          <p:cNvSpPr/>
          <p:nvPr/>
        </p:nvSpPr>
        <p:spPr>
          <a:xfrm>
            <a:off x="77724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134416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GEOFENCE</a:t>
            </a:r>
            <a:endParaRPr lang="en-US" sz="1100" dirty="0"/>
          </a:p>
        </p:txBody>
      </p:sp>
      <p:sp>
        <p:nvSpPr>
          <p:cNvPr id="12" name="Text 10"/>
          <p:cNvSpPr/>
          <p:nvPr/>
        </p:nvSpPr>
        <p:spPr>
          <a:xfrm>
            <a:off x="134416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Where</a:t>
            </a:r>
            <a:endParaRPr lang="en-US" sz="1500" dirty="0"/>
          </a:p>
        </p:txBody>
      </p:sp>
      <p:sp>
        <p:nvSpPr>
          <p:cNvPr id="13" name="Text 11"/>
          <p:cNvSpPr/>
          <p:nvPr/>
        </p:nvSpPr>
        <p:spPr>
          <a:xfrm>
            <a:off x="77724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Each audience has zones along the route where it actually concentrates. Derived from the place data, not drawn by hand — every zone is named and its anchors listed.</a:t>
            </a:r>
            <a:endParaRPr lang="en-US" sz="1150" dirty="0"/>
          </a:p>
        </p:txBody>
      </p:sp>
      <p:sp>
        <p:nvSpPr>
          <p:cNvPr id="14" name="Shape 12"/>
          <p:cNvSpPr/>
          <p:nvPr/>
        </p:nvSpPr>
        <p:spPr>
          <a:xfrm>
            <a:off x="4297680" y="2011680"/>
            <a:ext cx="3602736" cy="2514600"/>
          </a:xfrm>
          <a:prstGeom prst="roundRect">
            <a:avLst>
              <a:gd name="adj" fmla="val 3273"/>
            </a:avLst>
          </a:prstGeom>
          <a:solidFill>
            <a:srgbClr val="FFFFFF"/>
          </a:solidFill>
          <a:ln w="12700">
            <a:solidFill>
              <a:srgbClr val="D8DDE9"/>
            </a:solidFill>
            <a:prstDash val="solid"/>
          </a:ln>
        </p:spPr>
      </p:sp>
      <p:sp>
        <p:nvSpPr>
          <p:cNvPr id="15" name="Shape 13"/>
          <p:cNvSpPr/>
          <p:nvPr/>
        </p:nvSpPr>
        <p:spPr>
          <a:xfrm>
            <a:off x="4572000" y="2267712"/>
            <a:ext cx="420624" cy="420624"/>
          </a:xfrm>
          <a:prstGeom prst="roundRect">
            <a:avLst>
              <a:gd name="adj" fmla="val 50000"/>
            </a:avLst>
          </a:prstGeom>
          <a:solidFill>
            <a:srgbClr val="1B2D8A"/>
          </a:solidFill>
          <a:ln/>
        </p:spPr>
      </p:sp>
      <p:sp>
        <p:nvSpPr>
          <p:cNvPr id="16" name="Text 14"/>
          <p:cNvSpPr/>
          <p:nvPr/>
        </p:nvSpPr>
        <p:spPr>
          <a:xfrm>
            <a:off x="457200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513892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DAYPART</a:t>
            </a:r>
            <a:endParaRPr lang="en-US" sz="1100" dirty="0"/>
          </a:p>
        </p:txBody>
      </p:sp>
      <p:sp>
        <p:nvSpPr>
          <p:cNvPr id="18" name="Text 16"/>
          <p:cNvSpPr/>
          <p:nvPr/>
        </p:nvSpPr>
        <p:spPr>
          <a:xfrm>
            <a:off x="513892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When</a:t>
            </a:r>
            <a:endParaRPr lang="en-US" sz="1500" dirty="0"/>
          </a:p>
        </p:txBody>
      </p:sp>
      <p:sp>
        <p:nvSpPr>
          <p:cNvPr id="19" name="Text 17"/>
          <p:cNvSpPr/>
          <p:nvPr/>
        </p:nvSpPr>
        <p:spPr>
          <a:xfrm>
            <a:off x="457200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Each audience is reachable in a different window, set by when the institutions around it are open — school dismissal, polyclinic mornings, commute peaks.</a:t>
            </a:r>
            <a:endParaRPr lang="en-US" sz="1150" dirty="0"/>
          </a:p>
        </p:txBody>
      </p:sp>
      <p:sp>
        <p:nvSpPr>
          <p:cNvPr id="20" name="Shape 18"/>
          <p:cNvSpPr/>
          <p:nvPr/>
        </p:nvSpPr>
        <p:spPr>
          <a:xfrm>
            <a:off x="8092440" y="2011680"/>
            <a:ext cx="3602736" cy="2514600"/>
          </a:xfrm>
          <a:prstGeom prst="roundRect">
            <a:avLst>
              <a:gd name="adj" fmla="val 3273"/>
            </a:avLst>
          </a:prstGeom>
          <a:solidFill>
            <a:srgbClr val="FFFFFF"/>
          </a:solidFill>
          <a:ln w="12700">
            <a:solidFill>
              <a:srgbClr val="D8DDE9"/>
            </a:solidFill>
            <a:prstDash val="solid"/>
          </a:ln>
        </p:spPr>
      </p:sp>
      <p:sp>
        <p:nvSpPr>
          <p:cNvPr id="21" name="Shape 19"/>
          <p:cNvSpPr/>
          <p:nvPr/>
        </p:nvSpPr>
        <p:spPr>
          <a:xfrm>
            <a:off x="8366760" y="2267712"/>
            <a:ext cx="420624" cy="420624"/>
          </a:xfrm>
          <a:prstGeom prst="roundRect">
            <a:avLst>
              <a:gd name="adj" fmla="val 50000"/>
            </a:avLst>
          </a:prstGeom>
          <a:solidFill>
            <a:srgbClr val="F0245E"/>
          </a:solidFill>
          <a:ln/>
        </p:spPr>
      </p:sp>
      <p:sp>
        <p:nvSpPr>
          <p:cNvPr id="22" name="Text 20"/>
          <p:cNvSpPr/>
          <p:nvPr/>
        </p:nvSpPr>
        <p:spPr>
          <a:xfrm>
            <a:off x="8366760" y="22677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8933688" y="2286000"/>
            <a:ext cx="2194560" cy="256032"/>
          </a:xfrm>
          <a:prstGeom prst="rect">
            <a:avLst/>
          </a:prstGeom>
          <a:noFill/>
          <a:ln/>
        </p:spPr>
        <p:txBody>
          <a:bodyPr wrap="square" lIns="0" tIns="0" rIns="0" bIns="0" rtlCol="0" anchor="ctr"/>
          <a:lstStyle/>
          <a:p>
            <a:pPr indent="0" marL="0">
              <a:buNone/>
            </a:pPr>
            <a:r>
              <a:rPr lang="en-US" sz="1100" b="1" spc="120" kern="0" dirty="0">
                <a:solidFill>
                  <a:srgbClr val="F0245E"/>
                </a:solidFill>
                <a:latin typeface="Arial" pitchFamily="34" charset="0"/>
                <a:ea typeface="Arial" pitchFamily="34" charset="-122"/>
                <a:cs typeface="Arial" pitchFamily="34" charset="-120"/>
              </a:rPr>
              <a:t>CREATIVE</a:t>
            </a:r>
            <a:endParaRPr lang="en-US" sz="1100" dirty="0"/>
          </a:p>
        </p:txBody>
      </p:sp>
      <p:sp>
        <p:nvSpPr>
          <p:cNvPr id="24" name="Text 22"/>
          <p:cNvSpPr/>
          <p:nvPr/>
        </p:nvSpPr>
        <p:spPr>
          <a:xfrm>
            <a:off x="8933688" y="2523744"/>
            <a:ext cx="2194560" cy="256032"/>
          </a:xfrm>
          <a:prstGeom prst="rect">
            <a:avLst/>
          </a:prstGeom>
          <a:noFill/>
          <a:ln/>
        </p:spPr>
        <p:txBody>
          <a:bodyPr wrap="square" lIns="0" tIns="0" rIns="0" bIns="0" rtlCol="0" anchor="ctr"/>
          <a:lstStyle/>
          <a:p>
            <a:pPr indent="0" marL="0">
              <a:buNone/>
            </a:pPr>
            <a:r>
              <a:rPr lang="en-US" sz="1500" b="1" dirty="0">
                <a:solidFill>
                  <a:srgbClr val="1B2D8A"/>
                </a:solidFill>
                <a:latin typeface="Arial" pitchFamily="34" charset="0"/>
                <a:ea typeface="Arial" pitchFamily="34" charset="-122"/>
                <a:cs typeface="Arial" pitchFamily="34" charset="-120"/>
              </a:rPr>
              <a:t>What</a:t>
            </a:r>
            <a:endParaRPr lang="en-US" sz="1500" dirty="0"/>
          </a:p>
        </p:txBody>
      </p:sp>
      <p:sp>
        <p:nvSpPr>
          <p:cNvPr id="25" name="Text 23"/>
          <p:cNvSpPr/>
          <p:nvPr/>
        </p:nvSpPr>
        <p:spPr>
          <a:xfrm>
            <a:off x="8366760" y="2971800"/>
            <a:ext cx="3054096" cy="137160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A different line and call-to-action per audience. Seniors get large type and a phone number; youth get a QR to chat.</a:t>
            </a:r>
            <a:endParaRPr lang="en-US" sz="1150" dirty="0"/>
          </a:p>
        </p:txBody>
      </p:sp>
      <p:sp>
        <p:nvSpPr>
          <p:cNvPr id="26" name="Shape 24"/>
          <p:cNvSpPr/>
          <p:nvPr/>
        </p:nvSpPr>
        <p:spPr>
          <a:xfrm>
            <a:off x="502920" y="4754880"/>
            <a:ext cx="11183112" cy="1188720"/>
          </a:xfrm>
          <a:prstGeom prst="roundRect">
            <a:avLst>
              <a:gd name="adj" fmla="val 6923"/>
            </a:avLst>
          </a:prstGeom>
          <a:solidFill>
            <a:srgbClr val="F5F7FC"/>
          </a:solidFill>
          <a:ln w="12700">
            <a:solidFill>
              <a:srgbClr val="D8DDE9"/>
            </a:solidFill>
            <a:prstDash val="solid"/>
          </a:ln>
        </p:spPr>
      </p:sp>
      <p:sp>
        <p:nvSpPr>
          <p:cNvPr id="27" name="Text 25"/>
          <p:cNvSpPr/>
          <p:nvPr/>
        </p:nvSpPr>
        <p:spPr>
          <a:xfrm>
            <a:off x="795528" y="4882896"/>
            <a:ext cx="54864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What is measured, and what is assumed</a:t>
            </a:r>
            <a:endParaRPr lang="en-US" sz="1250" dirty="0"/>
          </a:p>
        </p:txBody>
      </p:sp>
      <p:sp>
        <p:nvSpPr>
          <p:cNvPr id="28" name="Text 26"/>
          <p:cNvSpPr/>
          <p:nvPr/>
        </p:nvSpPr>
        <p:spPr>
          <a:xfrm>
            <a:off x="795528" y="5193792"/>
            <a:ext cx="10607040" cy="640080"/>
          </a:xfrm>
          <a:prstGeom prst="rect">
            <a:avLst/>
          </a:prstGeom>
          <a:noFill/>
          <a:ln/>
        </p:spPr>
        <p:txBody>
          <a:bodyPr wrap="square" lIns="0" tIns="0" rIns="0" bIns="0" rtlCol="0" anchor="ctr"/>
          <a:lstStyle/>
          <a:p>
            <a:pPr indent="0" marL="0">
              <a:buNone/>
            </a:pPr>
            <a:r>
              <a:rPr lang="en-US" sz="1150" dirty="0">
                <a:solidFill>
                  <a:srgbClr val="5A6484"/>
                </a:solidFill>
                <a:latin typeface="Arial" pitchFamily="34" charset="0"/>
                <a:ea typeface="Arial" pitchFamily="34" charset="-122"/>
                <a:cs typeface="Arial" pitchFamily="34" charset="-120"/>
              </a:rPr>
              <a:t>Geofence zones are measured — they come straight from the stop and place data. Dayparts are planning assumptions: this dataset carries weekday and weekend boarding totals, not an hourly curve, so the windows are set from when the institutions in each zone are open. Every daypart slide is marked accordingly.</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914754" cy="310896"/>
          </a:xfrm>
          <a:prstGeom prst="roundRect">
            <a:avLst>
              <a:gd name="adj" fmla="val 50000"/>
            </a:avLst>
          </a:prstGeom>
          <a:solidFill>
            <a:srgbClr val="F0245E"/>
          </a:solidFill>
          <a:ln/>
        </p:spPr>
      </p:sp>
      <p:sp>
        <p:nvSpPr>
          <p:cNvPr id="3" name="Text 1"/>
          <p:cNvSpPr/>
          <p:nvPr/>
        </p:nvSpPr>
        <p:spPr>
          <a:xfrm>
            <a:off x="502920" y="329184"/>
            <a:ext cx="1914754"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GEOFENCE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Where each audience concentrates</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Top zones per audience along DBP C1, derived from the place data. Anchors are the actual sites inside them.</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10</a:t>
            </a:r>
            <a:endParaRPr lang="en-US" sz="1000" dirty="0"/>
          </a:p>
        </p:txBody>
      </p:sp>
      <p:sp>
        <p:nvSpPr>
          <p:cNvPr id="8" name="Shape 6"/>
          <p:cNvSpPr/>
          <p:nvPr/>
        </p:nvSpPr>
        <p:spPr>
          <a:xfrm>
            <a:off x="10378440" y="329184"/>
            <a:ext cx="1075334" cy="310896"/>
          </a:xfrm>
          <a:prstGeom prst="roundRect">
            <a:avLst>
              <a:gd name="adj" fmla="val 50000"/>
            </a:avLst>
          </a:prstGeom>
          <a:solidFill>
            <a:srgbClr val="1B2D8A"/>
          </a:solidFill>
          <a:ln/>
        </p:spPr>
      </p:sp>
      <p:sp>
        <p:nvSpPr>
          <p:cNvPr id="9" name="Text 7"/>
          <p:cNvSpPr/>
          <p:nvPr/>
        </p:nvSpPr>
        <p:spPr>
          <a:xfrm>
            <a:off x="10378440" y="329184"/>
            <a:ext cx="1075334" cy="310896"/>
          </a:xfrm>
          <a:prstGeom prst="rect">
            <a:avLst/>
          </a:prstGeom>
          <a:noFill/>
          <a:ln/>
        </p:spPr>
        <p:txBody>
          <a:bodyPr wrap="square" lIns="0" tIns="0" rIns="0" bIns="0" rtlCol="0" anchor="ctr"/>
          <a:lstStyle/>
          <a:p>
            <a:pPr algn="ctr" indent="0" marL="0">
              <a:buNone/>
            </a:pPr>
            <a:r>
              <a:rPr lang="en-US" sz="900" b="1" spc="130" kern="0" dirty="0">
                <a:solidFill>
                  <a:srgbClr val="FFFFFF"/>
                </a:solidFill>
                <a:latin typeface="Arial" pitchFamily="34" charset="0"/>
                <a:ea typeface="Arial" pitchFamily="34" charset="-122"/>
                <a:cs typeface="Arial" pitchFamily="34" charset="-120"/>
              </a:rPr>
              <a:t>MEASURED</a:t>
            </a:r>
            <a:endParaRPr lang="en-US" sz="900" dirty="0"/>
          </a:p>
        </p:txBody>
      </p:sp>
      <p:sp>
        <p:nvSpPr>
          <p:cNvPr id="10" name="Shape 8"/>
          <p:cNvSpPr/>
          <p:nvPr/>
        </p:nvSpPr>
        <p:spPr>
          <a:xfrm>
            <a:off x="502920" y="1874520"/>
            <a:ext cx="11183112" cy="749808"/>
          </a:xfrm>
          <a:prstGeom prst="roundRect">
            <a:avLst>
              <a:gd name="adj" fmla="val 10976"/>
            </a:avLst>
          </a:prstGeom>
          <a:solidFill>
            <a:srgbClr val="FFFFFF"/>
          </a:solidFill>
          <a:ln w="12700">
            <a:solidFill>
              <a:srgbClr val="D8DDE9"/>
            </a:solidFill>
            <a:prstDash val="solid"/>
          </a:ln>
        </p:spPr>
      </p:sp>
      <p:sp>
        <p:nvSpPr>
          <p:cNvPr id="11" name="Text 9"/>
          <p:cNvSpPr/>
          <p:nvPr/>
        </p:nvSpPr>
        <p:spPr>
          <a:xfrm>
            <a:off x="758952" y="1947672"/>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Young children</a:t>
            </a:r>
            <a:endParaRPr lang="en-US" sz="1250" dirty="0"/>
          </a:p>
        </p:txBody>
      </p:sp>
      <p:sp>
        <p:nvSpPr>
          <p:cNvPr id="12" name="Text 10"/>
          <p:cNvSpPr/>
          <p:nvPr/>
        </p:nvSpPr>
        <p:spPr>
          <a:xfrm>
            <a:off x="758952" y="2258568"/>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Sengkang (21)   ·   Serangoon (12)   ·   Punggol (11)   ·   Choa Chu Kang (10)</a:t>
            </a:r>
            <a:endParaRPr lang="en-US" sz="1050" dirty="0"/>
          </a:p>
        </p:txBody>
      </p:sp>
      <p:sp>
        <p:nvSpPr>
          <p:cNvPr id="13" name="Text 11"/>
          <p:cNvSpPr/>
          <p:nvPr/>
        </p:nvSpPr>
        <p:spPr>
          <a:xfrm>
            <a:off x="5760720" y="2057400"/>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Anchor Green Primary School · Fern Green Primary School · Fernvale Primary School</a:t>
            </a:r>
            <a:endParaRPr lang="en-US" sz="1000" dirty="0"/>
          </a:p>
        </p:txBody>
      </p:sp>
      <p:sp>
        <p:nvSpPr>
          <p:cNvPr id="14" name="Shape 12"/>
          <p:cNvSpPr/>
          <p:nvPr/>
        </p:nvSpPr>
        <p:spPr>
          <a:xfrm>
            <a:off x="502920" y="2715768"/>
            <a:ext cx="11183112" cy="749808"/>
          </a:xfrm>
          <a:prstGeom prst="roundRect">
            <a:avLst>
              <a:gd name="adj" fmla="val 10976"/>
            </a:avLst>
          </a:prstGeom>
          <a:solidFill>
            <a:srgbClr val="FFFFFF"/>
          </a:solidFill>
          <a:ln w="12700">
            <a:solidFill>
              <a:srgbClr val="D8DDE9"/>
            </a:solidFill>
            <a:prstDash val="solid"/>
          </a:ln>
        </p:spPr>
      </p:sp>
      <p:sp>
        <p:nvSpPr>
          <p:cNvPr id="15" name="Text 13"/>
          <p:cNvSpPr/>
          <p:nvPr/>
        </p:nvSpPr>
        <p:spPr>
          <a:xfrm>
            <a:off x="758952" y="2788920"/>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Seniors</a:t>
            </a:r>
            <a:endParaRPr lang="en-US" sz="1250" dirty="0"/>
          </a:p>
        </p:txBody>
      </p:sp>
      <p:sp>
        <p:nvSpPr>
          <p:cNvPr id="16" name="Text 14"/>
          <p:cNvSpPr/>
          <p:nvPr/>
        </p:nvSpPr>
        <p:spPr>
          <a:xfrm>
            <a:off x="758952" y="3099816"/>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Kallang (14)   ·   Sengkang (11)   ·   Ang Mo Kio (8)   ·   Bukit Merah (8)</a:t>
            </a:r>
            <a:endParaRPr lang="en-US" sz="1050" dirty="0"/>
          </a:p>
        </p:txBody>
      </p:sp>
      <p:sp>
        <p:nvSpPr>
          <p:cNvPr id="17" name="Text 15"/>
          <p:cNvSpPr/>
          <p:nvPr/>
        </p:nvSpPr>
        <p:spPr>
          <a:xfrm>
            <a:off x="5760720" y="2898648"/>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PEACE-Connect Senior Activity Centre@5 · Singapore Baptist Convention Golden Age Home · Peace-Connect Cluster Operator</a:t>
            </a:r>
            <a:endParaRPr lang="en-US" sz="1000" dirty="0"/>
          </a:p>
        </p:txBody>
      </p:sp>
      <p:sp>
        <p:nvSpPr>
          <p:cNvPr id="18" name="Shape 16"/>
          <p:cNvSpPr/>
          <p:nvPr/>
        </p:nvSpPr>
        <p:spPr>
          <a:xfrm>
            <a:off x="502920" y="3557016"/>
            <a:ext cx="11183112" cy="749808"/>
          </a:xfrm>
          <a:prstGeom prst="roundRect">
            <a:avLst>
              <a:gd name="adj" fmla="val 10976"/>
            </a:avLst>
          </a:prstGeom>
          <a:solidFill>
            <a:srgbClr val="FFFFFF"/>
          </a:solidFill>
          <a:ln w="12700">
            <a:solidFill>
              <a:srgbClr val="D8DDE9"/>
            </a:solidFill>
            <a:prstDash val="solid"/>
          </a:ln>
        </p:spPr>
      </p:sp>
      <p:sp>
        <p:nvSpPr>
          <p:cNvPr id="19" name="Text 17"/>
          <p:cNvSpPr/>
          <p:nvPr/>
        </p:nvSpPr>
        <p:spPr>
          <a:xfrm>
            <a:off x="758952" y="3630168"/>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Working adults</a:t>
            </a:r>
            <a:endParaRPr lang="en-US" sz="1250" dirty="0"/>
          </a:p>
        </p:txBody>
      </p:sp>
      <p:sp>
        <p:nvSpPr>
          <p:cNvPr id="20" name="Text 18"/>
          <p:cNvSpPr/>
          <p:nvPr/>
        </p:nvSpPr>
        <p:spPr>
          <a:xfrm>
            <a:off x="758952" y="3941064"/>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Downtown Core (38)   ·   Orchard (32)   ·   Museum (15)   ·   Geylang (9)</a:t>
            </a:r>
            <a:endParaRPr lang="en-US" sz="1050" dirty="0"/>
          </a:p>
        </p:txBody>
      </p:sp>
      <p:sp>
        <p:nvSpPr>
          <p:cNvPr id="21" name="Text 19"/>
          <p:cNvSpPr/>
          <p:nvPr/>
        </p:nvSpPr>
        <p:spPr>
          <a:xfrm>
            <a:off x="5760720" y="3739896"/>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Bayfront · Bugis · City Hall</a:t>
            </a:r>
            <a:endParaRPr lang="en-US" sz="1000" dirty="0"/>
          </a:p>
        </p:txBody>
      </p:sp>
      <p:sp>
        <p:nvSpPr>
          <p:cNvPr id="22" name="Shape 20"/>
          <p:cNvSpPr/>
          <p:nvPr/>
        </p:nvSpPr>
        <p:spPr>
          <a:xfrm>
            <a:off x="502920" y="4398264"/>
            <a:ext cx="11183112" cy="749808"/>
          </a:xfrm>
          <a:prstGeom prst="roundRect">
            <a:avLst>
              <a:gd name="adj" fmla="val 10976"/>
            </a:avLst>
          </a:prstGeom>
          <a:solidFill>
            <a:srgbClr val="FDF0F4"/>
          </a:solidFill>
          <a:ln w="12700">
            <a:solidFill>
              <a:srgbClr val="F0245E"/>
            </a:solidFill>
            <a:prstDash val="solid"/>
          </a:ln>
        </p:spPr>
      </p:sp>
      <p:sp>
        <p:nvSpPr>
          <p:cNvPr id="23" name="Text 21"/>
          <p:cNvSpPr/>
          <p:nvPr/>
        </p:nvSpPr>
        <p:spPr>
          <a:xfrm>
            <a:off x="758952" y="4471416"/>
            <a:ext cx="2286000" cy="310896"/>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Sandwich generation</a:t>
            </a:r>
            <a:endParaRPr lang="en-US" sz="1250" dirty="0"/>
          </a:p>
        </p:txBody>
      </p:sp>
      <p:sp>
        <p:nvSpPr>
          <p:cNvPr id="24" name="Text 22"/>
          <p:cNvSpPr/>
          <p:nvPr/>
        </p:nvSpPr>
        <p:spPr>
          <a:xfrm>
            <a:off x="758952" y="4782312"/>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Sengkang (15)   ·   Choa Chu Kang (9)   ·   Punggol (9)   ·   Jurong East (8)</a:t>
            </a:r>
            <a:endParaRPr lang="en-US" sz="1050" dirty="0"/>
          </a:p>
        </p:txBody>
      </p:sp>
      <p:sp>
        <p:nvSpPr>
          <p:cNvPr id="25" name="Text 23"/>
          <p:cNvSpPr/>
          <p:nvPr/>
        </p:nvSpPr>
        <p:spPr>
          <a:xfrm>
            <a:off x="5760720" y="4581144"/>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Anchor Green Primary School · COMNET Senior Activity Centre @ 182 Rivervale Crescent · Fern Green Primary School</a:t>
            </a:r>
            <a:endParaRPr lang="en-US" sz="1000" dirty="0"/>
          </a:p>
        </p:txBody>
      </p:sp>
      <p:sp>
        <p:nvSpPr>
          <p:cNvPr id="26" name="Shape 24"/>
          <p:cNvSpPr/>
          <p:nvPr/>
        </p:nvSpPr>
        <p:spPr>
          <a:xfrm>
            <a:off x="502920" y="5239512"/>
            <a:ext cx="11183112" cy="749808"/>
          </a:xfrm>
          <a:prstGeom prst="roundRect">
            <a:avLst>
              <a:gd name="adj" fmla="val 10976"/>
            </a:avLst>
          </a:prstGeom>
          <a:solidFill>
            <a:srgbClr val="FFFFFF"/>
          </a:solidFill>
          <a:ln w="12700">
            <a:solidFill>
              <a:srgbClr val="D8DDE9"/>
            </a:solidFill>
            <a:prstDash val="solid"/>
          </a:ln>
        </p:spPr>
      </p:sp>
      <p:sp>
        <p:nvSpPr>
          <p:cNvPr id="27" name="Text 25"/>
          <p:cNvSpPr/>
          <p:nvPr/>
        </p:nvSpPr>
        <p:spPr>
          <a:xfrm>
            <a:off x="758952" y="5312664"/>
            <a:ext cx="2286000" cy="310896"/>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Youth</a:t>
            </a:r>
            <a:endParaRPr lang="en-US" sz="1250" dirty="0"/>
          </a:p>
        </p:txBody>
      </p:sp>
      <p:sp>
        <p:nvSpPr>
          <p:cNvPr id="28" name="Text 26"/>
          <p:cNvSpPr/>
          <p:nvPr/>
        </p:nvSpPr>
        <p:spPr>
          <a:xfrm>
            <a:off x="758952" y="5623560"/>
            <a:ext cx="4846320" cy="292608"/>
          </a:xfrm>
          <a:prstGeom prst="rect">
            <a:avLst/>
          </a:prstGeom>
          <a:noFill/>
          <a:ln/>
        </p:spPr>
        <p:txBody>
          <a:bodyPr wrap="square" lIns="0" tIns="0" rIns="0" bIns="0" rtlCol="0" anchor="ctr"/>
          <a:lstStyle/>
          <a:p>
            <a:pPr indent="0" marL="0">
              <a:buNone/>
            </a:pPr>
            <a:r>
              <a:rPr lang="en-US" sz="1050" dirty="0">
                <a:solidFill>
                  <a:srgbClr val="14204A"/>
                </a:solidFill>
                <a:latin typeface="Arial" pitchFamily="34" charset="0"/>
                <a:ea typeface="Arial" pitchFamily="34" charset="-122"/>
                <a:cs typeface="Arial" pitchFamily="34" charset="-120"/>
              </a:rPr>
              <a:t>Serangoon (9)   ·   Downtown Core (9)   ·   Ang Mo Kio (8)   ·   Jurong West (7)</a:t>
            </a:r>
            <a:endParaRPr lang="en-US" sz="1050" dirty="0"/>
          </a:p>
        </p:txBody>
      </p:sp>
      <p:sp>
        <p:nvSpPr>
          <p:cNvPr id="29" name="Text 27"/>
          <p:cNvSpPr/>
          <p:nvPr/>
        </p:nvSpPr>
        <p:spPr>
          <a:xfrm>
            <a:off x="5760720" y="5422392"/>
            <a:ext cx="5852160" cy="38404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Anchors — Bowen Secondary School · Peicai Secondary School · St. Gabriel's Secondary School</a:t>
            </a:r>
            <a:endParaRPr lang="en-US" sz="1000" dirty="0"/>
          </a:p>
        </p:txBody>
      </p:sp>
      <p:sp>
        <p:nvSpPr>
          <p:cNvPr id="30" name="Text 28"/>
          <p:cNvSpPr/>
          <p:nvPr/>
        </p:nvSpPr>
        <p:spPr>
          <a:xfrm>
            <a:off x="502920" y="6035040"/>
            <a:ext cx="7680960" cy="310896"/>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Number in brackets = places of that audience within 400 m of a DBP C1 stop in that planning area.</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01291" cy="310896"/>
          </a:xfrm>
          <a:prstGeom prst="roundRect">
            <a:avLst>
              <a:gd name="adj" fmla="val 50000"/>
            </a:avLst>
          </a:prstGeom>
          <a:solidFill>
            <a:srgbClr val="F0245E"/>
          </a:solidFill>
          <a:ln/>
        </p:spPr>
      </p:sp>
      <p:sp>
        <p:nvSpPr>
          <p:cNvPr id="3" name="Text 1"/>
          <p:cNvSpPr/>
          <p:nvPr/>
        </p:nvSpPr>
        <p:spPr>
          <a:xfrm>
            <a:off x="502920" y="329184"/>
            <a:ext cx="2101291"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DAYPARTING</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runs, and when</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One creative rotation per audience, set by when the places around the stop are actually open.</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11</a:t>
            </a:r>
            <a:endParaRPr lang="en-US" sz="1000" dirty="0"/>
          </a:p>
        </p:txBody>
      </p:sp>
      <p:sp>
        <p:nvSpPr>
          <p:cNvPr id="8" name="Shape 6"/>
          <p:cNvSpPr/>
          <p:nvPr/>
        </p:nvSpPr>
        <p:spPr>
          <a:xfrm>
            <a:off x="9528048" y="329184"/>
            <a:ext cx="2101291" cy="310896"/>
          </a:xfrm>
          <a:prstGeom prst="roundRect">
            <a:avLst>
              <a:gd name="adj" fmla="val 50000"/>
            </a:avLst>
          </a:prstGeom>
          <a:solidFill>
            <a:srgbClr val="FFFFFF"/>
          </a:solidFill>
          <a:ln w="12700">
            <a:solidFill>
              <a:srgbClr val="5A6484"/>
            </a:solidFill>
            <a:prstDash val="solid"/>
          </a:ln>
        </p:spPr>
      </p:sp>
      <p:sp>
        <p:nvSpPr>
          <p:cNvPr id="9" name="Text 7"/>
          <p:cNvSpPr/>
          <p:nvPr/>
        </p:nvSpPr>
        <p:spPr>
          <a:xfrm>
            <a:off x="9528048" y="329184"/>
            <a:ext cx="2101291" cy="310896"/>
          </a:xfrm>
          <a:prstGeom prst="rect">
            <a:avLst/>
          </a:prstGeom>
          <a:noFill/>
          <a:ln/>
        </p:spPr>
        <p:txBody>
          <a:bodyPr wrap="square" lIns="0" tIns="0" rIns="0" bIns="0" rtlCol="0" anchor="ctr"/>
          <a:lstStyle/>
          <a:p>
            <a:pPr algn="ctr" indent="0" marL="0">
              <a:buNone/>
            </a:pPr>
            <a:r>
              <a:rPr lang="en-US" sz="900" b="1" spc="130" kern="0" dirty="0">
                <a:solidFill>
                  <a:srgbClr val="5A6484"/>
                </a:solidFill>
                <a:latin typeface="Arial" pitchFamily="34" charset="0"/>
                <a:ea typeface="Arial" pitchFamily="34" charset="-122"/>
                <a:cs typeface="Arial" pitchFamily="34" charset="-120"/>
              </a:rPr>
              <a:t>PLANNING ASSUMPTION</a:t>
            </a:r>
            <a:endParaRPr lang="en-US" sz="900" dirty="0"/>
          </a:p>
        </p:txBody>
      </p:sp>
      <p:sp>
        <p:nvSpPr>
          <p:cNvPr id="10" name="Text 8"/>
          <p:cNvSpPr/>
          <p:nvPr/>
        </p:nvSpPr>
        <p:spPr>
          <a:xfrm>
            <a:off x="758952" y="1874520"/>
            <a:ext cx="210312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Audience</a:t>
            </a:r>
            <a:endParaRPr lang="en-US" sz="950" dirty="0"/>
          </a:p>
        </p:txBody>
      </p:sp>
      <p:sp>
        <p:nvSpPr>
          <p:cNvPr id="11" name="Text 9"/>
          <p:cNvSpPr/>
          <p:nvPr/>
        </p:nvSpPr>
        <p:spPr>
          <a:xfrm>
            <a:off x="3063240" y="1874520"/>
            <a:ext cx="274320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Window</a:t>
            </a:r>
            <a:endParaRPr lang="en-US" sz="950" dirty="0"/>
          </a:p>
        </p:txBody>
      </p:sp>
      <p:sp>
        <p:nvSpPr>
          <p:cNvPr id="12" name="Text 10"/>
          <p:cNvSpPr/>
          <p:nvPr/>
        </p:nvSpPr>
        <p:spPr>
          <a:xfrm>
            <a:off x="6035040" y="1874520"/>
            <a:ext cx="5577840" cy="274320"/>
          </a:xfrm>
          <a:prstGeom prst="rect">
            <a:avLst/>
          </a:prstGeom>
          <a:noFill/>
          <a:ln/>
        </p:spPr>
        <p:txBody>
          <a:bodyPr wrap="square" lIns="0" tIns="0" rIns="0" bIns="0" rtlCol="0" anchor="ctr"/>
          <a:lstStyle/>
          <a:p>
            <a:pPr indent="0" marL="0">
              <a:buNone/>
            </a:pPr>
            <a:r>
              <a:rPr lang="en-US" sz="950" b="1" spc="80" kern="0" dirty="0">
                <a:solidFill>
                  <a:srgbClr val="5A6484"/>
                </a:solidFill>
                <a:latin typeface="Arial" pitchFamily="34" charset="0"/>
                <a:ea typeface="Arial" pitchFamily="34" charset="-122"/>
                <a:cs typeface="Arial" pitchFamily="34" charset="-120"/>
              </a:rPr>
              <a:t>Creative</a:t>
            </a:r>
            <a:endParaRPr lang="en-US" sz="950" dirty="0"/>
          </a:p>
        </p:txBody>
      </p:sp>
      <p:sp>
        <p:nvSpPr>
          <p:cNvPr id="13" name="Shape 11"/>
          <p:cNvSpPr/>
          <p:nvPr/>
        </p:nvSpPr>
        <p:spPr>
          <a:xfrm>
            <a:off x="502920" y="2185416"/>
            <a:ext cx="11183112" cy="658368"/>
          </a:xfrm>
          <a:prstGeom prst="roundRect">
            <a:avLst>
              <a:gd name="adj" fmla="val 12500"/>
            </a:avLst>
          </a:prstGeom>
          <a:solidFill>
            <a:srgbClr val="FFFFFF"/>
          </a:solidFill>
          <a:ln w="12700">
            <a:solidFill>
              <a:srgbClr val="D8DDE9"/>
            </a:solidFill>
            <a:prstDash val="solid"/>
          </a:ln>
        </p:spPr>
      </p:sp>
      <p:sp>
        <p:nvSpPr>
          <p:cNvPr id="14" name="Text 12"/>
          <p:cNvSpPr/>
          <p:nvPr/>
        </p:nvSpPr>
        <p:spPr>
          <a:xfrm>
            <a:off x="758952" y="2340864"/>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Seniors</a:t>
            </a:r>
            <a:endParaRPr lang="en-US" sz="1200" dirty="0"/>
          </a:p>
        </p:txBody>
      </p:sp>
      <p:sp>
        <p:nvSpPr>
          <p:cNvPr id="15" name="Text 13"/>
          <p:cNvSpPr/>
          <p:nvPr/>
        </p:nvSpPr>
        <p:spPr>
          <a:xfrm>
            <a:off x="3063240" y="2240280"/>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08:00–11:00</a:t>
            </a:r>
            <a:endParaRPr lang="en-US" sz="1050" dirty="0"/>
          </a:p>
        </p:txBody>
      </p:sp>
      <p:sp>
        <p:nvSpPr>
          <p:cNvPr id="16" name="Text 14"/>
          <p:cNvSpPr/>
          <p:nvPr/>
        </p:nvSpPr>
        <p:spPr>
          <a:xfrm>
            <a:off x="3063240" y="2514600"/>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Polyclinic and senior-activity morning peak</a:t>
            </a:r>
            <a:endParaRPr lang="en-US" sz="900" dirty="0"/>
          </a:p>
        </p:txBody>
      </p:sp>
      <p:sp>
        <p:nvSpPr>
          <p:cNvPr id="17" name="Text 15"/>
          <p:cNvSpPr/>
          <p:nvPr/>
        </p:nvSpPr>
        <p:spPr>
          <a:xfrm>
            <a:off x="6035040" y="2340864"/>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Large type, dialect-friendly: the number, and that it is free.</a:t>
            </a:r>
            <a:endParaRPr lang="en-US" sz="1100" dirty="0"/>
          </a:p>
        </p:txBody>
      </p:sp>
      <p:sp>
        <p:nvSpPr>
          <p:cNvPr id="18" name="Shape 16"/>
          <p:cNvSpPr/>
          <p:nvPr/>
        </p:nvSpPr>
        <p:spPr>
          <a:xfrm>
            <a:off x="502920" y="2898648"/>
            <a:ext cx="11183112" cy="658368"/>
          </a:xfrm>
          <a:prstGeom prst="roundRect">
            <a:avLst>
              <a:gd name="adj" fmla="val 12500"/>
            </a:avLst>
          </a:prstGeom>
          <a:solidFill>
            <a:srgbClr val="FFFFFF"/>
          </a:solidFill>
          <a:ln w="12700">
            <a:solidFill>
              <a:srgbClr val="D8DDE9"/>
            </a:solidFill>
            <a:prstDash val="solid"/>
          </a:ln>
        </p:spPr>
      </p:sp>
      <p:sp>
        <p:nvSpPr>
          <p:cNvPr id="19" name="Text 17"/>
          <p:cNvSpPr/>
          <p:nvPr/>
        </p:nvSpPr>
        <p:spPr>
          <a:xfrm>
            <a:off x="758952" y="3054096"/>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Young children</a:t>
            </a:r>
            <a:endParaRPr lang="en-US" sz="1200" dirty="0"/>
          </a:p>
        </p:txBody>
      </p:sp>
      <p:sp>
        <p:nvSpPr>
          <p:cNvPr id="20" name="Text 18"/>
          <p:cNvSpPr/>
          <p:nvPr/>
        </p:nvSpPr>
        <p:spPr>
          <a:xfrm>
            <a:off x="3063240" y="2953512"/>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13:00–16:00</a:t>
            </a:r>
            <a:endParaRPr lang="en-US" sz="1050" dirty="0"/>
          </a:p>
        </p:txBody>
      </p:sp>
      <p:sp>
        <p:nvSpPr>
          <p:cNvPr id="21" name="Text 19"/>
          <p:cNvSpPr/>
          <p:nvPr/>
        </p:nvSpPr>
        <p:spPr>
          <a:xfrm>
            <a:off x="3063240" y="3227832"/>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Primary dismissal and student-care pickup</a:t>
            </a:r>
            <a:endParaRPr lang="en-US" sz="900" dirty="0"/>
          </a:p>
        </p:txBody>
      </p:sp>
      <p:sp>
        <p:nvSpPr>
          <p:cNvPr id="22" name="Text 20"/>
          <p:cNvSpPr/>
          <p:nvPr/>
        </p:nvSpPr>
        <p:spPr>
          <a:xfrm>
            <a:off x="6035040" y="3054096"/>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Parent-facing: "Worried about your child? Talk to someone."</a:t>
            </a:r>
            <a:endParaRPr lang="en-US" sz="1100" dirty="0"/>
          </a:p>
        </p:txBody>
      </p:sp>
      <p:sp>
        <p:nvSpPr>
          <p:cNvPr id="23" name="Shape 21"/>
          <p:cNvSpPr/>
          <p:nvPr/>
        </p:nvSpPr>
        <p:spPr>
          <a:xfrm>
            <a:off x="502920" y="3611880"/>
            <a:ext cx="11183112" cy="658368"/>
          </a:xfrm>
          <a:prstGeom prst="roundRect">
            <a:avLst>
              <a:gd name="adj" fmla="val 12500"/>
            </a:avLst>
          </a:prstGeom>
          <a:solidFill>
            <a:srgbClr val="FFFFFF"/>
          </a:solidFill>
          <a:ln w="12700">
            <a:solidFill>
              <a:srgbClr val="D8DDE9"/>
            </a:solidFill>
            <a:prstDash val="solid"/>
          </a:ln>
        </p:spPr>
      </p:sp>
      <p:sp>
        <p:nvSpPr>
          <p:cNvPr id="24" name="Text 22"/>
          <p:cNvSpPr/>
          <p:nvPr/>
        </p:nvSpPr>
        <p:spPr>
          <a:xfrm>
            <a:off x="758952" y="3767328"/>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Youth</a:t>
            </a:r>
            <a:endParaRPr lang="en-US" sz="1200" dirty="0"/>
          </a:p>
        </p:txBody>
      </p:sp>
      <p:sp>
        <p:nvSpPr>
          <p:cNvPr id="25" name="Text 23"/>
          <p:cNvSpPr/>
          <p:nvPr/>
        </p:nvSpPr>
        <p:spPr>
          <a:xfrm>
            <a:off x="3063240" y="3666744"/>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15:00–18:00 + weekend 12:00–20:00</a:t>
            </a:r>
            <a:endParaRPr lang="en-US" sz="1050" dirty="0"/>
          </a:p>
        </p:txBody>
      </p:sp>
      <p:sp>
        <p:nvSpPr>
          <p:cNvPr id="26" name="Text 24"/>
          <p:cNvSpPr/>
          <p:nvPr/>
        </p:nvSpPr>
        <p:spPr>
          <a:xfrm>
            <a:off x="3063240" y="3941064"/>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Secondary/IHL dismissal and third-place dwell</a:t>
            </a:r>
            <a:endParaRPr lang="en-US" sz="900" dirty="0"/>
          </a:p>
        </p:txBody>
      </p:sp>
      <p:sp>
        <p:nvSpPr>
          <p:cNvPr id="27" name="Text 25"/>
          <p:cNvSpPr/>
          <p:nvPr/>
        </p:nvSpPr>
        <p:spPr>
          <a:xfrm>
            <a:off x="6035040" y="3767328"/>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Peer-voice, QR to chat rather than phone.</a:t>
            </a:r>
            <a:endParaRPr lang="en-US" sz="1100" dirty="0"/>
          </a:p>
        </p:txBody>
      </p:sp>
      <p:sp>
        <p:nvSpPr>
          <p:cNvPr id="28" name="Shape 26"/>
          <p:cNvSpPr/>
          <p:nvPr/>
        </p:nvSpPr>
        <p:spPr>
          <a:xfrm>
            <a:off x="502920" y="4325112"/>
            <a:ext cx="11183112" cy="658368"/>
          </a:xfrm>
          <a:prstGeom prst="roundRect">
            <a:avLst>
              <a:gd name="adj" fmla="val 12500"/>
            </a:avLst>
          </a:prstGeom>
          <a:solidFill>
            <a:srgbClr val="FFFFFF"/>
          </a:solidFill>
          <a:ln w="12700">
            <a:solidFill>
              <a:srgbClr val="D8DDE9"/>
            </a:solidFill>
            <a:prstDash val="solid"/>
          </a:ln>
        </p:spPr>
      </p:sp>
      <p:sp>
        <p:nvSpPr>
          <p:cNvPr id="29" name="Text 27"/>
          <p:cNvSpPr/>
          <p:nvPr/>
        </p:nvSpPr>
        <p:spPr>
          <a:xfrm>
            <a:off x="758952" y="4480560"/>
            <a:ext cx="2377440" cy="347472"/>
          </a:xfrm>
          <a:prstGeom prst="rect">
            <a:avLst/>
          </a:prstGeom>
          <a:noFill/>
          <a:ln/>
        </p:spPr>
        <p:txBody>
          <a:bodyPr wrap="square" lIns="0" tIns="0" rIns="0" bIns="0" rtlCol="0" anchor="ctr"/>
          <a:lstStyle/>
          <a:p>
            <a:pPr indent="0" marL="0">
              <a:buNone/>
            </a:pPr>
            <a:r>
              <a:rPr lang="en-US" sz="1200" b="1" dirty="0">
                <a:solidFill>
                  <a:srgbClr val="1B2D8A"/>
                </a:solidFill>
                <a:latin typeface="Arial" pitchFamily="34" charset="0"/>
                <a:ea typeface="Arial" pitchFamily="34" charset="-122"/>
                <a:cs typeface="Arial" pitchFamily="34" charset="-120"/>
              </a:rPr>
              <a:t>Working adults</a:t>
            </a:r>
            <a:endParaRPr lang="en-US" sz="1200" dirty="0"/>
          </a:p>
        </p:txBody>
      </p:sp>
      <p:sp>
        <p:nvSpPr>
          <p:cNvPr id="30" name="Text 28"/>
          <p:cNvSpPr/>
          <p:nvPr/>
        </p:nvSpPr>
        <p:spPr>
          <a:xfrm>
            <a:off x="3063240" y="4379976"/>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07:30–09:30 &amp; 17:30–19:30</a:t>
            </a:r>
            <a:endParaRPr lang="en-US" sz="1050" dirty="0"/>
          </a:p>
        </p:txBody>
      </p:sp>
      <p:sp>
        <p:nvSpPr>
          <p:cNvPr id="31" name="Text 29"/>
          <p:cNvSpPr/>
          <p:nvPr/>
        </p:nvSpPr>
        <p:spPr>
          <a:xfrm>
            <a:off x="3063240" y="4654296"/>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Interchange and CBD commute peaks</a:t>
            </a:r>
            <a:endParaRPr lang="en-US" sz="900" dirty="0"/>
          </a:p>
        </p:txBody>
      </p:sp>
      <p:sp>
        <p:nvSpPr>
          <p:cNvPr id="32" name="Text 30"/>
          <p:cNvSpPr/>
          <p:nvPr/>
        </p:nvSpPr>
        <p:spPr>
          <a:xfrm>
            <a:off x="6035040" y="4480560"/>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Low-dwell, high-frequency: one line and the number.</a:t>
            </a:r>
            <a:endParaRPr lang="en-US" sz="1100" dirty="0"/>
          </a:p>
        </p:txBody>
      </p:sp>
      <p:sp>
        <p:nvSpPr>
          <p:cNvPr id="33" name="Shape 31"/>
          <p:cNvSpPr/>
          <p:nvPr/>
        </p:nvSpPr>
        <p:spPr>
          <a:xfrm>
            <a:off x="502920" y="5038344"/>
            <a:ext cx="11183112" cy="658368"/>
          </a:xfrm>
          <a:prstGeom prst="roundRect">
            <a:avLst>
              <a:gd name="adj" fmla="val 12500"/>
            </a:avLst>
          </a:prstGeom>
          <a:solidFill>
            <a:srgbClr val="FDF0F4"/>
          </a:solidFill>
          <a:ln w="12700">
            <a:solidFill>
              <a:srgbClr val="F0245E"/>
            </a:solidFill>
            <a:prstDash val="solid"/>
          </a:ln>
        </p:spPr>
      </p:sp>
      <p:sp>
        <p:nvSpPr>
          <p:cNvPr id="34" name="Text 32"/>
          <p:cNvSpPr/>
          <p:nvPr/>
        </p:nvSpPr>
        <p:spPr>
          <a:xfrm>
            <a:off x="758952" y="5193792"/>
            <a:ext cx="2377440" cy="347472"/>
          </a:xfrm>
          <a:prstGeom prst="rect">
            <a:avLst/>
          </a:prstGeom>
          <a:noFill/>
          <a:ln/>
        </p:spPr>
        <p:txBody>
          <a:bodyPr wrap="square" lIns="0" tIns="0" rIns="0" bIns="0" rtlCol="0" anchor="ctr"/>
          <a:lstStyle/>
          <a:p>
            <a:pPr indent="0" marL="0">
              <a:buNone/>
            </a:pPr>
            <a:r>
              <a:rPr lang="en-US" sz="1200" b="1" dirty="0">
                <a:solidFill>
                  <a:srgbClr val="F0245E"/>
                </a:solidFill>
                <a:latin typeface="Arial" pitchFamily="34" charset="0"/>
                <a:ea typeface="Arial" pitchFamily="34" charset="-122"/>
                <a:cs typeface="Arial" pitchFamily="34" charset="-120"/>
              </a:rPr>
              <a:t>Sandwich generation</a:t>
            </a:r>
            <a:endParaRPr lang="en-US" sz="1200" dirty="0"/>
          </a:p>
        </p:txBody>
      </p:sp>
      <p:sp>
        <p:nvSpPr>
          <p:cNvPr id="35" name="Text 33"/>
          <p:cNvSpPr/>
          <p:nvPr/>
        </p:nvSpPr>
        <p:spPr>
          <a:xfrm>
            <a:off x="3063240" y="5093208"/>
            <a:ext cx="2880360" cy="274320"/>
          </a:xfrm>
          <a:prstGeom prst="rect">
            <a:avLst/>
          </a:prstGeom>
          <a:noFill/>
          <a:ln/>
        </p:spPr>
        <p:txBody>
          <a:bodyPr wrap="square" lIns="0" tIns="0" rIns="0" bIns="0" rtlCol="0" anchor="ctr"/>
          <a:lstStyle/>
          <a:p>
            <a:pPr indent="0" marL="0">
              <a:buNone/>
            </a:pPr>
            <a:r>
              <a:rPr lang="en-US" sz="1050" b="1" dirty="0">
                <a:solidFill>
                  <a:srgbClr val="14204A"/>
                </a:solidFill>
                <a:latin typeface="Arial" pitchFamily="34" charset="0"/>
                <a:ea typeface="Arial" pitchFamily="34" charset="-122"/>
                <a:cs typeface="Arial" pitchFamily="34" charset="-120"/>
              </a:rPr>
              <a:t>Weekday 17:30–20:00 + weekend all-day</a:t>
            </a:r>
            <a:endParaRPr lang="en-US" sz="1050" dirty="0"/>
          </a:p>
        </p:txBody>
      </p:sp>
      <p:sp>
        <p:nvSpPr>
          <p:cNvPr id="36" name="Text 34"/>
          <p:cNvSpPr/>
          <p:nvPr/>
        </p:nvSpPr>
        <p:spPr>
          <a:xfrm>
            <a:off x="3063240" y="5367528"/>
            <a:ext cx="2880360" cy="274320"/>
          </a:xfrm>
          <a:prstGeom prst="rect">
            <a:avLst/>
          </a:prstGeom>
          <a:noFill/>
          <a:ln/>
        </p:spPr>
        <p:txBody>
          <a:bodyPr wrap="square" lIns="0" tIns="0" rIns="0" bIns="0" rtlCol="0" anchor="ctr"/>
          <a:lstStyle/>
          <a:p>
            <a:pPr indent="0" marL="0">
              <a:buNone/>
            </a:pPr>
            <a:r>
              <a:rPr lang="en-US" sz="900" dirty="0">
                <a:solidFill>
                  <a:srgbClr val="5A6484"/>
                </a:solidFill>
                <a:latin typeface="Arial" pitchFamily="34" charset="0"/>
                <a:ea typeface="Arial" pitchFamily="34" charset="-122"/>
                <a:cs typeface="Arial" pitchFamily="34" charset="-120"/>
              </a:rPr>
              <a:t>After work, and the weekend errand run</a:t>
            </a:r>
            <a:endParaRPr lang="en-US" sz="900" dirty="0"/>
          </a:p>
        </p:txBody>
      </p:sp>
      <p:sp>
        <p:nvSpPr>
          <p:cNvPr id="37" name="Text 35"/>
          <p:cNvSpPr/>
          <p:nvPr/>
        </p:nvSpPr>
        <p:spPr>
          <a:xfrm>
            <a:off x="6035040" y="5193792"/>
            <a:ext cx="5577840" cy="347472"/>
          </a:xfrm>
          <a:prstGeom prst="rect">
            <a:avLst/>
          </a:prstGeom>
          <a:noFill/>
          <a:ln/>
        </p:spPr>
        <p:txBody>
          <a:bodyPr wrap="square" lIns="0" tIns="0" rIns="0" bIns="0" rtlCol="0" anchor="ctr"/>
          <a:lstStyle/>
          <a:p>
            <a:pPr indent="0" marL="0">
              <a:buNone/>
            </a:pPr>
            <a:r>
              <a:rPr lang="en-US" sz="1100" dirty="0">
                <a:solidFill>
                  <a:srgbClr val="14204A"/>
                </a:solidFill>
                <a:latin typeface="Arial" pitchFamily="34" charset="0"/>
                <a:ea typeface="Arial" pitchFamily="34" charset="-122"/>
                <a:cs typeface="Arial" pitchFamily="34" charset="-120"/>
              </a:rPr>
              <a:t>"Caring for both? You can call for yourself too."</a:t>
            </a:r>
            <a:endParaRPr lang="en-US" sz="1100" dirty="0"/>
          </a:p>
        </p:txBody>
      </p:sp>
      <p:sp>
        <p:nvSpPr>
          <p:cNvPr id="38" name="Shape 36"/>
          <p:cNvSpPr/>
          <p:nvPr/>
        </p:nvSpPr>
        <p:spPr>
          <a:xfrm>
            <a:off x="502920" y="5797296"/>
            <a:ext cx="11183112" cy="512064"/>
          </a:xfrm>
          <a:prstGeom prst="roundRect">
            <a:avLst>
              <a:gd name="adj" fmla="val 16071"/>
            </a:avLst>
          </a:prstGeom>
          <a:solidFill>
            <a:srgbClr val="F5F7FC"/>
          </a:solidFill>
          <a:ln w="12700">
            <a:solidFill>
              <a:srgbClr val="D8DDE9"/>
            </a:solidFill>
            <a:prstDash val="solid"/>
          </a:ln>
        </p:spPr>
      </p:sp>
      <p:sp>
        <p:nvSpPr>
          <p:cNvPr id="39" name="Text 37"/>
          <p:cNvSpPr/>
          <p:nvPr/>
        </p:nvSpPr>
        <p:spPr>
          <a:xfrm>
            <a:off x="795528" y="5870448"/>
            <a:ext cx="10607040" cy="365760"/>
          </a:xfrm>
          <a:prstGeom prst="rect">
            <a:avLst/>
          </a:prstGeom>
          <a:noFill/>
          <a:ln/>
        </p:spPr>
        <p:txBody>
          <a:bodyPr wrap="square" lIns="0" tIns="0" rIns="0" bIns="0" rtlCol="0" anchor="ctr"/>
          <a:lstStyle/>
          <a:p>
            <a:pPr indent="0" marL="0">
              <a:buNone/>
            </a:pPr>
            <a:r>
              <a:rPr lang="en-US" sz="1100" dirty="0">
                <a:solidFill>
                  <a:srgbClr val="1B2D8A"/>
                </a:solidFill>
                <a:latin typeface="Arial" pitchFamily="34" charset="0"/>
                <a:ea typeface="Arial" pitchFamily="34" charset="-122"/>
                <a:cs typeface="Arial" pitchFamily="34" charset="-120"/>
              </a:rPr>
              <a:t>Weekend is not a throwaway: DBP C1 carries 1.18M weekend boardings against 1.19M weekday — 99% of the weekday figure.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2101291" cy="310896"/>
          </a:xfrm>
          <a:prstGeom prst="roundRect">
            <a:avLst>
              <a:gd name="adj" fmla="val 50000"/>
            </a:avLst>
          </a:prstGeom>
          <a:solidFill>
            <a:srgbClr val="F0245E"/>
          </a:solidFill>
          <a:ln/>
        </p:spPr>
      </p:sp>
      <p:sp>
        <p:nvSpPr>
          <p:cNvPr id="3" name="Text 1"/>
          <p:cNvSpPr/>
          <p:nvPr/>
        </p:nvSpPr>
        <p:spPr>
          <a:xfrm>
            <a:off x="502920" y="329184"/>
            <a:ext cx="2101291"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BY VEHICLE</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Each bus already leans to an audience</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One audience per vehicle, assigned to the bus that carries the largest share of it — so all five are briefed.</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12</a:t>
            </a:r>
            <a:endParaRPr lang="en-US" sz="1000" dirty="0"/>
          </a:p>
        </p:txBody>
      </p:sp>
      <p:sp>
        <p:nvSpPr>
          <p:cNvPr id="8" name="Shape 6"/>
          <p:cNvSpPr/>
          <p:nvPr/>
        </p:nvSpPr>
        <p:spPr>
          <a:xfrm>
            <a:off x="502920" y="1965960"/>
            <a:ext cx="11183112" cy="731520"/>
          </a:xfrm>
          <a:prstGeom prst="roundRect">
            <a:avLst>
              <a:gd name="adj" fmla="val 11250"/>
            </a:avLst>
          </a:prstGeom>
          <a:solidFill>
            <a:srgbClr val="FFFFFF"/>
          </a:solidFill>
          <a:ln w="12700">
            <a:solidFill>
              <a:srgbClr val="D8DDE9"/>
            </a:solidFill>
            <a:prstDash val="solid"/>
          </a:ln>
        </p:spPr>
      </p:sp>
      <p:sp>
        <p:nvSpPr>
          <p:cNvPr id="9" name="Shape 7"/>
          <p:cNvSpPr/>
          <p:nvPr/>
        </p:nvSpPr>
        <p:spPr>
          <a:xfrm>
            <a:off x="740664" y="2130552"/>
            <a:ext cx="786384" cy="402336"/>
          </a:xfrm>
          <a:prstGeom prst="roundRect">
            <a:avLst>
              <a:gd name="adj" fmla="val 15909"/>
            </a:avLst>
          </a:prstGeom>
          <a:solidFill>
            <a:srgbClr val="FFFFFF"/>
          </a:solidFill>
          <a:ln w="15875">
            <a:solidFill>
              <a:srgbClr val="F0245E"/>
            </a:solidFill>
            <a:prstDash val="solid"/>
          </a:ln>
        </p:spPr>
      </p:sp>
      <p:sp>
        <p:nvSpPr>
          <p:cNvPr id="10" name="Text 8"/>
          <p:cNvSpPr/>
          <p:nvPr/>
        </p:nvSpPr>
        <p:spPr>
          <a:xfrm>
            <a:off x="740664" y="2130552"/>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190</a:t>
            </a:r>
            <a:endParaRPr lang="en-US" sz="1500" dirty="0"/>
          </a:p>
        </p:txBody>
      </p:sp>
      <p:sp>
        <p:nvSpPr>
          <p:cNvPr id="11" name="Text 9"/>
          <p:cNvSpPr/>
          <p:nvPr/>
        </p:nvSpPr>
        <p:spPr>
          <a:xfrm>
            <a:off x="1655064" y="2039112"/>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Choa Chu Kang Int ⇄ Kampong Bahru Ter</a:t>
            </a:r>
            <a:endParaRPr lang="en-US" sz="1050" dirty="0"/>
          </a:p>
        </p:txBody>
      </p:sp>
      <p:sp>
        <p:nvSpPr>
          <p:cNvPr id="12" name="Text 10"/>
          <p:cNvSpPr/>
          <p:nvPr/>
        </p:nvSpPr>
        <p:spPr>
          <a:xfrm>
            <a:off x="1655064" y="2331720"/>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Working adults</a:t>
            </a:r>
            <a:endParaRPr lang="en-US" sz="1250" dirty="0"/>
          </a:p>
        </p:txBody>
      </p:sp>
      <p:sp>
        <p:nvSpPr>
          <p:cNvPr id="13" name="Text 11"/>
          <p:cNvSpPr/>
          <p:nvPr/>
        </p:nvSpPr>
        <p:spPr>
          <a:xfrm>
            <a:off x="3886200" y="2331720"/>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62 places · 33% of the package</a:t>
            </a:r>
            <a:endParaRPr lang="en-US" sz="1000" dirty="0"/>
          </a:p>
        </p:txBody>
      </p:sp>
      <p:sp>
        <p:nvSpPr>
          <p:cNvPr id="14" name="Shape 12"/>
          <p:cNvSpPr/>
          <p:nvPr/>
        </p:nvSpPr>
        <p:spPr>
          <a:xfrm>
            <a:off x="6858000" y="2354138"/>
            <a:ext cx="384048" cy="123886"/>
          </a:xfrm>
          <a:prstGeom prst="rect">
            <a:avLst/>
          </a:prstGeom>
          <a:solidFill>
            <a:srgbClr val="1B2D8A"/>
          </a:solidFill>
          <a:ln/>
        </p:spPr>
      </p:sp>
      <p:sp>
        <p:nvSpPr>
          <p:cNvPr id="15" name="Text 13"/>
          <p:cNvSpPr/>
          <p:nvPr/>
        </p:nvSpPr>
        <p:spPr>
          <a:xfrm>
            <a:off x="6775704"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21</a:t>
            </a:r>
            <a:endParaRPr lang="en-US" sz="800" dirty="0"/>
          </a:p>
        </p:txBody>
      </p:sp>
      <p:sp>
        <p:nvSpPr>
          <p:cNvPr id="16" name="Text 14"/>
          <p:cNvSpPr/>
          <p:nvPr/>
        </p:nvSpPr>
        <p:spPr>
          <a:xfrm>
            <a:off x="6775704"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17" name="Shape 15"/>
          <p:cNvSpPr/>
          <p:nvPr/>
        </p:nvSpPr>
        <p:spPr>
          <a:xfrm>
            <a:off x="7424928" y="2365936"/>
            <a:ext cx="384048" cy="112088"/>
          </a:xfrm>
          <a:prstGeom prst="rect">
            <a:avLst/>
          </a:prstGeom>
          <a:solidFill>
            <a:srgbClr val="1B2D8A"/>
          </a:solidFill>
          <a:ln/>
        </p:spPr>
      </p:sp>
      <p:sp>
        <p:nvSpPr>
          <p:cNvPr id="18" name="Text 16"/>
          <p:cNvSpPr/>
          <p:nvPr/>
        </p:nvSpPr>
        <p:spPr>
          <a:xfrm>
            <a:off x="7342632"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19</a:t>
            </a:r>
            <a:endParaRPr lang="en-US" sz="800" dirty="0"/>
          </a:p>
        </p:txBody>
      </p:sp>
      <p:sp>
        <p:nvSpPr>
          <p:cNvPr id="19" name="Text 17"/>
          <p:cNvSpPr/>
          <p:nvPr/>
        </p:nvSpPr>
        <p:spPr>
          <a:xfrm>
            <a:off x="7342632"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20" name="Shape 18"/>
          <p:cNvSpPr/>
          <p:nvPr/>
        </p:nvSpPr>
        <p:spPr>
          <a:xfrm>
            <a:off x="7991856" y="2112264"/>
            <a:ext cx="384048" cy="365760"/>
          </a:xfrm>
          <a:prstGeom prst="rect">
            <a:avLst/>
          </a:prstGeom>
          <a:solidFill>
            <a:srgbClr val="F0245E"/>
          </a:solidFill>
          <a:ln/>
        </p:spPr>
      </p:sp>
      <p:sp>
        <p:nvSpPr>
          <p:cNvPr id="21" name="Text 19"/>
          <p:cNvSpPr/>
          <p:nvPr/>
        </p:nvSpPr>
        <p:spPr>
          <a:xfrm>
            <a:off x="7909560"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62</a:t>
            </a:r>
            <a:endParaRPr lang="en-US" sz="800" dirty="0"/>
          </a:p>
        </p:txBody>
      </p:sp>
      <p:sp>
        <p:nvSpPr>
          <p:cNvPr id="22" name="Text 20"/>
          <p:cNvSpPr/>
          <p:nvPr/>
        </p:nvSpPr>
        <p:spPr>
          <a:xfrm>
            <a:off x="7909560"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23" name="Shape 21"/>
          <p:cNvSpPr/>
          <p:nvPr/>
        </p:nvSpPr>
        <p:spPr>
          <a:xfrm>
            <a:off x="8558784" y="2360037"/>
            <a:ext cx="384048" cy="117987"/>
          </a:xfrm>
          <a:prstGeom prst="rect">
            <a:avLst/>
          </a:prstGeom>
          <a:solidFill>
            <a:srgbClr val="1B2D8A"/>
          </a:solidFill>
          <a:ln/>
        </p:spPr>
      </p:sp>
      <p:sp>
        <p:nvSpPr>
          <p:cNvPr id="24" name="Text 22"/>
          <p:cNvSpPr/>
          <p:nvPr/>
        </p:nvSpPr>
        <p:spPr>
          <a:xfrm>
            <a:off x="8476488"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20</a:t>
            </a:r>
            <a:endParaRPr lang="en-US" sz="800" dirty="0"/>
          </a:p>
        </p:txBody>
      </p:sp>
      <p:sp>
        <p:nvSpPr>
          <p:cNvPr id="25" name="Text 23"/>
          <p:cNvSpPr/>
          <p:nvPr/>
        </p:nvSpPr>
        <p:spPr>
          <a:xfrm>
            <a:off x="8476488"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26" name="Shape 24"/>
          <p:cNvSpPr/>
          <p:nvPr/>
        </p:nvSpPr>
        <p:spPr>
          <a:xfrm>
            <a:off x="9125712" y="2371836"/>
            <a:ext cx="384048" cy="106188"/>
          </a:xfrm>
          <a:prstGeom prst="rect">
            <a:avLst/>
          </a:prstGeom>
          <a:solidFill>
            <a:srgbClr val="1B2D8A"/>
          </a:solidFill>
          <a:ln/>
        </p:spPr>
      </p:sp>
      <p:sp>
        <p:nvSpPr>
          <p:cNvPr id="27" name="Text 25"/>
          <p:cNvSpPr/>
          <p:nvPr/>
        </p:nvSpPr>
        <p:spPr>
          <a:xfrm>
            <a:off x="9043416" y="2487168"/>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18</a:t>
            </a:r>
            <a:endParaRPr lang="en-US" sz="800" dirty="0"/>
          </a:p>
        </p:txBody>
      </p:sp>
      <p:sp>
        <p:nvSpPr>
          <p:cNvPr id="28" name="Text 26"/>
          <p:cNvSpPr/>
          <p:nvPr/>
        </p:nvSpPr>
        <p:spPr>
          <a:xfrm>
            <a:off x="9043416" y="1975104"/>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29" name="Text 27"/>
          <p:cNvSpPr/>
          <p:nvPr/>
        </p:nvSpPr>
        <p:spPr>
          <a:xfrm>
            <a:off x="10378440" y="2176272"/>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63 stops</a:t>
            </a:r>
            <a:endParaRPr lang="en-US" sz="1050" dirty="0"/>
          </a:p>
        </p:txBody>
      </p:sp>
      <p:sp>
        <p:nvSpPr>
          <p:cNvPr id="30" name="Shape 28"/>
          <p:cNvSpPr/>
          <p:nvPr/>
        </p:nvSpPr>
        <p:spPr>
          <a:xfrm>
            <a:off x="502920" y="2770632"/>
            <a:ext cx="11183112" cy="731520"/>
          </a:xfrm>
          <a:prstGeom prst="roundRect">
            <a:avLst>
              <a:gd name="adj" fmla="val 11250"/>
            </a:avLst>
          </a:prstGeom>
          <a:solidFill>
            <a:srgbClr val="FFFFFF"/>
          </a:solidFill>
          <a:ln w="12700">
            <a:solidFill>
              <a:srgbClr val="D8DDE9"/>
            </a:solidFill>
            <a:prstDash val="solid"/>
          </a:ln>
        </p:spPr>
      </p:sp>
      <p:sp>
        <p:nvSpPr>
          <p:cNvPr id="31" name="Shape 29"/>
          <p:cNvSpPr/>
          <p:nvPr/>
        </p:nvSpPr>
        <p:spPr>
          <a:xfrm>
            <a:off x="740664" y="2935224"/>
            <a:ext cx="786384" cy="402336"/>
          </a:xfrm>
          <a:prstGeom prst="roundRect">
            <a:avLst>
              <a:gd name="adj" fmla="val 15909"/>
            </a:avLst>
          </a:prstGeom>
          <a:solidFill>
            <a:srgbClr val="FFFFFF"/>
          </a:solidFill>
          <a:ln w="15875">
            <a:solidFill>
              <a:srgbClr val="F0245E"/>
            </a:solidFill>
            <a:prstDash val="solid"/>
          </a:ln>
        </p:spPr>
      </p:sp>
      <p:sp>
        <p:nvSpPr>
          <p:cNvPr id="32" name="Text 30"/>
          <p:cNvSpPr/>
          <p:nvPr/>
        </p:nvSpPr>
        <p:spPr>
          <a:xfrm>
            <a:off x="740664" y="2935224"/>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70</a:t>
            </a:r>
            <a:endParaRPr lang="en-US" sz="1500" dirty="0"/>
          </a:p>
        </p:txBody>
      </p:sp>
      <p:sp>
        <p:nvSpPr>
          <p:cNvPr id="33" name="Text 31"/>
          <p:cNvSpPr/>
          <p:nvPr/>
        </p:nvSpPr>
        <p:spPr>
          <a:xfrm>
            <a:off x="1655064" y="2843784"/>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Yio Chu Kang Int ⇄ Shenton Way Ter</a:t>
            </a:r>
            <a:endParaRPr lang="en-US" sz="1050" dirty="0"/>
          </a:p>
        </p:txBody>
      </p:sp>
      <p:sp>
        <p:nvSpPr>
          <p:cNvPr id="34" name="Text 32"/>
          <p:cNvSpPr/>
          <p:nvPr/>
        </p:nvSpPr>
        <p:spPr>
          <a:xfrm>
            <a:off x="1655064" y="3136392"/>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Youth</a:t>
            </a:r>
            <a:endParaRPr lang="en-US" sz="1250" dirty="0"/>
          </a:p>
        </p:txBody>
      </p:sp>
      <p:sp>
        <p:nvSpPr>
          <p:cNvPr id="35" name="Text 33"/>
          <p:cNvSpPr/>
          <p:nvPr/>
        </p:nvSpPr>
        <p:spPr>
          <a:xfrm>
            <a:off x="3886200" y="3136392"/>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23 places · 21% of the package</a:t>
            </a:r>
            <a:endParaRPr lang="en-US" sz="1000" dirty="0"/>
          </a:p>
        </p:txBody>
      </p:sp>
      <p:sp>
        <p:nvSpPr>
          <p:cNvPr id="36" name="Shape 34"/>
          <p:cNvSpPr/>
          <p:nvPr/>
        </p:nvSpPr>
        <p:spPr>
          <a:xfrm>
            <a:off x="6858000" y="3188306"/>
            <a:ext cx="384048" cy="94390"/>
          </a:xfrm>
          <a:prstGeom prst="rect">
            <a:avLst/>
          </a:prstGeom>
          <a:solidFill>
            <a:srgbClr val="1B2D8A"/>
          </a:solidFill>
          <a:ln/>
        </p:spPr>
      </p:sp>
      <p:sp>
        <p:nvSpPr>
          <p:cNvPr id="37" name="Text 35"/>
          <p:cNvSpPr/>
          <p:nvPr/>
        </p:nvSpPr>
        <p:spPr>
          <a:xfrm>
            <a:off x="6775704"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16</a:t>
            </a:r>
            <a:endParaRPr lang="en-US" sz="800" dirty="0"/>
          </a:p>
        </p:txBody>
      </p:sp>
      <p:sp>
        <p:nvSpPr>
          <p:cNvPr id="38" name="Text 36"/>
          <p:cNvSpPr/>
          <p:nvPr/>
        </p:nvSpPr>
        <p:spPr>
          <a:xfrm>
            <a:off x="6775704"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39" name="Shape 37"/>
          <p:cNvSpPr/>
          <p:nvPr/>
        </p:nvSpPr>
        <p:spPr>
          <a:xfrm>
            <a:off x="7424928" y="3229602"/>
            <a:ext cx="384048" cy="53094"/>
          </a:xfrm>
          <a:prstGeom prst="rect">
            <a:avLst/>
          </a:prstGeom>
          <a:solidFill>
            <a:srgbClr val="1B2D8A"/>
          </a:solidFill>
          <a:ln/>
        </p:spPr>
      </p:sp>
      <p:sp>
        <p:nvSpPr>
          <p:cNvPr id="40" name="Text 38"/>
          <p:cNvSpPr/>
          <p:nvPr/>
        </p:nvSpPr>
        <p:spPr>
          <a:xfrm>
            <a:off x="7342632"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9</a:t>
            </a:r>
            <a:endParaRPr lang="en-US" sz="800" dirty="0"/>
          </a:p>
        </p:txBody>
      </p:sp>
      <p:sp>
        <p:nvSpPr>
          <p:cNvPr id="41" name="Text 39"/>
          <p:cNvSpPr/>
          <p:nvPr/>
        </p:nvSpPr>
        <p:spPr>
          <a:xfrm>
            <a:off x="7342632"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42" name="Shape 40"/>
          <p:cNvSpPr/>
          <p:nvPr/>
        </p:nvSpPr>
        <p:spPr>
          <a:xfrm>
            <a:off x="7991856" y="3029024"/>
            <a:ext cx="384048" cy="253672"/>
          </a:xfrm>
          <a:prstGeom prst="rect">
            <a:avLst/>
          </a:prstGeom>
          <a:solidFill>
            <a:srgbClr val="1B2D8A"/>
          </a:solidFill>
          <a:ln/>
        </p:spPr>
      </p:sp>
      <p:sp>
        <p:nvSpPr>
          <p:cNvPr id="43" name="Text 41"/>
          <p:cNvSpPr/>
          <p:nvPr/>
        </p:nvSpPr>
        <p:spPr>
          <a:xfrm>
            <a:off x="7909560"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43</a:t>
            </a:r>
            <a:endParaRPr lang="en-US" sz="800" dirty="0"/>
          </a:p>
        </p:txBody>
      </p:sp>
      <p:sp>
        <p:nvSpPr>
          <p:cNvPr id="44" name="Text 42"/>
          <p:cNvSpPr/>
          <p:nvPr/>
        </p:nvSpPr>
        <p:spPr>
          <a:xfrm>
            <a:off x="7909560"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45" name="Shape 43"/>
          <p:cNvSpPr/>
          <p:nvPr/>
        </p:nvSpPr>
        <p:spPr>
          <a:xfrm>
            <a:off x="8558784" y="3147011"/>
            <a:ext cx="384048" cy="135685"/>
          </a:xfrm>
          <a:prstGeom prst="rect">
            <a:avLst/>
          </a:prstGeom>
          <a:solidFill>
            <a:srgbClr val="F0245E"/>
          </a:solidFill>
          <a:ln/>
        </p:spPr>
      </p:sp>
      <p:sp>
        <p:nvSpPr>
          <p:cNvPr id="46" name="Text 44"/>
          <p:cNvSpPr/>
          <p:nvPr/>
        </p:nvSpPr>
        <p:spPr>
          <a:xfrm>
            <a:off x="8476488"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23</a:t>
            </a:r>
            <a:endParaRPr lang="en-US" sz="800" dirty="0"/>
          </a:p>
        </p:txBody>
      </p:sp>
      <p:sp>
        <p:nvSpPr>
          <p:cNvPr id="47" name="Text 45"/>
          <p:cNvSpPr/>
          <p:nvPr/>
        </p:nvSpPr>
        <p:spPr>
          <a:xfrm>
            <a:off x="8476488"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48" name="Shape 46"/>
          <p:cNvSpPr/>
          <p:nvPr/>
        </p:nvSpPr>
        <p:spPr>
          <a:xfrm>
            <a:off x="9125712" y="3236976"/>
            <a:ext cx="384048" cy="45720"/>
          </a:xfrm>
          <a:prstGeom prst="rect">
            <a:avLst/>
          </a:prstGeom>
          <a:solidFill>
            <a:srgbClr val="1B2D8A"/>
          </a:solidFill>
          <a:ln/>
        </p:spPr>
      </p:sp>
      <p:sp>
        <p:nvSpPr>
          <p:cNvPr id="49" name="Text 47"/>
          <p:cNvSpPr/>
          <p:nvPr/>
        </p:nvSpPr>
        <p:spPr>
          <a:xfrm>
            <a:off x="9043416" y="3291840"/>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7</a:t>
            </a:r>
            <a:endParaRPr lang="en-US" sz="800" dirty="0"/>
          </a:p>
        </p:txBody>
      </p:sp>
      <p:sp>
        <p:nvSpPr>
          <p:cNvPr id="50" name="Text 48"/>
          <p:cNvSpPr/>
          <p:nvPr/>
        </p:nvSpPr>
        <p:spPr>
          <a:xfrm>
            <a:off x="9043416" y="2779776"/>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51" name="Text 49"/>
          <p:cNvSpPr/>
          <p:nvPr/>
        </p:nvSpPr>
        <p:spPr>
          <a:xfrm>
            <a:off x="10378440" y="2980944"/>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110 stops</a:t>
            </a:r>
            <a:endParaRPr lang="en-US" sz="1050" dirty="0"/>
          </a:p>
        </p:txBody>
      </p:sp>
      <p:sp>
        <p:nvSpPr>
          <p:cNvPr id="52" name="Shape 50"/>
          <p:cNvSpPr/>
          <p:nvPr/>
        </p:nvSpPr>
        <p:spPr>
          <a:xfrm>
            <a:off x="502920" y="3575304"/>
            <a:ext cx="11183112" cy="731520"/>
          </a:xfrm>
          <a:prstGeom prst="roundRect">
            <a:avLst>
              <a:gd name="adj" fmla="val 11250"/>
            </a:avLst>
          </a:prstGeom>
          <a:solidFill>
            <a:srgbClr val="FFFFFF"/>
          </a:solidFill>
          <a:ln w="12700">
            <a:solidFill>
              <a:srgbClr val="D8DDE9"/>
            </a:solidFill>
            <a:prstDash val="solid"/>
          </a:ln>
        </p:spPr>
      </p:sp>
      <p:sp>
        <p:nvSpPr>
          <p:cNvPr id="53" name="Shape 51"/>
          <p:cNvSpPr/>
          <p:nvPr/>
        </p:nvSpPr>
        <p:spPr>
          <a:xfrm>
            <a:off x="740664" y="3739896"/>
            <a:ext cx="786384" cy="402336"/>
          </a:xfrm>
          <a:prstGeom prst="roundRect">
            <a:avLst>
              <a:gd name="adj" fmla="val 15909"/>
            </a:avLst>
          </a:prstGeom>
          <a:solidFill>
            <a:srgbClr val="FFFFFF"/>
          </a:solidFill>
          <a:ln w="15875">
            <a:solidFill>
              <a:srgbClr val="F0245E"/>
            </a:solidFill>
            <a:prstDash val="solid"/>
          </a:ln>
        </p:spPr>
      </p:sp>
      <p:sp>
        <p:nvSpPr>
          <p:cNvPr id="54" name="Text 52"/>
          <p:cNvSpPr/>
          <p:nvPr/>
        </p:nvSpPr>
        <p:spPr>
          <a:xfrm>
            <a:off x="740664" y="3739896"/>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133</a:t>
            </a:r>
            <a:endParaRPr lang="en-US" sz="1500" dirty="0"/>
          </a:p>
        </p:txBody>
      </p:sp>
      <p:sp>
        <p:nvSpPr>
          <p:cNvPr id="55" name="Text 53"/>
          <p:cNvSpPr/>
          <p:nvPr/>
        </p:nvSpPr>
        <p:spPr>
          <a:xfrm>
            <a:off x="1655064" y="3648456"/>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Ang Mo Kio Int ⇄ Opp MAS Bldg / Shenton Way Ter</a:t>
            </a:r>
            <a:endParaRPr lang="en-US" sz="1050" dirty="0"/>
          </a:p>
        </p:txBody>
      </p:sp>
      <p:sp>
        <p:nvSpPr>
          <p:cNvPr id="56" name="Text 54"/>
          <p:cNvSpPr/>
          <p:nvPr/>
        </p:nvSpPr>
        <p:spPr>
          <a:xfrm>
            <a:off x="1655064" y="3941064"/>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Seniors</a:t>
            </a:r>
            <a:endParaRPr lang="en-US" sz="1250" dirty="0"/>
          </a:p>
        </p:txBody>
      </p:sp>
      <p:sp>
        <p:nvSpPr>
          <p:cNvPr id="57" name="Text 55"/>
          <p:cNvSpPr/>
          <p:nvPr/>
        </p:nvSpPr>
        <p:spPr>
          <a:xfrm>
            <a:off x="3886200" y="3941064"/>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27 places · 28% of the package</a:t>
            </a:r>
            <a:endParaRPr lang="en-US" sz="1000" dirty="0"/>
          </a:p>
        </p:txBody>
      </p:sp>
      <p:sp>
        <p:nvSpPr>
          <p:cNvPr id="58" name="Shape 56"/>
          <p:cNvSpPr/>
          <p:nvPr/>
        </p:nvSpPr>
        <p:spPr>
          <a:xfrm>
            <a:off x="6858000" y="3987079"/>
            <a:ext cx="384048" cy="100289"/>
          </a:xfrm>
          <a:prstGeom prst="rect">
            <a:avLst/>
          </a:prstGeom>
          <a:solidFill>
            <a:srgbClr val="1B2D8A"/>
          </a:solidFill>
          <a:ln/>
        </p:spPr>
      </p:sp>
      <p:sp>
        <p:nvSpPr>
          <p:cNvPr id="59" name="Text 57"/>
          <p:cNvSpPr/>
          <p:nvPr/>
        </p:nvSpPr>
        <p:spPr>
          <a:xfrm>
            <a:off x="6775704"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17</a:t>
            </a:r>
            <a:endParaRPr lang="en-US" sz="800" dirty="0"/>
          </a:p>
        </p:txBody>
      </p:sp>
      <p:sp>
        <p:nvSpPr>
          <p:cNvPr id="60" name="Text 58"/>
          <p:cNvSpPr/>
          <p:nvPr/>
        </p:nvSpPr>
        <p:spPr>
          <a:xfrm>
            <a:off x="6775704"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61" name="Shape 59"/>
          <p:cNvSpPr/>
          <p:nvPr/>
        </p:nvSpPr>
        <p:spPr>
          <a:xfrm>
            <a:off x="7424928" y="3928085"/>
            <a:ext cx="384048" cy="159283"/>
          </a:xfrm>
          <a:prstGeom prst="rect">
            <a:avLst/>
          </a:prstGeom>
          <a:solidFill>
            <a:srgbClr val="F0245E"/>
          </a:solidFill>
          <a:ln/>
        </p:spPr>
      </p:sp>
      <p:sp>
        <p:nvSpPr>
          <p:cNvPr id="62" name="Text 60"/>
          <p:cNvSpPr/>
          <p:nvPr/>
        </p:nvSpPr>
        <p:spPr>
          <a:xfrm>
            <a:off x="7342632"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27</a:t>
            </a:r>
            <a:endParaRPr lang="en-US" sz="800" dirty="0"/>
          </a:p>
        </p:txBody>
      </p:sp>
      <p:sp>
        <p:nvSpPr>
          <p:cNvPr id="63" name="Text 61"/>
          <p:cNvSpPr/>
          <p:nvPr/>
        </p:nvSpPr>
        <p:spPr>
          <a:xfrm>
            <a:off x="7342632"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64" name="Shape 62"/>
          <p:cNvSpPr/>
          <p:nvPr/>
        </p:nvSpPr>
        <p:spPr>
          <a:xfrm>
            <a:off x="7991856" y="3757004"/>
            <a:ext cx="384048" cy="330364"/>
          </a:xfrm>
          <a:prstGeom prst="rect">
            <a:avLst/>
          </a:prstGeom>
          <a:solidFill>
            <a:srgbClr val="1B2D8A"/>
          </a:solidFill>
          <a:ln/>
        </p:spPr>
      </p:sp>
      <p:sp>
        <p:nvSpPr>
          <p:cNvPr id="65" name="Text 63"/>
          <p:cNvSpPr/>
          <p:nvPr/>
        </p:nvSpPr>
        <p:spPr>
          <a:xfrm>
            <a:off x="7909560"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56</a:t>
            </a:r>
            <a:endParaRPr lang="en-US" sz="800" dirty="0"/>
          </a:p>
        </p:txBody>
      </p:sp>
      <p:sp>
        <p:nvSpPr>
          <p:cNvPr id="66" name="Text 64"/>
          <p:cNvSpPr/>
          <p:nvPr/>
        </p:nvSpPr>
        <p:spPr>
          <a:xfrm>
            <a:off x="7909560"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67" name="Shape 65"/>
          <p:cNvSpPr/>
          <p:nvPr/>
        </p:nvSpPr>
        <p:spPr>
          <a:xfrm>
            <a:off x="8558784" y="3933985"/>
            <a:ext cx="384048" cy="153383"/>
          </a:xfrm>
          <a:prstGeom prst="rect">
            <a:avLst/>
          </a:prstGeom>
          <a:solidFill>
            <a:srgbClr val="1B2D8A"/>
          </a:solidFill>
          <a:ln/>
        </p:spPr>
      </p:sp>
      <p:sp>
        <p:nvSpPr>
          <p:cNvPr id="68" name="Text 66"/>
          <p:cNvSpPr/>
          <p:nvPr/>
        </p:nvSpPr>
        <p:spPr>
          <a:xfrm>
            <a:off x="8476488"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26</a:t>
            </a:r>
            <a:endParaRPr lang="en-US" sz="800" dirty="0"/>
          </a:p>
        </p:txBody>
      </p:sp>
      <p:sp>
        <p:nvSpPr>
          <p:cNvPr id="69" name="Text 67"/>
          <p:cNvSpPr/>
          <p:nvPr/>
        </p:nvSpPr>
        <p:spPr>
          <a:xfrm>
            <a:off x="8476488"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70" name="Shape 68"/>
          <p:cNvSpPr/>
          <p:nvPr/>
        </p:nvSpPr>
        <p:spPr>
          <a:xfrm>
            <a:off x="9125712" y="3969381"/>
            <a:ext cx="384048" cy="117987"/>
          </a:xfrm>
          <a:prstGeom prst="rect">
            <a:avLst/>
          </a:prstGeom>
          <a:solidFill>
            <a:srgbClr val="1B2D8A"/>
          </a:solidFill>
          <a:ln/>
        </p:spPr>
      </p:sp>
      <p:sp>
        <p:nvSpPr>
          <p:cNvPr id="71" name="Text 69"/>
          <p:cNvSpPr/>
          <p:nvPr/>
        </p:nvSpPr>
        <p:spPr>
          <a:xfrm>
            <a:off x="9043416" y="4096512"/>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20</a:t>
            </a:r>
            <a:endParaRPr lang="en-US" sz="800" dirty="0"/>
          </a:p>
        </p:txBody>
      </p:sp>
      <p:sp>
        <p:nvSpPr>
          <p:cNvPr id="72" name="Text 70"/>
          <p:cNvSpPr/>
          <p:nvPr/>
        </p:nvSpPr>
        <p:spPr>
          <a:xfrm>
            <a:off x="9043416" y="3584448"/>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73" name="Text 71"/>
          <p:cNvSpPr/>
          <p:nvPr/>
        </p:nvSpPr>
        <p:spPr>
          <a:xfrm>
            <a:off x="10378440" y="3785616"/>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84 stops</a:t>
            </a:r>
            <a:endParaRPr lang="en-US" sz="1050" dirty="0"/>
          </a:p>
        </p:txBody>
      </p:sp>
      <p:sp>
        <p:nvSpPr>
          <p:cNvPr id="74" name="Shape 72"/>
          <p:cNvSpPr/>
          <p:nvPr/>
        </p:nvSpPr>
        <p:spPr>
          <a:xfrm>
            <a:off x="502920" y="4379976"/>
            <a:ext cx="11183112" cy="731520"/>
          </a:xfrm>
          <a:prstGeom prst="roundRect">
            <a:avLst>
              <a:gd name="adj" fmla="val 11250"/>
            </a:avLst>
          </a:prstGeom>
          <a:solidFill>
            <a:srgbClr val="FFFFFF"/>
          </a:solidFill>
          <a:ln w="12700">
            <a:solidFill>
              <a:srgbClr val="D8DDE9"/>
            </a:solidFill>
            <a:prstDash val="solid"/>
          </a:ln>
        </p:spPr>
      </p:sp>
      <p:sp>
        <p:nvSpPr>
          <p:cNvPr id="75" name="Shape 73"/>
          <p:cNvSpPr/>
          <p:nvPr/>
        </p:nvSpPr>
        <p:spPr>
          <a:xfrm>
            <a:off x="740664" y="4544568"/>
            <a:ext cx="786384" cy="402336"/>
          </a:xfrm>
          <a:prstGeom prst="roundRect">
            <a:avLst>
              <a:gd name="adj" fmla="val 15909"/>
            </a:avLst>
          </a:prstGeom>
          <a:solidFill>
            <a:srgbClr val="FFFFFF"/>
          </a:solidFill>
          <a:ln w="15875">
            <a:solidFill>
              <a:srgbClr val="F0245E"/>
            </a:solidFill>
            <a:prstDash val="solid"/>
          </a:ln>
        </p:spPr>
      </p:sp>
      <p:sp>
        <p:nvSpPr>
          <p:cNvPr id="76" name="Text 74"/>
          <p:cNvSpPr/>
          <p:nvPr/>
        </p:nvSpPr>
        <p:spPr>
          <a:xfrm>
            <a:off x="740664" y="4544568"/>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198</a:t>
            </a:r>
            <a:endParaRPr lang="en-US" sz="1500" dirty="0"/>
          </a:p>
        </p:txBody>
      </p:sp>
      <p:sp>
        <p:nvSpPr>
          <p:cNvPr id="77" name="Text 75"/>
          <p:cNvSpPr/>
          <p:nvPr/>
        </p:nvSpPr>
        <p:spPr>
          <a:xfrm>
            <a:off x="1655064" y="4453128"/>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Boon Lay Int ⇄ Bt Merah Int</a:t>
            </a:r>
            <a:endParaRPr lang="en-US" sz="1050" dirty="0"/>
          </a:p>
        </p:txBody>
      </p:sp>
      <p:sp>
        <p:nvSpPr>
          <p:cNvPr id="78" name="Text 76"/>
          <p:cNvSpPr/>
          <p:nvPr/>
        </p:nvSpPr>
        <p:spPr>
          <a:xfrm>
            <a:off x="1655064" y="4745736"/>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Sandwich generation</a:t>
            </a:r>
            <a:endParaRPr lang="en-US" sz="1250" dirty="0"/>
          </a:p>
        </p:txBody>
      </p:sp>
      <p:sp>
        <p:nvSpPr>
          <p:cNvPr id="79" name="Text 77"/>
          <p:cNvSpPr/>
          <p:nvPr/>
        </p:nvSpPr>
        <p:spPr>
          <a:xfrm>
            <a:off x="3886200" y="4745736"/>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26 places · 26% of the package</a:t>
            </a:r>
            <a:endParaRPr lang="en-US" sz="1000" dirty="0"/>
          </a:p>
        </p:txBody>
      </p:sp>
      <p:sp>
        <p:nvSpPr>
          <p:cNvPr id="80" name="Shape 78"/>
          <p:cNvSpPr/>
          <p:nvPr/>
        </p:nvSpPr>
        <p:spPr>
          <a:xfrm>
            <a:off x="6858000" y="4744556"/>
            <a:ext cx="384048" cy="147484"/>
          </a:xfrm>
          <a:prstGeom prst="rect">
            <a:avLst/>
          </a:prstGeom>
          <a:solidFill>
            <a:srgbClr val="1B2D8A"/>
          </a:solidFill>
          <a:ln/>
        </p:spPr>
      </p:sp>
      <p:sp>
        <p:nvSpPr>
          <p:cNvPr id="81" name="Text 79"/>
          <p:cNvSpPr/>
          <p:nvPr/>
        </p:nvSpPr>
        <p:spPr>
          <a:xfrm>
            <a:off x="6775704"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25</a:t>
            </a:r>
            <a:endParaRPr lang="en-US" sz="800" dirty="0"/>
          </a:p>
        </p:txBody>
      </p:sp>
      <p:sp>
        <p:nvSpPr>
          <p:cNvPr id="82" name="Text 80"/>
          <p:cNvSpPr/>
          <p:nvPr/>
        </p:nvSpPr>
        <p:spPr>
          <a:xfrm>
            <a:off x="6775704"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83" name="Shape 81"/>
          <p:cNvSpPr/>
          <p:nvPr/>
        </p:nvSpPr>
        <p:spPr>
          <a:xfrm>
            <a:off x="7424928" y="4762254"/>
            <a:ext cx="384048" cy="129786"/>
          </a:xfrm>
          <a:prstGeom prst="rect">
            <a:avLst/>
          </a:prstGeom>
          <a:solidFill>
            <a:srgbClr val="1B2D8A"/>
          </a:solidFill>
          <a:ln/>
        </p:spPr>
      </p:sp>
      <p:sp>
        <p:nvSpPr>
          <p:cNvPr id="84" name="Text 82"/>
          <p:cNvSpPr/>
          <p:nvPr/>
        </p:nvSpPr>
        <p:spPr>
          <a:xfrm>
            <a:off x="7342632"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22</a:t>
            </a:r>
            <a:endParaRPr lang="en-US" sz="800" dirty="0"/>
          </a:p>
        </p:txBody>
      </p:sp>
      <p:sp>
        <p:nvSpPr>
          <p:cNvPr id="85" name="Text 83"/>
          <p:cNvSpPr/>
          <p:nvPr/>
        </p:nvSpPr>
        <p:spPr>
          <a:xfrm>
            <a:off x="7342632"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86" name="Shape 84"/>
          <p:cNvSpPr/>
          <p:nvPr/>
        </p:nvSpPr>
        <p:spPr>
          <a:xfrm>
            <a:off x="7991856" y="4779952"/>
            <a:ext cx="384048" cy="112088"/>
          </a:xfrm>
          <a:prstGeom prst="rect">
            <a:avLst/>
          </a:prstGeom>
          <a:solidFill>
            <a:srgbClr val="1B2D8A"/>
          </a:solidFill>
          <a:ln/>
        </p:spPr>
      </p:sp>
      <p:sp>
        <p:nvSpPr>
          <p:cNvPr id="87" name="Text 85"/>
          <p:cNvSpPr/>
          <p:nvPr/>
        </p:nvSpPr>
        <p:spPr>
          <a:xfrm>
            <a:off x="7909560"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19</a:t>
            </a:r>
            <a:endParaRPr lang="en-US" sz="800" dirty="0"/>
          </a:p>
        </p:txBody>
      </p:sp>
      <p:sp>
        <p:nvSpPr>
          <p:cNvPr id="88" name="Text 86"/>
          <p:cNvSpPr/>
          <p:nvPr/>
        </p:nvSpPr>
        <p:spPr>
          <a:xfrm>
            <a:off x="7909560"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89" name="Shape 87"/>
          <p:cNvSpPr/>
          <p:nvPr/>
        </p:nvSpPr>
        <p:spPr>
          <a:xfrm>
            <a:off x="8558784" y="4744556"/>
            <a:ext cx="384048" cy="147484"/>
          </a:xfrm>
          <a:prstGeom prst="rect">
            <a:avLst/>
          </a:prstGeom>
          <a:solidFill>
            <a:srgbClr val="1B2D8A"/>
          </a:solidFill>
          <a:ln/>
        </p:spPr>
      </p:sp>
      <p:sp>
        <p:nvSpPr>
          <p:cNvPr id="90" name="Text 88"/>
          <p:cNvSpPr/>
          <p:nvPr/>
        </p:nvSpPr>
        <p:spPr>
          <a:xfrm>
            <a:off x="8476488"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25</a:t>
            </a:r>
            <a:endParaRPr lang="en-US" sz="800" dirty="0"/>
          </a:p>
        </p:txBody>
      </p:sp>
      <p:sp>
        <p:nvSpPr>
          <p:cNvPr id="91" name="Text 89"/>
          <p:cNvSpPr/>
          <p:nvPr/>
        </p:nvSpPr>
        <p:spPr>
          <a:xfrm>
            <a:off x="8476488"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92" name="Shape 90"/>
          <p:cNvSpPr/>
          <p:nvPr/>
        </p:nvSpPr>
        <p:spPr>
          <a:xfrm>
            <a:off x="9125712" y="4738657"/>
            <a:ext cx="384048" cy="153383"/>
          </a:xfrm>
          <a:prstGeom prst="rect">
            <a:avLst/>
          </a:prstGeom>
          <a:solidFill>
            <a:srgbClr val="F0245E"/>
          </a:solidFill>
          <a:ln/>
        </p:spPr>
      </p:sp>
      <p:sp>
        <p:nvSpPr>
          <p:cNvPr id="93" name="Text 91"/>
          <p:cNvSpPr/>
          <p:nvPr/>
        </p:nvSpPr>
        <p:spPr>
          <a:xfrm>
            <a:off x="9043416" y="4901184"/>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26</a:t>
            </a:r>
            <a:endParaRPr lang="en-US" sz="800" dirty="0"/>
          </a:p>
        </p:txBody>
      </p:sp>
      <p:sp>
        <p:nvSpPr>
          <p:cNvPr id="94" name="Text 92"/>
          <p:cNvSpPr/>
          <p:nvPr/>
        </p:nvSpPr>
        <p:spPr>
          <a:xfrm>
            <a:off x="9043416" y="4389120"/>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95" name="Text 93"/>
          <p:cNvSpPr/>
          <p:nvPr/>
        </p:nvSpPr>
        <p:spPr>
          <a:xfrm>
            <a:off x="10378440" y="4590288"/>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86 stops</a:t>
            </a:r>
            <a:endParaRPr lang="en-US" sz="1050" dirty="0"/>
          </a:p>
        </p:txBody>
      </p:sp>
      <p:sp>
        <p:nvSpPr>
          <p:cNvPr id="96" name="Shape 94"/>
          <p:cNvSpPr/>
          <p:nvPr/>
        </p:nvSpPr>
        <p:spPr>
          <a:xfrm>
            <a:off x="502920" y="5184648"/>
            <a:ext cx="11183112" cy="731520"/>
          </a:xfrm>
          <a:prstGeom prst="roundRect">
            <a:avLst>
              <a:gd name="adj" fmla="val 11250"/>
            </a:avLst>
          </a:prstGeom>
          <a:solidFill>
            <a:srgbClr val="FFFFFF"/>
          </a:solidFill>
          <a:ln w="12700">
            <a:solidFill>
              <a:srgbClr val="D8DDE9"/>
            </a:solidFill>
            <a:prstDash val="solid"/>
          </a:ln>
        </p:spPr>
      </p:sp>
      <p:sp>
        <p:nvSpPr>
          <p:cNvPr id="97" name="Shape 95"/>
          <p:cNvSpPr/>
          <p:nvPr/>
        </p:nvSpPr>
        <p:spPr>
          <a:xfrm>
            <a:off x="740664" y="5349240"/>
            <a:ext cx="786384" cy="402336"/>
          </a:xfrm>
          <a:prstGeom prst="roundRect">
            <a:avLst>
              <a:gd name="adj" fmla="val 15909"/>
            </a:avLst>
          </a:prstGeom>
          <a:solidFill>
            <a:srgbClr val="FFFFFF"/>
          </a:solidFill>
          <a:ln w="15875">
            <a:solidFill>
              <a:srgbClr val="F0245E"/>
            </a:solidFill>
            <a:prstDash val="solid"/>
          </a:ln>
        </p:spPr>
      </p:sp>
      <p:sp>
        <p:nvSpPr>
          <p:cNvPr id="98" name="Text 96"/>
          <p:cNvSpPr/>
          <p:nvPr/>
        </p:nvSpPr>
        <p:spPr>
          <a:xfrm>
            <a:off x="740664" y="5349240"/>
            <a:ext cx="786384" cy="402336"/>
          </a:xfrm>
          <a:prstGeom prst="rect">
            <a:avLst/>
          </a:prstGeom>
          <a:noFill/>
          <a:ln/>
        </p:spPr>
        <p:txBody>
          <a:bodyPr wrap="square" lIns="0" tIns="0" rIns="0" bIns="0" rtlCol="0" anchor="ctr"/>
          <a:lstStyle/>
          <a:p>
            <a:pPr algn="ctr" indent="0" marL="0">
              <a:buNone/>
            </a:pPr>
            <a:r>
              <a:rPr lang="en-US" sz="1500" b="1" dirty="0">
                <a:solidFill>
                  <a:srgbClr val="F0245E"/>
                </a:solidFill>
                <a:latin typeface="Arial" pitchFamily="34" charset="0"/>
                <a:ea typeface="Arial" pitchFamily="34" charset="-122"/>
                <a:cs typeface="Arial" pitchFamily="34" charset="-120"/>
              </a:rPr>
              <a:t>85</a:t>
            </a:r>
            <a:endParaRPr lang="en-US" sz="1500" dirty="0"/>
          </a:p>
        </p:txBody>
      </p:sp>
      <p:sp>
        <p:nvSpPr>
          <p:cNvPr id="99" name="Text 97"/>
          <p:cNvSpPr/>
          <p:nvPr/>
        </p:nvSpPr>
        <p:spPr>
          <a:xfrm>
            <a:off x="1655064" y="5257800"/>
            <a:ext cx="3931920" cy="274320"/>
          </a:xfrm>
          <a:prstGeom prst="rect">
            <a:avLst/>
          </a:prstGeom>
          <a:noFill/>
          <a:ln/>
        </p:spPr>
        <p:txBody>
          <a:bodyPr wrap="square" lIns="0" tIns="0" rIns="0" bIns="0" rtlCol="0" anchor="ctr"/>
          <a:lstStyle/>
          <a:p>
            <a:pPr indent="0" marL="0">
              <a:buNone/>
            </a:pPr>
            <a:r>
              <a:rPr lang="en-US" sz="1050" dirty="0">
                <a:solidFill>
                  <a:srgbClr val="5A6484"/>
                </a:solidFill>
                <a:latin typeface="Arial" pitchFamily="34" charset="0"/>
                <a:ea typeface="Arial" pitchFamily="34" charset="-122"/>
                <a:cs typeface="Arial" pitchFamily="34" charset="-120"/>
              </a:rPr>
              <a:t>Punggol Int ⇄ Yishun Int</a:t>
            </a:r>
            <a:endParaRPr lang="en-US" sz="1050" dirty="0"/>
          </a:p>
        </p:txBody>
      </p:sp>
      <p:sp>
        <p:nvSpPr>
          <p:cNvPr id="100" name="Text 98"/>
          <p:cNvSpPr/>
          <p:nvPr/>
        </p:nvSpPr>
        <p:spPr>
          <a:xfrm>
            <a:off x="1655064" y="5550408"/>
            <a:ext cx="219456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Young children</a:t>
            </a:r>
            <a:endParaRPr lang="en-US" sz="1250" dirty="0"/>
          </a:p>
        </p:txBody>
      </p:sp>
      <p:sp>
        <p:nvSpPr>
          <p:cNvPr id="101" name="Text 99"/>
          <p:cNvSpPr/>
          <p:nvPr/>
        </p:nvSpPr>
        <p:spPr>
          <a:xfrm>
            <a:off x="3886200" y="5550408"/>
            <a:ext cx="2834640" cy="292608"/>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33 places · 29% of the package</a:t>
            </a:r>
            <a:endParaRPr lang="en-US" sz="1000" dirty="0"/>
          </a:p>
        </p:txBody>
      </p:sp>
      <p:sp>
        <p:nvSpPr>
          <p:cNvPr id="102" name="Shape 100"/>
          <p:cNvSpPr/>
          <p:nvPr/>
        </p:nvSpPr>
        <p:spPr>
          <a:xfrm>
            <a:off x="6858000" y="5502033"/>
            <a:ext cx="384048" cy="194679"/>
          </a:xfrm>
          <a:prstGeom prst="rect">
            <a:avLst/>
          </a:prstGeom>
          <a:solidFill>
            <a:srgbClr val="F0245E"/>
          </a:solidFill>
          <a:ln/>
        </p:spPr>
      </p:sp>
      <p:sp>
        <p:nvSpPr>
          <p:cNvPr id="103" name="Text 101"/>
          <p:cNvSpPr/>
          <p:nvPr/>
        </p:nvSpPr>
        <p:spPr>
          <a:xfrm>
            <a:off x="6775704"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33</a:t>
            </a:r>
            <a:endParaRPr lang="en-US" sz="800" dirty="0"/>
          </a:p>
        </p:txBody>
      </p:sp>
      <p:sp>
        <p:nvSpPr>
          <p:cNvPr id="104" name="Text 102"/>
          <p:cNvSpPr/>
          <p:nvPr/>
        </p:nvSpPr>
        <p:spPr>
          <a:xfrm>
            <a:off x="6775704"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Chld</a:t>
            </a:r>
            <a:endParaRPr lang="en-US" sz="700" dirty="0"/>
          </a:p>
        </p:txBody>
      </p:sp>
      <p:sp>
        <p:nvSpPr>
          <p:cNvPr id="105" name="Shape 103"/>
          <p:cNvSpPr/>
          <p:nvPr/>
        </p:nvSpPr>
        <p:spPr>
          <a:xfrm>
            <a:off x="7424928" y="5578725"/>
            <a:ext cx="384048" cy="117987"/>
          </a:xfrm>
          <a:prstGeom prst="rect">
            <a:avLst/>
          </a:prstGeom>
          <a:solidFill>
            <a:srgbClr val="1B2D8A"/>
          </a:solidFill>
          <a:ln/>
        </p:spPr>
      </p:sp>
      <p:sp>
        <p:nvSpPr>
          <p:cNvPr id="106" name="Text 104"/>
          <p:cNvSpPr/>
          <p:nvPr/>
        </p:nvSpPr>
        <p:spPr>
          <a:xfrm>
            <a:off x="7342632"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20</a:t>
            </a:r>
            <a:endParaRPr lang="en-US" sz="800" dirty="0"/>
          </a:p>
        </p:txBody>
      </p:sp>
      <p:sp>
        <p:nvSpPr>
          <p:cNvPr id="107" name="Text 105"/>
          <p:cNvSpPr/>
          <p:nvPr/>
        </p:nvSpPr>
        <p:spPr>
          <a:xfrm>
            <a:off x="7342632"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Snr</a:t>
            </a:r>
            <a:endParaRPr lang="en-US" sz="700" dirty="0"/>
          </a:p>
        </p:txBody>
      </p:sp>
      <p:sp>
        <p:nvSpPr>
          <p:cNvPr id="108" name="Shape 106"/>
          <p:cNvSpPr/>
          <p:nvPr/>
        </p:nvSpPr>
        <p:spPr>
          <a:xfrm>
            <a:off x="7991856" y="5643618"/>
            <a:ext cx="384048" cy="53094"/>
          </a:xfrm>
          <a:prstGeom prst="rect">
            <a:avLst/>
          </a:prstGeom>
          <a:solidFill>
            <a:srgbClr val="1B2D8A"/>
          </a:solidFill>
          <a:ln/>
        </p:spPr>
      </p:sp>
      <p:sp>
        <p:nvSpPr>
          <p:cNvPr id="109" name="Text 107"/>
          <p:cNvSpPr/>
          <p:nvPr/>
        </p:nvSpPr>
        <p:spPr>
          <a:xfrm>
            <a:off x="7909560"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9</a:t>
            </a:r>
            <a:endParaRPr lang="en-US" sz="800" dirty="0"/>
          </a:p>
        </p:txBody>
      </p:sp>
      <p:sp>
        <p:nvSpPr>
          <p:cNvPr id="110" name="Text 108"/>
          <p:cNvSpPr/>
          <p:nvPr/>
        </p:nvSpPr>
        <p:spPr>
          <a:xfrm>
            <a:off x="7909560"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Wrk</a:t>
            </a:r>
            <a:endParaRPr lang="en-US" sz="700" dirty="0"/>
          </a:p>
        </p:txBody>
      </p:sp>
      <p:sp>
        <p:nvSpPr>
          <p:cNvPr id="111" name="Shape 109"/>
          <p:cNvSpPr/>
          <p:nvPr/>
        </p:nvSpPr>
        <p:spPr>
          <a:xfrm>
            <a:off x="8558784" y="5608222"/>
            <a:ext cx="384048" cy="88490"/>
          </a:xfrm>
          <a:prstGeom prst="rect">
            <a:avLst/>
          </a:prstGeom>
          <a:solidFill>
            <a:srgbClr val="1B2D8A"/>
          </a:solidFill>
          <a:ln/>
        </p:spPr>
      </p:sp>
      <p:sp>
        <p:nvSpPr>
          <p:cNvPr id="112" name="Text 110"/>
          <p:cNvSpPr/>
          <p:nvPr/>
        </p:nvSpPr>
        <p:spPr>
          <a:xfrm>
            <a:off x="8476488"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15</a:t>
            </a:r>
            <a:endParaRPr lang="en-US" sz="800" dirty="0"/>
          </a:p>
        </p:txBody>
      </p:sp>
      <p:sp>
        <p:nvSpPr>
          <p:cNvPr id="113" name="Text 111"/>
          <p:cNvSpPr/>
          <p:nvPr/>
        </p:nvSpPr>
        <p:spPr>
          <a:xfrm>
            <a:off x="8476488"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Yth</a:t>
            </a:r>
            <a:endParaRPr lang="en-US" sz="700" dirty="0"/>
          </a:p>
        </p:txBody>
      </p:sp>
      <p:sp>
        <p:nvSpPr>
          <p:cNvPr id="114" name="Shape 112"/>
          <p:cNvSpPr/>
          <p:nvPr/>
        </p:nvSpPr>
        <p:spPr>
          <a:xfrm>
            <a:off x="9125712" y="5531530"/>
            <a:ext cx="384048" cy="165182"/>
          </a:xfrm>
          <a:prstGeom prst="rect">
            <a:avLst/>
          </a:prstGeom>
          <a:solidFill>
            <a:srgbClr val="1B2D8A"/>
          </a:solidFill>
          <a:ln/>
        </p:spPr>
      </p:sp>
      <p:sp>
        <p:nvSpPr>
          <p:cNvPr id="115" name="Text 113"/>
          <p:cNvSpPr/>
          <p:nvPr/>
        </p:nvSpPr>
        <p:spPr>
          <a:xfrm>
            <a:off x="9043416" y="5705856"/>
            <a:ext cx="548640" cy="182880"/>
          </a:xfrm>
          <a:prstGeom prst="rect">
            <a:avLst/>
          </a:prstGeom>
          <a:noFill/>
          <a:ln/>
        </p:spPr>
        <p:txBody>
          <a:bodyPr wrap="square" lIns="0" tIns="0" rIns="0" bIns="0" rtlCol="0" anchor="ctr"/>
          <a:lstStyle/>
          <a:p>
            <a:pPr algn="ctr" indent="0" marL="0">
              <a:buNone/>
            </a:pPr>
            <a:r>
              <a:rPr lang="en-US" sz="800" dirty="0">
                <a:solidFill>
                  <a:srgbClr val="5A6484"/>
                </a:solidFill>
                <a:latin typeface="Arial" pitchFamily="34" charset="0"/>
                <a:ea typeface="Arial" pitchFamily="34" charset="-122"/>
                <a:cs typeface="Arial" pitchFamily="34" charset="-120"/>
              </a:rPr>
              <a:t>28</a:t>
            </a:r>
            <a:endParaRPr lang="en-US" sz="800" dirty="0"/>
          </a:p>
        </p:txBody>
      </p:sp>
      <p:sp>
        <p:nvSpPr>
          <p:cNvPr id="116" name="Text 114"/>
          <p:cNvSpPr/>
          <p:nvPr/>
        </p:nvSpPr>
        <p:spPr>
          <a:xfrm>
            <a:off x="9043416" y="5193792"/>
            <a:ext cx="548640" cy="146304"/>
          </a:xfrm>
          <a:prstGeom prst="rect">
            <a:avLst/>
          </a:prstGeom>
          <a:noFill/>
          <a:ln/>
        </p:spPr>
        <p:txBody>
          <a:bodyPr wrap="square" lIns="0" tIns="0" rIns="0" bIns="0" rtlCol="0" anchor="ctr"/>
          <a:lstStyle/>
          <a:p>
            <a:pPr algn="ctr" indent="0" marL="0">
              <a:buNone/>
            </a:pPr>
            <a:r>
              <a:rPr lang="en-US" sz="700" dirty="0">
                <a:solidFill>
                  <a:srgbClr val="5A6484"/>
                </a:solidFill>
                <a:latin typeface="Arial" pitchFamily="34" charset="0"/>
                <a:ea typeface="Arial" pitchFamily="34" charset="-122"/>
                <a:cs typeface="Arial" pitchFamily="34" charset="-120"/>
              </a:rPr>
              <a:t>Sand</a:t>
            </a:r>
            <a:endParaRPr lang="en-US" sz="700" dirty="0"/>
          </a:p>
        </p:txBody>
      </p:sp>
      <p:sp>
        <p:nvSpPr>
          <p:cNvPr id="117" name="Text 115"/>
          <p:cNvSpPr/>
          <p:nvPr/>
        </p:nvSpPr>
        <p:spPr>
          <a:xfrm>
            <a:off x="10378440" y="5394960"/>
            <a:ext cx="1234440" cy="310896"/>
          </a:xfrm>
          <a:prstGeom prst="rect">
            <a:avLst/>
          </a:prstGeom>
          <a:noFill/>
          <a:ln/>
        </p:spPr>
        <p:txBody>
          <a:bodyPr wrap="square" lIns="0" tIns="0" rIns="0" bIns="0" rtlCol="0" anchor="ctr"/>
          <a:lstStyle/>
          <a:p>
            <a:pPr algn="r" indent="0" marL="0">
              <a:buNone/>
            </a:pPr>
            <a:r>
              <a:rPr lang="en-US" sz="1050" b="1" dirty="0">
                <a:solidFill>
                  <a:srgbClr val="14204A"/>
                </a:solidFill>
                <a:latin typeface="Arial" pitchFamily="34" charset="0"/>
                <a:ea typeface="Arial" pitchFamily="34" charset="-122"/>
                <a:cs typeface="Arial" pitchFamily="34" charset="-120"/>
              </a:rPr>
              <a:t>58 stops</a:t>
            </a:r>
            <a:endParaRPr lang="en-US" sz="1050" dirty="0"/>
          </a:p>
        </p:txBody>
      </p:sp>
      <p:sp>
        <p:nvSpPr>
          <p:cNvPr id="118" name="Text 116"/>
          <p:cNvSpPr/>
          <p:nvPr/>
        </p:nvSpPr>
        <p:spPr>
          <a:xfrm>
            <a:off x="502920" y="6035040"/>
            <a:ext cx="9052560" cy="310896"/>
          </a:xfrm>
          <a:prstGeom prst="rect">
            <a:avLst/>
          </a:prstGeom>
          <a:noFill/>
          <a:ln/>
        </p:spPr>
        <p:txBody>
          <a:bodyPr wrap="square" lIns="0" tIns="0" rIns="0" bIns="0" rtlCol="0" anchor="ctr"/>
          <a:lstStyle/>
          <a:p>
            <a:pPr indent="0" marL="0">
              <a:buNone/>
            </a:pPr>
            <a:r>
              <a:rPr lang="en-US" sz="950" i="1" dirty="0">
                <a:solidFill>
                  <a:srgbClr val="5A6484"/>
                </a:solidFill>
                <a:latin typeface="Arial" pitchFamily="34" charset="0"/>
                <a:ea typeface="Arial" pitchFamily="34" charset="-122"/>
                <a:cs typeface="Arial" pitchFamily="34" charset="-120"/>
              </a:rPr>
              <a:t>Bars are place counts within 400 m of that route’s stops, on one scale across all five. Pink marks the audience that bus is briefed for.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9184"/>
            <a:ext cx="1728216" cy="310896"/>
          </a:xfrm>
          <a:prstGeom prst="roundRect">
            <a:avLst>
              <a:gd name="adj" fmla="val 50000"/>
            </a:avLst>
          </a:prstGeom>
          <a:solidFill>
            <a:srgbClr val="F0245E"/>
          </a:solidFill>
          <a:ln/>
        </p:spPr>
      </p:sp>
      <p:sp>
        <p:nvSpPr>
          <p:cNvPr id="3" name="Text 1"/>
          <p:cNvSpPr/>
          <p:nvPr/>
        </p:nvSpPr>
        <p:spPr>
          <a:xfrm>
            <a:off x="502920" y="329184"/>
            <a:ext cx="1728216"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LIMITS</a:t>
            </a:r>
            <a:endParaRPr lang="en-US" sz="950" dirty="0"/>
          </a:p>
        </p:txBody>
      </p:sp>
      <p:sp>
        <p:nvSpPr>
          <p:cNvPr id="4" name="Text 2"/>
          <p:cNvSpPr/>
          <p:nvPr/>
        </p:nvSpPr>
        <p:spPr>
          <a:xfrm>
            <a:off x="484632" y="749808"/>
            <a:ext cx="10607040" cy="566928"/>
          </a:xfrm>
          <a:prstGeom prst="rect">
            <a:avLst/>
          </a:prstGeom>
          <a:noFill/>
          <a:ln/>
        </p:spPr>
        <p:txBody>
          <a:bodyPr wrap="square" lIns="0" tIns="0" rIns="0" bIns="0" rtlCol="0" anchor="ctr"/>
          <a:lstStyle/>
          <a:p>
            <a:pPr indent="0" marL="0">
              <a:buNone/>
            </a:pPr>
            <a:r>
              <a:rPr lang="en-US" sz="3000" b="1" dirty="0">
                <a:solidFill>
                  <a:srgbClr val="1B2D8A"/>
                </a:solidFill>
                <a:latin typeface="Arial" pitchFamily="34" charset="0"/>
                <a:ea typeface="Arial" pitchFamily="34" charset="-122"/>
                <a:cs typeface="Arial" pitchFamily="34" charset="-120"/>
              </a:rPr>
              <a:t>What we are not claiming</a:t>
            </a:r>
            <a:endParaRPr lang="en-US" sz="3000" dirty="0"/>
          </a:p>
        </p:txBody>
      </p:sp>
      <p:sp>
        <p:nvSpPr>
          <p:cNvPr id="5" name="Text 3"/>
          <p:cNvSpPr/>
          <p:nvPr/>
        </p:nvSpPr>
        <p:spPr>
          <a:xfrm>
            <a:off x="484632" y="1316736"/>
            <a:ext cx="10424160" cy="365760"/>
          </a:xfrm>
          <a:prstGeom prst="rect">
            <a:avLst/>
          </a:prstGeom>
          <a:noFill/>
          <a:ln/>
        </p:spPr>
        <p:txBody>
          <a:bodyPr wrap="square" lIns="0" tIns="0" rIns="0" bIns="0" rtlCol="0" anchor="t"/>
          <a:lstStyle/>
          <a:p>
            <a:pPr indent="0" marL="0">
              <a:buNone/>
            </a:pPr>
            <a:r>
              <a:rPr lang="en-US" sz="1250" dirty="0">
                <a:solidFill>
                  <a:srgbClr val="5A6484"/>
                </a:solidFill>
                <a:latin typeface="Arial" pitchFamily="34" charset="0"/>
                <a:ea typeface="Arial" pitchFamily="34" charset="-122"/>
                <a:cs typeface="Arial" pitchFamily="34" charset="-120"/>
              </a:rPr>
              <a:t>Where this plan is weak, on the same slide that says it is strong.</a:t>
            </a:r>
            <a:endParaRPr lang="en-US" sz="1250" dirty="0"/>
          </a:p>
        </p:txBody>
      </p:sp>
      <p:sp>
        <p:nvSpPr>
          <p:cNvPr id="6" name="Text 4"/>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1B2D8A"/>
                </a:solidFill>
                <a:latin typeface="Arial" pitchFamily="34" charset="0"/>
                <a:ea typeface="Arial" pitchFamily="34" charset="-122"/>
                <a:cs typeface="Arial" pitchFamily="34" charset="-120"/>
              </a:rPr>
              <a:t>MOOVE MEDIA</a:t>
            </a:r>
            <a:endParaRPr lang="en-US" sz="1150" dirty="0"/>
          </a:p>
        </p:txBody>
      </p:sp>
      <p:sp>
        <p:nvSpPr>
          <p:cNvPr id="7" name="Text 5"/>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5A6484"/>
                </a:solidFill>
                <a:latin typeface="Arial" pitchFamily="34" charset="0"/>
                <a:ea typeface="Arial" pitchFamily="34" charset="-122"/>
                <a:cs typeface="Arial" pitchFamily="34" charset="-120"/>
              </a:rPr>
              <a:t>13</a:t>
            </a:r>
            <a:endParaRPr lang="en-US" sz="1000" dirty="0"/>
          </a:p>
        </p:txBody>
      </p:sp>
      <p:sp>
        <p:nvSpPr>
          <p:cNvPr id="8" name="Shape 6"/>
          <p:cNvSpPr/>
          <p:nvPr/>
        </p:nvSpPr>
        <p:spPr>
          <a:xfrm>
            <a:off x="502920" y="1920240"/>
            <a:ext cx="11183112" cy="969264"/>
          </a:xfrm>
          <a:prstGeom prst="roundRect">
            <a:avLst>
              <a:gd name="adj" fmla="val 8491"/>
            </a:avLst>
          </a:prstGeom>
          <a:solidFill>
            <a:srgbClr val="FDF0F4"/>
          </a:solidFill>
          <a:ln w="12700">
            <a:solidFill>
              <a:srgbClr val="F0245E"/>
            </a:solidFill>
            <a:prstDash val="solid"/>
          </a:ln>
        </p:spPr>
      </p:sp>
      <p:sp>
        <p:nvSpPr>
          <p:cNvPr id="9" name="Text 7"/>
          <p:cNvSpPr/>
          <p:nvPr/>
        </p:nvSpPr>
        <p:spPr>
          <a:xfrm>
            <a:off x="795528" y="2011680"/>
            <a:ext cx="10515600" cy="292608"/>
          </a:xfrm>
          <a:prstGeom prst="rect">
            <a:avLst/>
          </a:prstGeom>
          <a:noFill/>
          <a:ln/>
        </p:spPr>
        <p:txBody>
          <a:bodyPr wrap="square" lIns="0" tIns="0" rIns="0" bIns="0" rtlCol="0" anchor="ctr"/>
          <a:lstStyle/>
          <a:p>
            <a:pPr indent="0" marL="0">
              <a:buNone/>
            </a:pPr>
            <a:r>
              <a:rPr lang="en-US" sz="1250" b="1" dirty="0">
                <a:solidFill>
                  <a:srgbClr val="F0245E"/>
                </a:solidFill>
                <a:latin typeface="Arial" pitchFamily="34" charset="0"/>
                <a:ea typeface="Arial" pitchFamily="34" charset="-122"/>
                <a:cs typeface="Arial" pitchFamily="34" charset="-120"/>
              </a:rPr>
              <a:t>DBP C1 has no East Region coverage</a:t>
            </a:r>
            <a:endParaRPr lang="en-US" sz="1250" dirty="0"/>
          </a:p>
        </p:txBody>
      </p:sp>
      <p:sp>
        <p:nvSpPr>
          <p:cNvPr id="10" name="Text 8"/>
          <p:cNvSpPr/>
          <p:nvPr/>
        </p:nvSpPr>
        <p:spPr>
          <a:xfrm>
            <a:off x="795528" y="2304288"/>
            <a:ext cx="10515600" cy="51206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No Bedok, Tampines or Pasir Ris. It is the mirror image of DBP L2’s northern gap. If the campaign runs two flights, DBP C1 then Set 1 covers the country far better than DBP C1 twice.</a:t>
            </a:r>
            <a:endParaRPr lang="en-US" sz="1050" dirty="0"/>
          </a:p>
        </p:txBody>
      </p:sp>
      <p:sp>
        <p:nvSpPr>
          <p:cNvPr id="11" name="Shape 9"/>
          <p:cNvSpPr/>
          <p:nvPr/>
        </p:nvSpPr>
        <p:spPr>
          <a:xfrm>
            <a:off x="502920" y="2980944"/>
            <a:ext cx="11183112" cy="969264"/>
          </a:xfrm>
          <a:prstGeom prst="roundRect">
            <a:avLst>
              <a:gd name="adj" fmla="val 8491"/>
            </a:avLst>
          </a:prstGeom>
          <a:solidFill>
            <a:srgbClr val="FFFFFF"/>
          </a:solidFill>
          <a:ln w="12700">
            <a:solidFill>
              <a:srgbClr val="D8DDE9"/>
            </a:solidFill>
            <a:prstDash val="solid"/>
          </a:ln>
        </p:spPr>
      </p:sp>
      <p:sp>
        <p:nvSpPr>
          <p:cNvPr id="12" name="Text 10"/>
          <p:cNvSpPr/>
          <p:nvPr/>
        </p:nvSpPr>
        <p:spPr>
          <a:xfrm>
            <a:off x="795528" y="3072384"/>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Boardings are not impressions</a:t>
            </a:r>
            <a:endParaRPr lang="en-US" sz="1250" dirty="0"/>
          </a:p>
        </p:txBody>
      </p:sp>
      <p:sp>
        <p:nvSpPr>
          <p:cNvPr id="13" name="Text 11"/>
          <p:cNvSpPr/>
          <p:nvPr/>
        </p:nvSpPr>
        <p:spPr>
          <a:xfrm>
            <a:off x="795528" y="3364992"/>
            <a:ext cx="10515600" cy="51206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The volume data counts people boarding at a stop. A bus ad is seen along the whole corridor by people who never board. It is a sound basis for comparing sets — it is not a reach guarantee, and we will not quote it as one.</a:t>
            </a:r>
            <a:endParaRPr lang="en-US" sz="1050" dirty="0"/>
          </a:p>
        </p:txBody>
      </p:sp>
      <p:sp>
        <p:nvSpPr>
          <p:cNvPr id="14" name="Shape 12"/>
          <p:cNvSpPr/>
          <p:nvPr/>
        </p:nvSpPr>
        <p:spPr>
          <a:xfrm>
            <a:off x="502920" y="4041648"/>
            <a:ext cx="11183112" cy="969264"/>
          </a:xfrm>
          <a:prstGeom prst="roundRect">
            <a:avLst>
              <a:gd name="adj" fmla="val 8491"/>
            </a:avLst>
          </a:prstGeom>
          <a:solidFill>
            <a:srgbClr val="FFFFFF"/>
          </a:solidFill>
          <a:ln w="12700">
            <a:solidFill>
              <a:srgbClr val="D8DDE9"/>
            </a:solidFill>
            <a:prstDash val="solid"/>
          </a:ln>
        </p:spPr>
      </p:sp>
      <p:sp>
        <p:nvSpPr>
          <p:cNvPr id="15" name="Text 13"/>
          <p:cNvSpPr/>
          <p:nvPr/>
        </p:nvSpPr>
        <p:spPr>
          <a:xfrm>
            <a:off x="795528" y="4133088"/>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Cohort shares are area averages</a:t>
            </a:r>
            <a:endParaRPr lang="en-US" sz="1250" dirty="0"/>
          </a:p>
        </p:txBody>
      </p:sp>
      <p:sp>
        <p:nvSpPr>
          <p:cNvPr id="16" name="Text 14"/>
          <p:cNvSpPr/>
          <p:nvPr/>
        </p:nvSpPr>
        <p:spPr>
          <a:xfrm>
            <a:off x="795528" y="4425696"/>
            <a:ext cx="10515600" cy="51206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They say a stop sits in a senior-dense town, not that the queue at that stop is old.</a:t>
            </a:r>
            <a:endParaRPr lang="en-US" sz="1050" dirty="0"/>
          </a:p>
        </p:txBody>
      </p:sp>
      <p:sp>
        <p:nvSpPr>
          <p:cNvPr id="17" name="Shape 15"/>
          <p:cNvSpPr/>
          <p:nvPr/>
        </p:nvSpPr>
        <p:spPr>
          <a:xfrm>
            <a:off x="502920" y="5102352"/>
            <a:ext cx="11183112" cy="969264"/>
          </a:xfrm>
          <a:prstGeom prst="roundRect">
            <a:avLst>
              <a:gd name="adj" fmla="val 8491"/>
            </a:avLst>
          </a:prstGeom>
          <a:solidFill>
            <a:srgbClr val="FFFFFF"/>
          </a:solidFill>
          <a:ln w="12700">
            <a:solidFill>
              <a:srgbClr val="D8DDE9"/>
            </a:solidFill>
            <a:prstDash val="solid"/>
          </a:ln>
        </p:spPr>
      </p:sp>
      <p:sp>
        <p:nvSpPr>
          <p:cNvPr id="18" name="Text 16"/>
          <p:cNvSpPr/>
          <p:nvPr/>
        </p:nvSpPr>
        <p:spPr>
          <a:xfrm>
            <a:off x="795528" y="5193792"/>
            <a:ext cx="10515600" cy="292608"/>
          </a:xfrm>
          <a:prstGeom prst="rect">
            <a:avLst/>
          </a:prstGeom>
          <a:noFill/>
          <a:ln/>
        </p:spPr>
        <p:txBody>
          <a:bodyPr wrap="square" lIns="0" tIns="0" rIns="0" bIns="0" rtlCol="0" anchor="ctr"/>
          <a:lstStyle/>
          <a:p>
            <a:pPr indent="0" marL="0">
              <a:buNone/>
            </a:pPr>
            <a:r>
              <a:rPr lang="en-US" sz="1250" b="1" dirty="0">
                <a:solidFill>
                  <a:srgbClr val="1B2D8A"/>
                </a:solidFill>
                <a:latin typeface="Arial" pitchFamily="34" charset="0"/>
                <a:ea typeface="Arial" pitchFamily="34" charset="-122"/>
                <a:cs typeface="Arial" pitchFamily="34" charset="-120"/>
              </a:rPr>
              <a:t>Dayparts are assumptions, not measurements</a:t>
            </a:r>
            <a:endParaRPr lang="en-US" sz="1250" dirty="0"/>
          </a:p>
        </p:txBody>
      </p:sp>
      <p:sp>
        <p:nvSpPr>
          <p:cNvPr id="19" name="Text 17"/>
          <p:cNvSpPr/>
          <p:nvPr/>
        </p:nvSpPr>
        <p:spPr>
          <a:xfrm>
            <a:off x="795528" y="5486400"/>
            <a:ext cx="10515600" cy="512064"/>
          </a:xfrm>
          <a:prstGeom prst="rect">
            <a:avLst/>
          </a:prstGeom>
          <a:noFill/>
          <a:ln/>
        </p:spPr>
        <p:txBody>
          <a:bodyPr wrap="square" lIns="0" tIns="0" rIns="0" bIns="0" rtlCol="0" anchor="t"/>
          <a:lstStyle/>
          <a:p>
            <a:pPr indent="0" marL="0">
              <a:buNone/>
            </a:pPr>
            <a:r>
              <a:rPr lang="en-US" sz="1050" dirty="0">
                <a:solidFill>
                  <a:srgbClr val="5A6484"/>
                </a:solidFill>
                <a:latin typeface="Arial" pitchFamily="34" charset="0"/>
                <a:ea typeface="Arial" pitchFamily="34" charset="-122"/>
                <a:cs typeface="Arial" pitchFamily="34" charset="-120"/>
              </a:rPr>
              <a:t>Set from institution operating hours. If hourly boarding data can be licensed from LTA, these windows should be re-derived from it before the second flight.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D8A"/>
        </a:solidFill>
      </p:bgPr>
    </p:bg>
    <p:spTree>
      <p:nvGrpSpPr>
        <p:cNvPr id="1" name=""/>
        <p:cNvGrpSpPr/>
        <p:nvPr/>
      </p:nvGrpSpPr>
      <p:grpSpPr>
        <a:xfrm>
          <a:off x="0" y="0"/>
          <a:ext cx="0" cy="0"/>
          <a:chOff x="0" y="0"/>
          <a:chExt cx="0" cy="0"/>
        </a:xfrm>
      </p:grpSpPr>
      <p:sp>
        <p:nvSpPr>
          <p:cNvPr id="2" name="Shape 0"/>
          <p:cNvSpPr/>
          <p:nvPr/>
        </p:nvSpPr>
        <p:spPr>
          <a:xfrm>
            <a:off x="8321040" y="2103120"/>
            <a:ext cx="6035040" cy="6035040"/>
          </a:xfrm>
          <a:prstGeom prst="roundRect">
            <a:avLst>
              <a:gd name="adj" fmla="val 50000"/>
            </a:avLst>
          </a:prstGeom>
          <a:solidFill>
            <a:srgbClr val="111A3E"/>
          </a:solidFill>
          <a:ln/>
        </p:spPr>
      </p:sp>
      <p:sp>
        <p:nvSpPr>
          <p:cNvPr id="3" name="Shape 1"/>
          <p:cNvSpPr/>
          <p:nvPr/>
        </p:nvSpPr>
        <p:spPr>
          <a:xfrm>
            <a:off x="502920" y="502920"/>
            <a:ext cx="1541678" cy="310896"/>
          </a:xfrm>
          <a:prstGeom prst="roundRect">
            <a:avLst>
              <a:gd name="adj" fmla="val 50000"/>
            </a:avLst>
          </a:prstGeom>
          <a:solidFill>
            <a:srgbClr val="F0245E"/>
          </a:solidFill>
          <a:ln/>
        </p:spPr>
      </p:sp>
      <p:sp>
        <p:nvSpPr>
          <p:cNvPr id="4" name="Text 2"/>
          <p:cNvSpPr/>
          <p:nvPr/>
        </p:nvSpPr>
        <p:spPr>
          <a:xfrm>
            <a:off x="502920" y="502920"/>
            <a:ext cx="1541678" cy="310896"/>
          </a:xfrm>
          <a:prstGeom prst="rect">
            <a:avLst/>
          </a:prstGeom>
          <a:noFill/>
          <a:ln/>
        </p:spPr>
        <p:txBody>
          <a:bodyPr wrap="square" lIns="0" tIns="0" rIns="0" bIns="0" rtlCol="0" anchor="ctr"/>
          <a:lstStyle/>
          <a:p>
            <a:pPr algn="ctr" indent="0" marL="0">
              <a:buNone/>
            </a:pPr>
            <a:r>
              <a:rPr lang="en-US" sz="950" b="1" spc="130" kern="0" dirty="0">
                <a:solidFill>
                  <a:srgbClr val="FFFFFF"/>
                </a:solidFill>
                <a:latin typeface="Arial" pitchFamily="34" charset="0"/>
                <a:ea typeface="Arial" pitchFamily="34" charset="-122"/>
                <a:cs typeface="Arial" pitchFamily="34" charset="-120"/>
              </a:rPr>
              <a:t>DBP C1 · NEXT</a:t>
            </a:r>
            <a:endParaRPr lang="en-US" sz="950" dirty="0"/>
          </a:p>
        </p:txBody>
      </p:sp>
      <p:sp>
        <p:nvSpPr>
          <p:cNvPr id="5" name="Text 3"/>
          <p:cNvSpPr/>
          <p:nvPr/>
        </p:nvSpPr>
        <p:spPr>
          <a:xfrm>
            <a:off x="484632" y="1005840"/>
            <a:ext cx="868680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Recommended: DBP C1</a:t>
            </a:r>
            <a:endParaRPr lang="en-US" sz="4000" dirty="0"/>
          </a:p>
        </p:txBody>
      </p:sp>
      <p:sp>
        <p:nvSpPr>
          <p:cNvPr id="6" name="Shape 4"/>
          <p:cNvSpPr/>
          <p:nvPr/>
        </p:nvSpPr>
        <p:spPr>
          <a:xfrm>
            <a:off x="502920" y="1965960"/>
            <a:ext cx="841248" cy="502920"/>
          </a:xfrm>
          <a:prstGeom prst="roundRect">
            <a:avLst>
              <a:gd name="adj" fmla="val 12727"/>
            </a:avLst>
          </a:prstGeom>
          <a:solidFill>
            <a:srgbClr val="FFFFFF"/>
          </a:solidFill>
          <a:ln w="15875">
            <a:solidFill>
              <a:srgbClr val="FFFFFF"/>
            </a:solidFill>
            <a:prstDash val="solid"/>
          </a:ln>
        </p:spPr>
      </p:sp>
      <p:sp>
        <p:nvSpPr>
          <p:cNvPr id="7" name="Text 5"/>
          <p:cNvSpPr/>
          <p:nvPr/>
        </p:nvSpPr>
        <p:spPr>
          <a:xfrm>
            <a:off x="502920"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190</a:t>
            </a:r>
            <a:endParaRPr lang="en-US" sz="1900" dirty="0"/>
          </a:p>
        </p:txBody>
      </p:sp>
      <p:sp>
        <p:nvSpPr>
          <p:cNvPr id="8" name="Shape 6"/>
          <p:cNvSpPr/>
          <p:nvPr/>
        </p:nvSpPr>
        <p:spPr>
          <a:xfrm>
            <a:off x="1472184" y="1965960"/>
            <a:ext cx="841248" cy="502920"/>
          </a:xfrm>
          <a:prstGeom prst="roundRect">
            <a:avLst>
              <a:gd name="adj" fmla="val 12727"/>
            </a:avLst>
          </a:prstGeom>
          <a:solidFill>
            <a:srgbClr val="FFFFFF"/>
          </a:solidFill>
          <a:ln w="15875">
            <a:solidFill>
              <a:srgbClr val="FFFFFF"/>
            </a:solidFill>
            <a:prstDash val="solid"/>
          </a:ln>
        </p:spPr>
      </p:sp>
      <p:sp>
        <p:nvSpPr>
          <p:cNvPr id="9" name="Text 7"/>
          <p:cNvSpPr/>
          <p:nvPr/>
        </p:nvSpPr>
        <p:spPr>
          <a:xfrm>
            <a:off x="1472184"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70</a:t>
            </a:r>
            <a:endParaRPr lang="en-US" sz="1900" dirty="0"/>
          </a:p>
        </p:txBody>
      </p:sp>
      <p:sp>
        <p:nvSpPr>
          <p:cNvPr id="10" name="Shape 8"/>
          <p:cNvSpPr/>
          <p:nvPr/>
        </p:nvSpPr>
        <p:spPr>
          <a:xfrm>
            <a:off x="2441448" y="1965960"/>
            <a:ext cx="841248" cy="502920"/>
          </a:xfrm>
          <a:prstGeom prst="roundRect">
            <a:avLst>
              <a:gd name="adj" fmla="val 12727"/>
            </a:avLst>
          </a:prstGeom>
          <a:solidFill>
            <a:srgbClr val="FFFFFF"/>
          </a:solidFill>
          <a:ln w="15875">
            <a:solidFill>
              <a:srgbClr val="FFFFFF"/>
            </a:solidFill>
            <a:prstDash val="solid"/>
          </a:ln>
        </p:spPr>
      </p:sp>
      <p:sp>
        <p:nvSpPr>
          <p:cNvPr id="11" name="Text 9"/>
          <p:cNvSpPr/>
          <p:nvPr/>
        </p:nvSpPr>
        <p:spPr>
          <a:xfrm>
            <a:off x="2441448"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133</a:t>
            </a:r>
            <a:endParaRPr lang="en-US" sz="1900" dirty="0"/>
          </a:p>
        </p:txBody>
      </p:sp>
      <p:sp>
        <p:nvSpPr>
          <p:cNvPr id="12" name="Shape 10"/>
          <p:cNvSpPr/>
          <p:nvPr/>
        </p:nvSpPr>
        <p:spPr>
          <a:xfrm>
            <a:off x="3410712" y="1965960"/>
            <a:ext cx="841248" cy="502920"/>
          </a:xfrm>
          <a:prstGeom prst="roundRect">
            <a:avLst>
              <a:gd name="adj" fmla="val 12727"/>
            </a:avLst>
          </a:prstGeom>
          <a:solidFill>
            <a:srgbClr val="FFFFFF"/>
          </a:solidFill>
          <a:ln w="15875">
            <a:solidFill>
              <a:srgbClr val="FFFFFF"/>
            </a:solidFill>
            <a:prstDash val="solid"/>
          </a:ln>
        </p:spPr>
      </p:sp>
      <p:sp>
        <p:nvSpPr>
          <p:cNvPr id="13" name="Text 11"/>
          <p:cNvSpPr/>
          <p:nvPr/>
        </p:nvSpPr>
        <p:spPr>
          <a:xfrm>
            <a:off x="3410712"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198</a:t>
            </a:r>
            <a:endParaRPr lang="en-US" sz="1900" dirty="0"/>
          </a:p>
        </p:txBody>
      </p:sp>
      <p:sp>
        <p:nvSpPr>
          <p:cNvPr id="14" name="Shape 12"/>
          <p:cNvSpPr/>
          <p:nvPr/>
        </p:nvSpPr>
        <p:spPr>
          <a:xfrm>
            <a:off x="4379976" y="1965960"/>
            <a:ext cx="841248" cy="502920"/>
          </a:xfrm>
          <a:prstGeom prst="roundRect">
            <a:avLst>
              <a:gd name="adj" fmla="val 12727"/>
            </a:avLst>
          </a:prstGeom>
          <a:solidFill>
            <a:srgbClr val="FFFFFF"/>
          </a:solidFill>
          <a:ln w="15875">
            <a:solidFill>
              <a:srgbClr val="FFFFFF"/>
            </a:solidFill>
            <a:prstDash val="solid"/>
          </a:ln>
        </p:spPr>
      </p:sp>
      <p:sp>
        <p:nvSpPr>
          <p:cNvPr id="15" name="Text 13"/>
          <p:cNvSpPr/>
          <p:nvPr/>
        </p:nvSpPr>
        <p:spPr>
          <a:xfrm>
            <a:off x="4379976" y="1965960"/>
            <a:ext cx="841248" cy="502920"/>
          </a:xfrm>
          <a:prstGeom prst="rect">
            <a:avLst/>
          </a:prstGeom>
          <a:noFill/>
          <a:ln/>
        </p:spPr>
        <p:txBody>
          <a:bodyPr wrap="square" lIns="0" tIns="0" rIns="0" bIns="0" rtlCol="0" anchor="ctr"/>
          <a:lstStyle/>
          <a:p>
            <a:pPr algn="ctr" indent="0" marL="0">
              <a:buNone/>
            </a:pPr>
            <a:r>
              <a:rPr lang="en-US" sz="1900" b="1" dirty="0">
                <a:solidFill>
                  <a:srgbClr val="1B2D8A"/>
                </a:solidFill>
                <a:latin typeface="Arial" pitchFamily="34" charset="0"/>
                <a:ea typeface="Arial" pitchFamily="34" charset="-122"/>
                <a:cs typeface="Arial" pitchFamily="34" charset="-120"/>
              </a:rPr>
              <a:t>85</a:t>
            </a:r>
            <a:endParaRPr lang="en-US" sz="1900" dirty="0"/>
          </a:p>
        </p:txBody>
      </p:sp>
      <p:sp>
        <p:nvSpPr>
          <p:cNvPr id="16" name="Shape 14"/>
          <p:cNvSpPr/>
          <p:nvPr/>
        </p:nvSpPr>
        <p:spPr>
          <a:xfrm>
            <a:off x="502920" y="2834640"/>
            <a:ext cx="402336" cy="402336"/>
          </a:xfrm>
          <a:prstGeom prst="roundRect">
            <a:avLst>
              <a:gd name="adj" fmla="val 50000"/>
            </a:avLst>
          </a:prstGeom>
          <a:solidFill>
            <a:srgbClr val="F0245E"/>
          </a:solidFill>
          <a:ln/>
        </p:spPr>
      </p:sp>
      <p:sp>
        <p:nvSpPr>
          <p:cNvPr id="17" name="Text 15"/>
          <p:cNvSpPr/>
          <p:nvPr/>
        </p:nvSpPr>
        <p:spPr>
          <a:xfrm>
            <a:off x="502920" y="283464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8" name="Text 16"/>
          <p:cNvSpPr/>
          <p:nvPr/>
        </p:nvSpPr>
        <p:spPr>
          <a:xfrm>
            <a:off x="1069848" y="2816352"/>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Confirm the flight</a:t>
            </a:r>
            <a:endParaRPr lang="en-US" sz="1400" dirty="0"/>
          </a:p>
        </p:txBody>
      </p:sp>
      <p:sp>
        <p:nvSpPr>
          <p:cNvPr id="19" name="Text 17"/>
          <p:cNvSpPr/>
          <p:nvPr/>
        </p:nvSpPr>
        <p:spPr>
          <a:xfrm>
            <a:off x="1069848" y="3108960"/>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Six-week minimum on all five routes; weekend weight held at parity with weekday.</a:t>
            </a:r>
            <a:endParaRPr lang="en-US" sz="1100" dirty="0"/>
          </a:p>
        </p:txBody>
      </p:sp>
      <p:sp>
        <p:nvSpPr>
          <p:cNvPr id="20" name="Shape 18"/>
          <p:cNvSpPr/>
          <p:nvPr/>
        </p:nvSpPr>
        <p:spPr>
          <a:xfrm>
            <a:off x="502920" y="3675888"/>
            <a:ext cx="402336" cy="402336"/>
          </a:xfrm>
          <a:prstGeom prst="roundRect">
            <a:avLst>
              <a:gd name="adj" fmla="val 50000"/>
            </a:avLst>
          </a:prstGeom>
          <a:solidFill>
            <a:srgbClr val="F0245E"/>
          </a:solidFill>
          <a:ln/>
        </p:spPr>
      </p:sp>
      <p:sp>
        <p:nvSpPr>
          <p:cNvPr id="21" name="Text 19"/>
          <p:cNvSpPr/>
          <p:nvPr/>
        </p:nvSpPr>
        <p:spPr>
          <a:xfrm>
            <a:off x="502920" y="36758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p:nvPr/>
        </p:nvSpPr>
        <p:spPr>
          <a:xfrm>
            <a:off x="1069848" y="3657600"/>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Brief five creative variants</a:t>
            </a:r>
            <a:endParaRPr lang="en-US" sz="1400" dirty="0"/>
          </a:p>
        </p:txBody>
      </p:sp>
      <p:sp>
        <p:nvSpPr>
          <p:cNvPr id="23" name="Text 21"/>
          <p:cNvSpPr/>
          <p:nvPr/>
        </p:nvSpPr>
        <p:spPr>
          <a:xfrm>
            <a:off x="1069848" y="3950208"/>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One per audience, per the dayparting on slide 11. Seniors and youth are the two that cannot share artwork.</a:t>
            </a:r>
            <a:endParaRPr lang="en-US" sz="1100" dirty="0"/>
          </a:p>
        </p:txBody>
      </p:sp>
      <p:sp>
        <p:nvSpPr>
          <p:cNvPr id="24" name="Shape 22"/>
          <p:cNvSpPr/>
          <p:nvPr/>
        </p:nvSpPr>
        <p:spPr>
          <a:xfrm>
            <a:off x="502920" y="4517136"/>
            <a:ext cx="402336" cy="402336"/>
          </a:xfrm>
          <a:prstGeom prst="roundRect">
            <a:avLst>
              <a:gd name="adj" fmla="val 50000"/>
            </a:avLst>
          </a:prstGeom>
          <a:solidFill>
            <a:srgbClr val="F0245E"/>
          </a:solidFill>
          <a:ln/>
        </p:spPr>
      </p:sp>
      <p:sp>
        <p:nvSpPr>
          <p:cNvPr id="25" name="Text 23"/>
          <p:cNvSpPr/>
          <p:nvPr/>
        </p:nvSpPr>
        <p:spPr>
          <a:xfrm>
            <a:off x="502920" y="451713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4"/>
          <p:cNvSpPr/>
          <p:nvPr/>
        </p:nvSpPr>
        <p:spPr>
          <a:xfrm>
            <a:off x="1069848" y="4498848"/>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Fill the East gap</a:t>
            </a:r>
            <a:endParaRPr lang="en-US" sz="1400" dirty="0"/>
          </a:p>
        </p:txBody>
      </p:sp>
      <p:sp>
        <p:nvSpPr>
          <p:cNvPr id="27" name="Text 25"/>
          <p:cNvSpPr/>
          <p:nvPr/>
        </p:nvSpPr>
        <p:spPr>
          <a:xfrm>
            <a:off x="1069848" y="4791456"/>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Either add Set 1 as a second flight, or swap one route to pick up Bedok and Tampines.</a:t>
            </a:r>
            <a:endParaRPr lang="en-US" sz="1100" dirty="0"/>
          </a:p>
        </p:txBody>
      </p:sp>
      <p:sp>
        <p:nvSpPr>
          <p:cNvPr id="28" name="Shape 26"/>
          <p:cNvSpPr/>
          <p:nvPr/>
        </p:nvSpPr>
        <p:spPr>
          <a:xfrm>
            <a:off x="502920" y="5358384"/>
            <a:ext cx="402336" cy="402336"/>
          </a:xfrm>
          <a:prstGeom prst="roundRect">
            <a:avLst>
              <a:gd name="adj" fmla="val 50000"/>
            </a:avLst>
          </a:prstGeom>
          <a:solidFill>
            <a:srgbClr val="F0245E"/>
          </a:solidFill>
          <a:ln/>
        </p:spPr>
      </p:sp>
      <p:sp>
        <p:nvSpPr>
          <p:cNvPr id="29" name="Text 27"/>
          <p:cNvSpPr/>
          <p:nvPr/>
        </p:nvSpPr>
        <p:spPr>
          <a:xfrm>
            <a:off x="502920" y="53583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0" name="Text 28"/>
          <p:cNvSpPr/>
          <p:nvPr/>
        </p:nvSpPr>
        <p:spPr>
          <a:xfrm>
            <a:off x="1069848" y="5340096"/>
            <a:ext cx="694944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Re-derive dayparts</a:t>
            </a:r>
            <a:endParaRPr lang="en-US" sz="1400" dirty="0"/>
          </a:p>
        </p:txBody>
      </p:sp>
      <p:sp>
        <p:nvSpPr>
          <p:cNvPr id="31" name="Text 29"/>
          <p:cNvSpPr/>
          <p:nvPr/>
        </p:nvSpPr>
        <p:spPr>
          <a:xfrm>
            <a:off x="1069848" y="5632704"/>
            <a:ext cx="6949440" cy="457200"/>
          </a:xfrm>
          <a:prstGeom prst="rect">
            <a:avLst/>
          </a:prstGeom>
          <a:noFill/>
          <a:ln/>
        </p:spPr>
        <p:txBody>
          <a:bodyPr wrap="square" lIns="0" tIns="0" rIns="0" bIns="0" rtlCol="0" anchor="t"/>
          <a:lstStyle/>
          <a:p>
            <a:pPr indent="0" marL="0">
              <a:buNone/>
            </a:pPr>
            <a:r>
              <a:rPr lang="en-US" sz="1100" dirty="0">
                <a:solidFill>
                  <a:srgbClr val="9BA7D8"/>
                </a:solidFill>
                <a:latin typeface="Arial" pitchFamily="34" charset="0"/>
                <a:ea typeface="Arial" pitchFamily="34" charset="-122"/>
                <a:cs typeface="Arial" pitchFamily="34" charset="-120"/>
              </a:rPr>
              <a:t>If hourly boarding data can be licensed, replace the assumed windows before flight two.</a:t>
            </a:r>
            <a:endParaRPr lang="en-US" sz="1100" dirty="0"/>
          </a:p>
        </p:txBody>
      </p:sp>
      <p:sp>
        <p:nvSpPr>
          <p:cNvPr id="32" name="Text 30"/>
          <p:cNvSpPr/>
          <p:nvPr/>
        </p:nvSpPr>
        <p:spPr>
          <a:xfrm>
            <a:off x="502920" y="6016752"/>
            <a:ext cx="8046720" cy="310896"/>
          </a:xfrm>
          <a:prstGeom prst="rect">
            <a:avLst/>
          </a:prstGeom>
          <a:noFill/>
          <a:ln/>
        </p:spPr>
        <p:txBody>
          <a:bodyPr wrap="square" lIns="0" tIns="0" rIns="0" bIns="0" rtlCol="0" anchor="ctr"/>
          <a:lstStyle/>
          <a:p>
            <a:pPr indent="0" marL="0">
              <a:buNone/>
            </a:pPr>
            <a:r>
              <a:rPr lang="en-US" sz="950" i="1" dirty="0">
                <a:solidFill>
                  <a:srgbClr val="7C87BC"/>
                </a:solidFill>
                <a:latin typeface="Arial" pitchFamily="34" charset="0"/>
                <a:ea typeface="Arial" pitchFamily="34" charset="-122"/>
                <a:cs typeface="Arial" pitchFamily="34" charset="-120"/>
              </a:rPr>
              <a:t>Reproduce every figure in this deck — python3 tools/mindline_eval.py · tools/package_dco.py "DBP C1"</a:t>
            </a:r>
            <a:endParaRPr lang="en-US" sz="950" dirty="0"/>
          </a:p>
        </p:txBody>
      </p:sp>
      <p:sp>
        <p:nvSpPr>
          <p:cNvPr id="33" name="Text 31"/>
          <p:cNvSpPr/>
          <p:nvPr/>
        </p:nvSpPr>
        <p:spPr>
          <a:xfrm>
            <a:off x="9464040" y="6428232"/>
            <a:ext cx="2221992" cy="310896"/>
          </a:xfrm>
          <a:prstGeom prst="rect">
            <a:avLst/>
          </a:prstGeom>
          <a:noFill/>
          <a:ln/>
        </p:spPr>
        <p:txBody>
          <a:bodyPr wrap="square" lIns="0" tIns="0" rIns="0" bIns="0" rtlCol="0" anchor="ctr"/>
          <a:lstStyle/>
          <a:p>
            <a:pPr algn="r" indent="0" marL="0">
              <a:buNone/>
            </a:pPr>
            <a:r>
              <a:rPr lang="en-US" sz="1150" b="1" i="1" spc="100" kern="0" dirty="0">
                <a:solidFill>
                  <a:srgbClr val="FFFFFF"/>
                </a:solidFill>
                <a:latin typeface="Arial" pitchFamily="34" charset="0"/>
                <a:ea typeface="Arial" pitchFamily="34" charset="-122"/>
                <a:cs typeface="Arial" pitchFamily="34" charset="-120"/>
              </a:rPr>
              <a:t>MOOVE MEDIA</a:t>
            </a:r>
            <a:endParaRPr lang="en-US" sz="1150" dirty="0"/>
          </a:p>
        </p:txBody>
      </p:sp>
      <p:sp>
        <p:nvSpPr>
          <p:cNvPr id="34" name="Text 32"/>
          <p:cNvSpPr/>
          <p:nvPr/>
        </p:nvSpPr>
        <p:spPr>
          <a:xfrm>
            <a:off x="484632" y="6428232"/>
            <a:ext cx="548640" cy="310896"/>
          </a:xfrm>
          <a:prstGeom prst="rect">
            <a:avLst/>
          </a:prstGeom>
          <a:noFill/>
          <a:ln/>
        </p:spPr>
        <p:txBody>
          <a:bodyPr wrap="square" lIns="0" tIns="0" rIns="0" bIns="0" rtlCol="0" anchor="ctr"/>
          <a:lstStyle/>
          <a:p>
            <a:pPr indent="0" marL="0">
              <a:buNone/>
            </a:pPr>
            <a:r>
              <a:rPr lang="en-US" sz="1000" dirty="0">
                <a:solidFill>
                  <a:srgbClr val="7C87BC"/>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Moove 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DBP C1 — mindline.sg hotline</dc:title>
  <dc:subject>PptxGenJS Presentation</dc:subject>
  <dc:creator>Moove Media</dc:creator>
  <cp:lastModifiedBy>Moove Media</cp:lastModifiedBy>
  <cp:revision>1</cp:revision>
  <dcterms:created xsi:type="dcterms:W3CDTF">2026-08-17T07:25:29Z</dcterms:created>
  <dcterms:modified xsi:type="dcterms:W3CDTF">2026-08-17T07:25:29Z</dcterms:modified>
</cp:coreProperties>
</file>
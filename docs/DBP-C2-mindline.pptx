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Overall index</c:v>
                </c:pt>
              </c:strCache>
            </c:strRef>
          </c:tx>
          <c:spPr>
            <a:solidFill>
              <a:srgbClr val="F0245E"/>
            </a:solidFill>
            <a:effectLst/>
          </c:spPr>
          <c:invertIfNegative val="0"/>
          <c:dLbls>
            <c:numFmt formatCode="0.0" sourceLinked="0"/>
            <c:txPr>
              <a:bodyPr/>
              <a:lstStyle/>
              <a:p>
                <a:pPr>
                  <a:defRPr b="1" i="0" strike="noStrike" sz="1100" u="none">
                    <a:solidFill>
                      <a:srgbClr val="14204A"/>
                    </a:solidFill>
                    <a:latin typeface="Arial"/>
                  </a:defRPr>
                </a:pPr>
              </a:p>
            </c:txPr>
            <c:showLegendKey val="0"/>
            <c:showVal val="1"/>
            <c:showCatName val="0"/>
            <c:showSerName val="0"/>
            <c:showPercent val="0"/>
            <c:showBubbleSize val="0"/>
            <c:showLeaderLines val="0"/>
          </c:dLbls>
          <c:dPt>
            <c:idx val="0"/>
            <c:invertIfNegative val="0"/>
            <c:bubble3D val="0"/>
            <c:spPr>
              <a:solidFill>
                <a:srgbClr val="F0245E"/>
              </a:solidFill>
              <a:effectLst/>
            </c:spPr>
          </c:dPt>
          <c:dPt>
            <c:idx val="1"/>
            <c:invertIfNegative val="0"/>
            <c:bubble3D val="0"/>
            <c:spPr>
              <a:solidFill>
                <a:srgbClr val="1B2D8A"/>
              </a:solidFill>
              <a:effectLst/>
            </c:spPr>
          </c:dPt>
          <c:dPt>
            <c:idx val="2"/>
            <c:invertIfNegative val="0"/>
            <c:bubble3D val="0"/>
            <c:spPr>
              <a:solidFill>
                <a:srgbClr val="1B2D8A"/>
              </a:solidFill>
              <a:effectLst/>
            </c:spPr>
          </c:dPt>
          <c:dPt>
            <c:idx val="3"/>
            <c:invertIfNegative val="0"/>
            <c:bubble3D val="0"/>
            <c:spPr>
              <a:solidFill>
                <a:srgbClr val="1B2D8A"/>
              </a:solidFill>
              <a:effectLst/>
            </c:spPr>
          </c:dPt>
          <c:cat>
            <c:multiLvlStrRef>
              <c:f>Sheet1!$A$2:$A$5</c:f>
              <c:multiLvlStrCache>
                <c:ptCount val="4"/>
                <c:lvl>
                  <c:pt idx="0">
                    <c:v>DBP C2 (Set 4)</c:v>
                  </c:pt>
                  <c:pt idx="1">
                    <c:v>DBP L2</c:v>
                  </c:pt>
                  <c:pt idx="2">
                    <c:v>DBP C1</c:v>
                  </c:pt>
                  <c:pt idx="3">
                    <c:v>Set 1</c:v>
                  </c:pt>
                </c:lvl>
              </c:multiLvlStrCache>
            </c:multiLvlStrRef>
          </c:cat>
          <c:val>
            <c:numRef>
              <c:f>Sheet1!$B$2:$B$5</c:f>
              <c:numCache>
                <c:formatCode>General</c:formatCode>
                <c:ptCount val="4"/>
                <c:pt idx="0">
                  <c:v>82.9</c:v>
                </c:pt>
                <c:pt idx="1">
                  <c:v>93.3</c:v>
                </c:pt>
                <c:pt idx="2">
                  <c:v>93.8</c:v>
                </c:pt>
                <c:pt idx="3">
                  <c:v>80.9</c:v>
                </c:pt>
              </c:numCache>
            </c:numRef>
          </c:val>
        </c:ser>
        <c:dLbls>
          <c:numFmt formatCode="0.0" sourceLinked="0"/>
          <c:txPr>
            <a:bodyPr/>
            <a:lstStyle/>
            <a:p>
              <a:pPr>
                <a:defRPr b="1" i="0" strike="noStrike" sz="1100" u="none">
                  <a:solidFill>
                    <a:srgbClr val="14204A"/>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4204A"/>
                </a:solidFill>
                <a:latin typeface="Arial"/>
              </a:defRPr>
            </a:pPr>
            <a:endParaRPr lang="en-US"/>
          </a:p>
        </c:txPr>
        <c:crossAx val="2094734552"/>
        <c:crosses val="autoZero"/>
        <c:auto val="1"/>
        <c:lblAlgn val="ctr"/>
        <c:noMultiLvlLbl val="1"/>
      </c:catAx>
      <c:valAx>
        <c:axId val="2094734552"/>
        <c:scaling>
          <c:orientation val="minMax"/>
          <c:max val="105"/>
          <c:min val="0"/>
        </c:scaling>
        <c:delete val="0"/>
        <c:axPos val="b"/>
        <c:majorGridlines>
          <c:spPr>
            <a:ln w="12700" cap="flat">
              <a:solidFill>
                <a:srgbClr val="D8DDE9"/>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50" b="0" i="0" u="none" strike="noStrike">
                <a:solidFill>
                  <a:srgbClr val="5A6484"/>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DBP C2 is Set 4 of the Five-route sets product: 972, 97, 130, 89, 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D8A"/>
        </a:solidFill>
      </p:bgPr>
    </p:bg>
    <p:spTree>
      <p:nvGrpSpPr>
        <p:cNvPr id="1" name=""/>
        <p:cNvGrpSpPr/>
        <p:nvPr/>
      </p:nvGrpSpPr>
      <p:grpSpPr>
        <a:xfrm>
          <a:off x="0" y="0"/>
          <a:ext cx="0" cy="0"/>
          <a:chOff x="0" y="0"/>
          <a:chExt cx="0" cy="0"/>
        </a:xfrm>
      </p:grpSpPr>
      <p:sp>
        <p:nvSpPr>
          <p:cNvPr id="2" name="Shape 0"/>
          <p:cNvSpPr/>
          <p:nvPr/>
        </p:nvSpPr>
        <p:spPr>
          <a:xfrm>
            <a:off x="7818120" y="-1463040"/>
            <a:ext cx="6035040" cy="6035040"/>
          </a:xfrm>
          <a:prstGeom prst="roundRect">
            <a:avLst>
              <a:gd name="adj" fmla="val 50000"/>
            </a:avLst>
          </a:prstGeom>
          <a:solidFill>
            <a:srgbClr val="111A3E"/>
          </a:solidFill>
          <a:ln/>
        </p:spPr>
      </p:sp>
      <p:sp>
        <p:nvSpPr>
          <p:cNvPr id="3" name="Shape 1"/>
          <p:cNvSpPr/>
          <p:nvPr/>
        </p:nvSpPr>
        <p:spPr>
          <a:xfrm>
            <a:off x="502920" y="868680"/>
            <a:ext cx="1448410" cy="310896"/>
          </a:xfrm>
          <a:prstGeom prst="roundRect">
            <a:avLst>
              <a:gd name="adj" fmla="val 50000"/>
            </a:avLst>
          </a:prstGeom>
          <a:solidFill>
            <a:srgbClr val="F0245E"/>
          </a:solidFill>
          <a:ln/>
        </p:spPr>
      </p:sp>
      <p:sp>
        <p:nvSpPr>
          <p:cNvPr id="4" name="Text 2"/>
          <p:cNvSpPr/>
          <p:nvPr/>
        </p:nvSpPr>
        <p:spPr>
          <a:xfrm>
            <a:off x="502920" y="868680"/>
            <a:ext cx="1448410" cy="310896"/>
          </a:xfrm>
          <a:prstGeom prst="rect">
            <a:avLst/>
          </a:prstGeom>
          <a:noFill/>
          <a:ln/>
        </p:spPr>
        <p:txBody>
          <a:bodyPr wrap="square" lIns="0" tIns="0" rIns="0" bIns="0" rtlCol="0" anchor="ctr"/>
          <a:lstStyle/>
          <a:p>
            <a:pPr algn="ctr" indent="0" marL="0">
              <a:buNone/>
            </a:pPr>
            <a:r>
              <a:rPr lang="en-US" sz="950" b="1" spc="130" kern="0" dirty="0">
                <a:solidFill>
                  <a:srgbClr val="FFFFFF"/>
                </a:solidFill>
                <a:latin typeface="Arial" pitchFamily="34" charset="0"/>
                <a:ea typeface="Arial" pitchFamily="34" charset="-122"/>
                <a:cs typeface="Arial" pitchFamily="34" charset="-120"/>
              </a:rPr>
              <a:t>THIRD OPTION</a:t>
            </a:r>
            <a:endParaRPr lang="en-US" sz="950" dirty="0"/>
          </a:p>
        </p:txBody>
      </p:sp>
      <p:sp>
        <p:nvSpPr>
          <p:cNvPr id="5" name="Text 3"/>
          <p:cNvSpPr/>
          <p:nvPr/>
        </p:nvSpPr>
        <p:spPr>
          <a:xfrm>
            <a:off x="475488" y="1371600"/>
            <a:ext cx="7680960" cy="1371600"/>
          </a:xfrm>
          <a:prstGeom prst="rect">
            <a:avLst/>
          </a:prstGeom>
          <a:noFill/>
          <a:ln/>
        </p:spPr>
        <p:txBody>
          <a:bodyPr wrap="square" lIns="0" tIns="0" rIns="0" bIns="0" rtlCol="0" anchor="ctr"/>
          <a:lstStyle/>
          <a:p>
            <a:pPr indent="0" marL="0">
              <a:buNone/>
            </a:pPr>
            <a:r>
              <a:rPr lang="en-US" sz="7600" b="1" dirty="0">
                <a:solidFill>
                  <a:srgbClr val="FFFFFF"/>
                </a:solidFill>
                <a:latin typeface="Arial" pitchFamily="34" charset="0"/>
                <a:ea typeface="Arial" pitchFamily="34" charset="-122"/>
                <a:cs typeface="Arial" pitchFamily="34" charset="-120"/>
              </a:rPr>
              <a:t>DBP C2</a:t>
            </a:r>
            <a:endParaRPr lang="en-US" sz="7600" dirty="0"/>
          </a:p>
        </p:txBody>
      </p:sp>
      <p:sp>
        <p:nvSpPr>
          <p:cNvPr id="6" name="Text 4"/>
          <p:cNvSpPr/>
          <p:nvPr/>
        </p:nvSpPr>
        <p:spPr>
          <a:xfrm>
            <a:off x="484632" y="2743200"/>
            <a:ext cx="7315200" cy="457200"/>
          </a:xfrm>
          <a:prstGeom prst="rect">
            <a:avLst/>
          </a:prstGeom>
          <a:noFill/>
          <a:ln/>
        </p:spPr>
        <p:txBody>
          <a:bodyPr wrap="square" lIns="0" tIns="0" rIns="0" bIns="0" rtlCol="0" anchor="ctr"/>
          <a:lstStyle/>
          <a:p>
            <a:pPr indent="0" marL="0">
              <a:buNone/>
            </a:pPr>
            <a:r>
              <a:rPr lang="en-US" sz="1900" dirty="0">
                <a:solidFill>
                  <a:srgbClr val="CBD3F2"/>
                </a:solidFill>
                <a:latin typeface="Arial" pitchFamily="34" charset="0"/>
                <a:ea typeface="Arial" pitchFamily="34" charset="-122"/>
                <a:cs typeface="Arial" pitchFamily="34" charset="-120"/>
              </a:rPr>
              <a:t>The breadth five for the mindline.sg hotline</a:t>
            </a:r>
            <a:endParaRPr lang="en-US" sz="1900" dirty="0"/>
          </a:p>
        </p:txBody>
      </p:sp>
      <p:sp>
        <p:nvSpPr>
          <p:cNvPr id="7" name="Shape 5"/>
          <p:cNvSpPr/>
          <p:nvPr/>
        </p:nvSpPr>
        <p:spPr>
          <a:xfrm>
            <a:off x="502920" y="3401568"/>
            <a:ext cx="932688" cy="566928"/>
          </a:xfrm>
          <a:prstGeom prst="roundRect">
            <a:avLst>
              <a:gd name="adj" fmla="val 11290"/>
            </a:avLst>
          </a:prstGeom>
          <a:solidFill>
            <a:srgbClr val="FFFFFF"/>
          </a:solidFill>
          <a:ln w="15875">
            <a:solidFill>
              <a:srgbClr val="FFFFFF"/>
            </a:solidFill>
            <a:prstDash val="solid"/>
          </a:ln>
        </p:spPr>
      </p:sp>
      <p:sp>
        <p:nvSpPr>
          <p:cNvPr id="8" name="Text 6"/>
          <p:cNvSpPr/>
          <p:nvPr/>
        </p:nvSpPr>
        <p:spPr>
          <a:xfrm>
            <a:off x="502920" y="3401568"/>
            <a:ext cx="932688" cy="566928"/>
          </a:xfrm>
          <a:prstGeom prst="rect">
            <a:avLst/>
          </a:prstGeom>
          <a:noFill/>
          <a:ln/>
        </p:spPr>
        <p:txBody>
          <a:bodyPr wrap="square" lIns="0" tIns="0" rIns="0" bIns="0" rtlCol="0" anchor="ctr"/>
          <a:lstStyle/>
          <a:p>
            <a:pPr algn="ctr" indent="0" marL="0">
              <a:buNone/>
            </a:pPr>
            <a:r>
              <a:rPr lang="en-US" sz="2100" b="1" dirty="0">
                <a:solidFill>
                  <a:srgbClr val="1B2D8A"/>
                </a:solidFill>
                <a:latin typeface="Arial" pitchFamily="34" charset="0"/>
                <a:ea typeface="Arial" pitchFamily="34" charset="-122"/>
                <a:cs typeface="Arial" pitchFamily="34" charset="-120"/>
              </a:rPr>
              <a:t>972</a:t>
            </a:r>
            <a:endParaRPr lang="en-US" sz="2100" dirty="0"/>
          </a:p>
        </p:txBody>
      </p:sp>
      <p:sp>
        <p:nvSpPr>
          <p:cNvPr id="9" name="Shape 7"/>
          <p:cNvSpPr/>
          <p:nvPr/>
        </p:nvSpPr>
        <p:spPr>
          <a:xfrm>
            <a:off x="1581912" y="3401568"/>
            <a:ext cx="932688" cy="566928"/>
          </a:xfrm>
          <a:prstGeom prst="roundRect">
            <a:avLst>
              <a:gd name="adj" fmla="val 11290"/>
            </a:avLst>
          </a:prstGeom>
          <a:solidFill>
            <a:srgbClr val="FFFFFF"/>
          </a:solidFill>
          <a:ln w="15875">
            <a:solidFill>
              <a:srgbClr val="FFFFFF"/>
            </a:solidFill>
            <a:prstDash val="solid"/>
          </a:ln>
        </p:spPr>
      </p:sp>
      <p:sp>
        <p:nvSpPr>
          <p:cNvPr id="10" name="Text 8"/>
          <p:cNvSpPr/>
          <p:nvPr/>
        </p:nvSpPr>
        <p:spPr>
          <a:xfrm>
            <a:off x="1581912" y="3401568"/>
            <a:ext cx="932688" cy="566928"/>
          </a:xfrm>
          <a:prstGeom prst="rect">
            <a:avLst/>
          </a:prstGeom>
          <a:noFill/>
          <a:ln/>
        </p:spPr>
        <p:txBody>
          <a:bodyPr wrap="square" lIns="0" tIns="0" rIns="0" bIns="0" rtlCol="0" anchor="ctr"/>
          <a:lstStyle/>
          <a:p>
            <a:pPr algn="ctr" indent="0" marL="0">
              <a:buNone/>
            </a:pPr>
            <a:r>
              <a:rPr lang="en-US" sz="2100" b="1" dirty="0">
                <a:solidFill>
                  <a:srgbClr val="1B2D8A"/>
                </a:solidFill>
                <a:latin typeface="Arial" pitchFamily="34" charset="0"/>
                <a:ea typeface="Arial" pitchFamily="34" charset="-122"/>
                <a:cs typeface="Arial" pitchFamily="34" charset="-120"/>
              </a:rPr>
              <a:t>97</a:t>
            </a:r>
            <a:endParaRPr lang="en-US" sz="2100" dirty="0"/>
          </a:p>
        </p:txBody>
      </p:sp>
      <p:sp>
        <p:nvSpPr>
          <p:cNvPr id="11" name="Shape 9"/>
          <p:cNvSpPr/>
          <p:nvPr/>
        </p:nvSpPr>
        <p:spPr>
          <a:xfrm>
            <a:off x="2660904" y="3401568"/>
            <a:ext cx="932688" cy="566928"/>
          </a:xfrm>
          <a:prstGeom prst="roundRect">
            <a:avLst>
              <a:gd name="adj" fmla="val 11290"/>
            </a:avLst>
          </a:prstGeom>
          <a:solidFill>
            <a:srgbClr val="FFFFFF"/>
          </a:solidFill>
          <a:ln w="15875">
            <a:solidFill>
              <a:srgbClr val="FFFFFF"/>
            </a:solidFill>
            <a:prstDash val="solid"/>
          </a:ln>
        </p:spPr>
      </p:sp>
      <p:sp>
        <p:nvSpPr>
          <p:cNvPr id="12" name="Text 10"/>
          <p:cNvSpPr/>
          <p:nvPr/>
        </p:nvSpPr>
        <p:spPr>
          <a:xfrm>
            <a:off x="2660904" y="3401568"/>
            <a:ext cx="932688" cy="566928"/>
          </a:xfrm>
          <a:prstGeom prst="rect">
            <a:avLst/>
          </a:prstGeom>
          <a:noFill/>
          <a:ln/>
        </p:spPr>
        <p:txBody>
          <a:bodyPr wrap="square" lIns="0" tIns="0" rIns="0" bIns="0" rtlCol="0" anchor="ctr"/>
          <a:lstStyle/>
          <a:p>
            <a:pPr algn="ctr" indent="0" marL="0">
              <a:buNone/>
            </a:pPr>
            <a:r>
              <a:rPr lang="en-US" sz="2100" b="1" dirty="0">
                <a:solidFill>
                  <a:srgbClr val="1B2D8A"/>
                </a:solidFill>
                <a:latin typeface="Arial" pitchFamily="34" charset="0"/>
                <a:ea typeface="Arial" pitchFamily="34" charset="-122"/>
                <a:cs typeface="Arial" pitchFamily="34" charset="-120"/>
              </a:rPr>
              <a:t>130</a:t>
            </a:r>
            <a:endParaRPr lang="en-US" sz="2100" dirty="0"/>
          </a:p>
        </p:txBody>
      </p:sp>
      <p:sp>
        <p:nvSpPr>
          <p:cNvPr id="13" name="Shape 11"/>
          <p:cNvSpPr/>
          <p:nvPr/>
        </p:nvSpPr>
        <p:spPr>
          <a:xfrm>
            <a:off x="3739896" y="3401568"/>
            <a:ext cx="932688" cy="566928"/>
          </a:xfrm>
          <a:prstGeom prst="roundRect">
            <a:avLst>
              <a:gd name="adj" fmla="val 11290"/>
            </a:avLst>
          </a:prstGeom>
          <a:solidFill>
            <a:srgbClr val="FFFFFF"/>
          </a:solidFill>
          <a:ln w="15875">
            <a:solidFill>
              <a:srgbClr val="FFFFFF"/>
            </a:solidFill>
            <a:prstDash val="solid"/>
          </a:ln>
        </p:spPr>
      </p:sp>
      <p:sp>
        <p:nvSpPr>
          <p:cNvPr id="14" name="Text 12"/>
          <p:cNvSpPr/>
          <p:nvPr/>
        </p:nvSpPr>
        <p:spPr>
          <a:xfrm>
            <a:off x="3739896" y="3401568"/>
            <a:ext cx="932688" cy="566928"/>
          </a:xfrm>
          <a:prstGeom prst="rect">
            <a:avLst/>
          </a:prstGeom>
          <a:noFill/>
          <a:ln/>
        </p:spPr>
        <p:txBody>
          <a:bodyPr wrap="square" lIns="0" tIns="0" rIns="0" bIns="0" rtlCol="0" anchor="ctr"/>
          <a:lstStyle/>
          <a:p>
            <a:pPr algn="ctr" indent="0" marL="0">
              <a:buNone/>
            </a:pPr>
            <a:r>
              <a:rPr lang="en-US" sz="2100" b="1" dirty="0">
                <a:solidFill>
                  <a:srgbClr val="1B2D8A"/>
                </a:solidFill>
                <a:latin typeface="Arial" pitchFamily="34" charset="0"/>
                <a:ea typeface="Arial" pitchFamily="34" charset="-122"/>
                <a:cs typeface="Arial" pitchFamily="34" charset="-120"/>
              </a:rPr>
              <a:t>89</a:t>
            </a:r>
            <a:endParaRPr lang="en-US" sz="2100" dirty="0"/>
          </a:p>
        </p:txBody>
      </p:sp>
      <p:sp>
        <p:nvSpPr>
          <p:cNvPr id="15" name="Shape 13"/>
          <p:cNvSpPr/>
          <p:nvPr/>
        </p:nvSpPr>
        <p:spPr>
          <a:xfrm>
            <a:off x="4818888" y="3401568"/>
            <a:ext cx="932688" cy="566928"/>
          </a:xfrm>
          <a:prstGeom prst="roundRect">
            <a:avLst>
              <a:gd name="adj" fmla="val 11290"/>
            </a:avLst>
          </a:prstGeom>
          <a:solidFill>
            <a:srgbClr val="FFFFFF"/>
          </a:solidFill>
          <a:ln w="15875">
            <a:solidFill>
              <a:srgbClr val="FFFFFF"/>
            </a:solidFill>
            <a:prstDash val="solid"/>
          </a:ln>
        </p:spPr>
      </p:sp>
      <p:sp>
        <p:nvSpPr>
          <p:cNvPr id="16" name="Text 14"/>
          <p:cNvSpPr/>
          <p:nvPr/>
        </p:nvSpPr>
        <p:spPr>
          <a:xfrm>
            <a:off x="4818888" y="3401568"/>
            <a:ext cx="932688" cy="566928"/>
          </a:xfrm>
          <a:prstGeom prst="rect">
            <a:avLst/>
          </a:prstGeom>
          <a:noFill/>
          <a:ln/>
        </p:spPr>
        <p:txBody>
          <a:bodyPr wrap="square" lIns="0" tIns="0" rIns="0" bIns="0" rtlCol="0" anchor="ctr"/>
          <a:lstStyle/>
          <a:p>
            <a:pPr algn="ctr" indent="0" marL="0">
              <a:buNone/>
            </a:pPr>
            <a:r>
              <a:rPr lang="en-US" sz="2100" b="1" dirty="0">
                <a:solidFill>
                  <a:srgbClr val="1B2D8A"/>
                </a:solidFill>
                <a:latin typeface="Arial" pitchFamily="34" charset="0"/>
                <a:ea typeface="Arial" pitchFamily="34" charset="-122"/>
                <a:cs typeface="Arial" pitchFamily="34" charset="-120"/>
              </a:rPr>
              <a:t>43</a:t>
            </a:r>
            <a:endParaRPr lang="en-US" sz="2100" dirty="0"/>
          </a:p>
        </p:txBody>
      </p:sp>
      <p:sp>
        <p:nvSpPr>
          <p:cNvPr id="17" name="Text 15"/>
          <p:cNvSpPr/>
          <p:nvPr/>
        </p:nvSpPr>
        <p:spPr>
          <a:xfrm>
            <a:off x="484632" y="4261104"/>
            <a:ext cx="6949440" cy="548640"/>
          </a:xfrm>
          <a:prstGeom prst="rect">
            <a:avLst/>
          </a:prstGeom>
          <a:noFill/>
          <a:ln/>
        </p:spPr>
        <p:txBody>
          <a:bodyPr wrap="square" lIns="0" tIns="0" rIns="0" bIns="0" rtlCol="0" anchor="ctr"/>
          <a:lstStyle/>
          <a:p>
            <a:pPr indent="0" marL="0">
              <a:buNone/>
            </a:pPr>
            <a:r>
              <a:rPr lang="en-US" sz="1300" dirty="0">
                <a:solidFill>
                  <a:srgbClr val="9BA7D8"/>
                </a:solidFill>
                <a:latin typeface="Arial" pitchFamily="34" charset="0"/>
                <a:ea typeface="Arial" pitchFamily="34" charset="-122"/>
                <a:cs typeface="Arial" pitchFamily="34" charset="-120"/>
              </a:rPr>
              <a:t>Third of four on the index. Bought for schools and spread, not for seniors — the trade is on slide 5.</a:t>
            </a:r>
            <a:endParaRPr lang="en-US" sz="1300" dirty="0"/>
          </a:p>
        </p:txBody>
      </p:sp>
      <p:sp>
        <p:nvSpPr>
          <p:cNvPr id="18" name="Text 16"/>
          <p:cNvSpPr/>
          <p:nvPr/>
        </p:nvSpPr>
        <p:spPr>
          <a:xfrm>
            <a:off x="502920" y="4983480"/>
            <a:ext cx="1828800" cy="457200"/>
          </a:xfrm>
          <a:prstGeom prst="rect">
            <a:avLst/>
          </a:prstGeom>
          <a:noFill/>
          <a:ln/>
        </p:spPr>
        <p:txBody>
          <a:bodyPr wrap="square" lIns="0" tIns="0" rIns="0" bIns="0" rtlCol="0" anchor="ctr"/>
          <a:lstStyle/>
          <a:p>
            <a:pPr indent="0" marL="0">
              <a:buNone/>
            </a:pPr>
            <a:r>
              <a:rPr lang="en-US" sz="2500" b="1" dirty="0">
                <a:solidFill>
                  <a:srgbClr val="F0245E"/>
                </a:solidFill>
                <a:latin typeface="Arial" pitchFamily="34" charset="0"/>
                <a:ea typeface="Arial" pitchFamily="34" charset="-122"/>
                <a:cs typeface="Arial" pitchFamily="34" charset="-120"/>
              </a:rPr>
              <a:t>447</a:t>
            </a:r>
            <a:endParaRPr lang="en-US" sz="2500" dirty="0"/>
          </a:p>
        </p:txBody>
      </p:sp>
      <p:sp>
        <p:nvSpPr>
          <p:cNvPr id="19" name="Text 17"/>
          <p:cNvSpPr/>
          <p:nvPr/>
        </p:nvSpPr>
        <p:spPr>
          <a:xfrm>
            <a:off x="502920" y="5440680"/>
            <a:ext cx="1828800" cy="310896"/>
          </a:xfrm>
          <a:prstGeom prst="rect">
            <a:avLst/>
          </a:prstGeom>
          <a:noFill/>
          <a:ln/>
        </p:spPr>
        <p:txBody>
          <a:bodyPr wrap="square" lIns="0" tIns="0" rIns="0" bIns="0" rtlCol="0" anchor="ctr"/>
          <a:lstStyle/>
          <a:p>
            <a:pPr indent="0" marL="0">
              <a:buNone/>
            </a:pPr>
            <a:r>
              <a:rPr lang="en-US" sz="1000" dirty="0">
                <a:solidFill>
                  <a:srgbClr val="9BA7D8"/>
                </a:solidFill>
                <a:latin typeface="Arial" pitchFamily="34" charset="0"/>
                <a:ea typeface="Arial" pitchFamily="34" charset="-122"/>
                <a:cs typeface="Arial" pitchFamily="34" charset="-120"/>
              </a:rPr>
              <a:t>bus stops</a:t>
            </a:r>
            <a:endParaRPr lang="en-US" sz="1000" dirty="0"/>
          </a:p>
        </p:txBody>
      </p:sp>
      <p:sp>
        <p:nvSpPr>
          <p:cNvPr id="20" name="Text 18"/>
          <p:cNvSpPr/>
          <p:nvPr/>
        </p:nvSpPr>
        <p:spPr>
          <a:xfrm>
            <a:off x="2377440" y="4983480"/>
            <a:ext cx="1828800" cy="457200"/>
          </a:xfrm>
          <a:prstGeom prst="rect">
            <a:avLst/>
          </a:prstGeom>
          <a:noFill/>
          <a:ln/>
        </p:spPr>
        <p:txBody>
          <a:bodyPr wrap="square" lIns="0" tIns="0" rIns="0" bIns="0" rtlCol="0" anchor="ctr"/>
          <a:lstStyle/>
          <a:p>
            <a:pPr indent="0" marL="0">
              <a:buNone/>
            </a:pPr>
            <a:r>
              <a:rPr lang="en-US" sz="2500" b="1" dirty="0">
                <a:solidFill>
                  <a:srgbClr val="F0245E"/>
                </a:solidFill>
                <a:latin typeface="Arial" pitchFamily="34" charset="0"/>
                <a:ea typeface="Arial" pitchFamily="34" charset="-122"/>
                <a:cs typeface="Arial" pitchFamily="34" charset="-120"/>
              </a:rPr>
              <a:t>1.02M</a:t>
            </a:r>
            <a:endParaRPr lang="en-US" sz="2500" dirty="0"/>
          </a:p>
        </p:txBody>
      </p:sp>
      <p:sp>
        <p:nvSpPr>
          <p:cNvPr id="21" name="Text 19"/>
          <p:cNvSpPr/>
          <p:nvPr/>
        </p:nvSpPr>
        <p:spPr>
          <a:xfrm>
            <a:off x="2377440" y="5440680"/>
            <a:ext cx="1828800" cy="310896"/>
          </a:xfrm>
          <a:prstGeom prst="rect">
            <a:avLst/>
          </a:prstGeom>
          <a:noFill/>
          <a:ln/>
        </p:spPr>
        <p:txBody>
          <a:bodyPr wrap="square" lIns="0" tIns="0" rIns="0" bIns="0" rtlCol="0" anchor="ctr"/>
          <a:lstStyle/>
          <a:p>
            <a:pPr indent="0" marL="0">
              <a:buNone/>
            </a:pPr>
            <a:r>
              <a:rPr lang="en-US" sz="1000" dirty="0">
                <a:solidFill>
                  <a:srgbClr val="9BA7D8"/>
                </a:solidFill>
                <a:latin typeface="Arial" pitchFamily="34" charset="0"/>
                <a:ea typeface="Arial" pitchFamily="34" charset="-122"/>
                <a:cs typeface="Arial" pitchFamily="34" charset="-120"/>
              </a:rPr>
              <a:t>weekday boardings</a:t>
            </a:r>
            <a:endParaRPr lang="en-US" sz="1000" dirty="0"/>
          </a:p>
        </p:txBody>
      </p:sp>
      <p:sp>
        <p:nvSpPr>
          <p:cNvPr id="22" name="Text 20"/>
          <p:cNvSpPr/>
          <p:nvPr/>
        </p:nvSpPr>
        <p:spPr>
          <a:xfrm>
            <a:off x="4251960" y="4983480"/>
            <a:ext cx="1828800" cy="457200"/>
          </a:xfrm>
          <a:prstGeom prst="rect">
            <a:avLst/>
          </a:prstGeom>
          <a:noFill/>
          <a:ln/>
        </p:spPr>
        <p:txBody>
          <a:bodyPr wrap="square" lIns="0" tIns="0" rIns="0" bIns="0" rtlCol="0" anchor="ctr"/>
          <a:lstStyle/>
          <a:p>
            <a:pPr indent="0" marL="0">
              <a:buNone/>
            </a:pPr>
            <a:r>
              <a:rPr lang="en-US" sz="2500" b="1" dirty="0">
                <a:solidFill>
                  <a:srgbClr val="F0245E"/>
                </a:solidFill>
                <a:latin typeface="Arial" pitchFamily="34" charset="0"/>
                <a:ea typeface="Arial" pitchFamily="34" charset="-122"/>
                <a:cs typeface="Arial" pitchFamily="34" charset="-120"/>
              </a:rPr>
              <a:t>28</a:t>
            </a:r>
            <a:endParaRPr lang="en-US" sz="2500" dirty="0"/>
          </a:p>
        </p:txBody>
      </p:sp>
      <p:sp>
        <p:nvSpPr>
          <p:cNvPr id="23" name="Text 21"/>
          <p:cNvSpPr/>
          <p:nvPr/>
        </p:nvSpPr>
        <p:spPr>
          <a:xfrm>
            <a:off x="4251960" y="5440680"/>
            <a:ext cx="1828800" cy="310896"/>
          </a:xfrm>
          <a:prstGeom prst="rect">
            <a:avLst/>
          </a:prstGeom>
          <a:noFill/>
          <a:ln/>
        </p:spPr>
        <p:txBody>
          <a:bodyPr wrap="square" lIns="0" tIns="0" rIns="0" bIns="0" rtlCol="0" anchor="ctr"/>
          <a:lstStyle/>
          <a:p>
            <a:pPr indent="0" marL="0">
              <a:buNone/>
            </a:pPr>
            <a:r>
              <a:rPr lang="en-US" sz="1000" dirty="0">
                <a:solidFill>
                  <a:srgbClr val="9BA7D8"/>
                </a:solidFill>
                <a:latin typeface="Arial" pitchFamily="34" charset="0"/>
                <a:ea typeface="Arial" pitchFamily="34" charset="-122"/>
                <a:cs typeface="Arial" pitchFamily="34" charset="-120"/>
              </a:rPr>
              <a:t>planning areas</a:t>
            </a:r>
            <a:endParaRPr lang="en-US" sz="1000" dirty="0"/>
          </a:p>
        </p:txBody>
      </p:sp>
      <p:sp>
        <p:nvSpPr>
          <p:cNvPr id="24" name="Text 22"/>
          <p:cNvSpPr/>
          <p:nvPr/>
        </p:nvSpPr>
        <p:spPr>
          <a:xfrm>
            <a:off x="6126480" y="4983480"/>
            <a:ext cx="1828800" cy="457200"/>
          </a:xfrm>
          <a:prstGeom prst="rect">
            <a:avLst/>
          </a:prstGeom>
          <a:noFill/>
          <a:ln/>
        </p:spPr>
        <p:txBody>
          <a:bodyPr wrap="square" lIns="0" tIns="0" rIns="0" bIns="0" rtlCol="0" anchor="ctr"/>
          <a:lstStyle/>
          <a:p>
            <a:pPr indent="0" marL="0">
              <a:buNone/>
            </a:pPr>
            <a:r>
              <a:rPr lang="en-US" sz="2500" b="1" dirty="0">
                <a:solidFill>
                  <a:srgbClr val="F0245E"/>
                </a:solidFill>
                <a:latin typeface="Arial" pitchFamily="34" charset="0"/>
                <a:ea typeface="Arial" pitchFamily="34" charset="-122"/>
                <a:cs typeface="Arial" pitchFamily="34" charset="-120"/>
              </a:rPr>
              <a:t>84</a:t>
            </a:r>
            <a:endParaRPr lang="en-US" sz="2500" dirty="0"/>
          </a:p>
        </p:txBody>
      </p:sp>
      <p:sp>
        <p:nvSpPr>
          <p:cNvPr id="25" name="Text 23"/>
          <p:cNvSpPr/>
          <p:nvPr/>
        </p:nvSpPr>
        <p:spPr>
          <a:xfrm>
            <a:off x="6126480" y="5440680"/>
            <a:ext cx="1828800" cy="310896"/>
          </a:xfrm>
          <a:prstGeom prst="rect">
            <a:avLst/>
          </a:prstGeom>
          <a:noFill/>
          <a:ln/>
        </p:spPr>
        <p:txBody>
          <a:bodyPr wrap="square" lIns="0" tIns="0" rIns="0" bIns="0" rtlCol="0" anchor="ctr"/>
          <a:lstStyle/>
          <a:p>
            <a:pPr indent="0" marL="0">
              <a:buNone/>
            </a:pPr>
            <a:r>
              <a:rPr lang="en-US" sz="1000" dirty="0">
                <a:solidFill>
                  <a:srgbClr val="9BA7D8"/>
                </a:solidFill>
                <a:latin typeface="Arial" pitchFamily="34" charset="0"/>
                <a:ea typeface="Arial" pitchFamily="34" charset="-122"/>
                <a:cs typeface="Arial" pitchFamily="34" charset="-120"/>
              </a:rPr>
              <a:t>caregiving corridors</a:t>
            </a:r>
            <a:endParaRPr lang="en-US" sz="1000" dirty="0"/>
          </a:p>
        </p:txBody>
      </p:sp>
      <p:sp>
        <p:nvSpPr>
          <p:cNvPr id="26" name="Text 24"/>
          <p:cNvSpPr/>
          <p:nvPr/>
        </p:nvSpPr>
        <p:spPr>
          <a:xfrm>
            <a:off x="9464040" y="6428232"/>
            <a:ext cx="2221992" cy="310896"/>
          </a:xfrm>
          <a:prstGeom prst="rect">
            <a:avLst/>
          </a:prstGeom>
          <a:noFill/>
          <a:ln/>
        </p:spPr>
        <p:txBody>
          <a:bodyPr wrap="square" lIns="0" tIns="0" rIns="0" bIns="0" rtlCol="0" anchor="ctr"/>
          <a:lstStyle/>
          <a:p>
            <a:pPr algn="r" indent="0" marL="0">
              <a:buNone/>
            </a:pPr>
            <a:r>
              <a:rPr lang="en-US" sz="1150" b="1" i="1" spc="100" kern="0" dirty="0">
                <a:solidFill>
                  <a:srgbClr val="FFFFFF"/>
                </a:solidFill>
                <a:latin typeface="Arial" pitchFamily="34" charset="0"/>
                <a:ea typeface="Arial" pitchFamily="34" charset="-122"/>
                <a:cs typeface="Arial" pitchFamily="34" charset="-120"/>
              </a:rPr>
              <a:t>MOOVE MEDIA</a:t>
            </a:r>
            <a:endParaRPr lang="en-US" sz="1150" dirty="0"/>
          </a:p>
        </p:txBody>
      </p:sp>
      <p:sp>
        <p:nvSpPr>
          <p:cNvPr id="27" name="Text 25"/>
          <p:cNvSpPr/>
          <p:nvPr/>
        </p:nvSpPr>
        <p:spPr>
          <a:xfrm>
            <a:off x="484632" y="6428232"/>
            <a:ext cx="548640" cy="310896"/>
          </a:xfrm>
          <a:prstGeom prst="rect">
            <a:avLst/>
          </a:prstGeom>
          <a:noFill/>
          <a:ln/>
        </p:spPr>
        <p:txBody>
          <a:bodyPr wrap="square" lIns="0" tIns="0" rIns="0" bIns="0" rtlCol="0" anchor="ctr"/>
          <a:lstStyle/>
          <a:p>
            <a:pPr indent="0" marL="0">
              <a:buNone/>
            </a:pPr>
            <a:r>
              <a:rPr lang="en-US" sz="1000" dirty="0">
                <a:solidFill>
                  <a:srgbClr val="7C87BC"/>
                </a:solidFill>
                <a:latin typeface="Arial" pitchFamily="34" charset="0"/>
                <a:ea typeface="Arial" pitchFamily="34" charset="-122"/>
                <a:cs typeface="Arial"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2194560" cy="310896"/>
          </a:xfrm>
          <a:prstGeom prst="roundRect">
            <a:avLst>
              <a:gd name="adj" fmla="val 50000"/>
            </a:avLst>
          </a:prstGeom>
          <a:solidFill>
            <a:srgbClr val="F0245E"/>
          </a:solidFill>
          <a:ln/>
        </p:spPr>
      </p:sp>
      <p:sp>
        <p:nvSpPr>
          <p:cNvPr id="3" name="Text 1"/>
          <p:cNvSpPr/>
          <p:nvPr/>
        </p:nvSpPr>
        <p:spPr>
          <a:xfrm>
            <a:off x="502920" y="329184"/>
            <a:ext cx="2194560" cy="310896"/>
          </a:xfrm>
          <a:prstGeom prst="rect">
            <a:avLst/>
          </a:prstGeom>
          <a:noFill/>
          <a:ln/>
        </p:spPr>
        <p:txBody>
          <a:bodyPr wrap="square" lIns="0" tIns="0" rIns="0" bIns="0" rtlCol="0" anchor="ctr"/>
          <a:lstStyle/>
          <a:p>
            <a:pPr algn="ctr" indent="0" marL="0">
              <a:buNone/>
            </a:pPr>
            <a:r>
              <a:rPr lang="en-US" sz="950" b="1" spc="130" kern="0" dirty="0">
                <a:solidFill>
                  <a:srgbClr val="FFFFFF"/>
                </a:solidFill>
                <a:latin typeface="Arial" pitchFamily="34" charset="0"/>
                <a:ea typeface="Arial" pitchFamily="34" charset="-122"/>
                <a:cs typeface="Arial" pitchFamily="34" charset="-120"/>
              </a:rPr>
              <a:t>DBP C2 · MINDLINE.SG</a:t>
            </a:r>
            <a:endParaRPr lang="en-US" sz="950" dirty="0"/>
          </a:p>
        </p:txBody>
      </p:sp>
      <p:sp>
        <p:nvSpPr>
          <p:cNvPr id="4" name="Text 2"/>
          <p:cNvSpPr/>
          <p:nvPr/>
        </p:nvSpPr>
        <p:spPr>
          <a:xfrm>
            <a:off x="484632" y="749808"/>
            <a:ext cx="10607040" cy="566928"/>
          </a:xfrm>
          <a:prstGeom prst="rect">
            <a:avLst/>
          </a:prstGeom>
          <a:noFill/>
          <a:ln/>
        </p:spPr>
        <p:txBody>
          <a:bodyPr wrap="square" lIns="0" tIns="0" rIns="0" bIns="0" rtlCol="0" anchor="ctr"/>
          <a:lstStyle/>
          <a:p>
            <a:pPr indent="0" marL="0">
              <a:buNone/>
            </a:pPr>
            <a:r>
              <a:rPr lang="en-US" sz="3000" b="1" dirty="0">
                <a:solidFill>
                  <a:srgbClr val="1B2D8A"/>
                </a:solidFill>
                <a:latin typeface="Arial" pitchFamily="34" charset="0"/>
                <a:ea typeface="Arial" pitchFamily="34" charset="-122"/>
                <a:cs typeface="Arial" pitchFamily="34" charset="-120"/>
              </a:rPr>
              <a:t>Five audiences, one hotline</a:t>
            </a:r>
            <a:endParaRPr lang="en-US" sz="3000" dirty="0"/>
          </a:p>
        </p:txBody>
      </p:sp>
      <p:sp>
        <p:nvSpPr>
          <p:cNvPr id="5" name="Text 3"/>
          <p:cNvSpPr/>
          <p:nvPr/>
        </p:nvSpPr>
        <p:spPr>
          <a:xfrm>
            <a:off x="484632" y="1316736"/>
            <a:ext cx="10424160" cy="365760"/>
          </a:xfrm>
          <a:prstGeom prst="rect">
            <a:avLst/>
          </a:prstGeom>
          <a:noFill/>
          <a:ln/>
        </p:spPr>
        <p:txBody>
          <a:bodyPr wrap="square" lIns="0" tIns="0" rIns="0" bIns="0" rtlCol="0" anchor="t"/>
          <a:lstStyle/>
          <a:p>
            <a:pPr indent="0" marL="0">
              <a:buNone/>
            </a:pPr>
            <a:r>
              <a:rPr lang="en-US" sz="1250" dirty="0">
                <a:solidFill>
                  <a:srgbClr val="5A6484"/>
                </a:solidFill>
                <a:latin typeface="Arial" pitchFamily="34" charset="0"/>
                <a:ea typeface="Arial" pitchFamily="34" charset="-122"/>
                <a:cs typeface="Arial" pitchFamily="34" charset="-120"/>
              </a:rPr>
              <a:t>The campaign named five audiences. Each one is reached in a different place, at a different hour.</a:t>
            </a:r>
            <a:endParaRPr lang="en-US" sz="1250" dirty="0"/>
          </a:p>
        </p:txBody>
      </p:sp>
      <p:sp>
        <p:nvSpPr>
          <p:cNvPr id="6" name="Text 4"/>
          <p:cNvSpPr/>
          <p:nvPr/>
        </p:nvSpPr>
        <p:spPr>
          <a:xfrm>
            <a:off x="9464040" y="6428232"/>
            <a:ext cx="2221992" cy="310896"/>
          </a:xfrm>
          <a:prstGeom prst="rect">
            <a:avLst/>
          </a:prstGeom>
          <a:noFill/>
          <a:ln/>
        </p:spPr>
        <p:txBody>
          <a:bodyPr wrap="square" lIns="0" tIns="0" rIns="0" bIns="0" rtlCol="0" anchor="ctr"/>
          <a:lstStyle/>
          <a:p>
            <a:pPr algn="r" indent="0" marL="0">
              <a:buNone/>
            </a:pPr>
            <a:r>
              <a:rPr lang="en-US" sz="1150" b="1" i="1" spc="100" kern="0" dirty="0">
                <a:solidFill>
                  <a:srgbClr val="1B2D8A"/>
                </a:solidFill>
                <a:latin typeface="Arial" pitchFamily="34" charset="0"/>
                <a:ea typeface="Arial" pitchFamily="34" charset="-122"/>
                <a:cs typeface="Arial" pitchFamily="34" charset="-120"/>
              </a:rPr>
              <a:t>MOOVE MEDIA</a:t>
            </a:r>
            <a:endParaRPr lang="en-US" sz="1150" dirty="0"/>
          </a:p>
        </p:txBody>
      </p:sp>
      <p:sp>
        <p:nvSpPr>
          <p:cNvPr id="7" name="Text 5"/>
          <p:cNvSpPr/>
          <p:nvPr/>
        </p:nvSpPr>
        <p:spPr>
          <a:xfrm>
            <a:off x="484632" y="6428232"/>
            <a:ext cx="548640" cy="310896"/>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2</a:t>
            </a:r>
            <a:endParaRPr lang="en-US" sz="1000" dirty="0"/>
          </a:p>
        </p:txBody>
      </p:sp>
      <p:sp>
        <p:nvSpPr>
          <p:cNvPr id="8" name="Shape 6"/>
          <p:cNvSpPr/>
          <p:nvPr/>
        </p:nvSpPr>
        <p:spPr>
          <a:xfrm>
            <a:off x="502920" y="1874520"/>
            <a:ext cx="11183112" cy="786384"/>
          </a:xfrm>
          <a:prstGeom prst="roundRect">
            <a:avLst>
              <a:gd name="adj" fmla="val 10465"/>
            </a:avLst>
          </a:prstGeom>
          <a:solidFill>
            <a:srgbClr val="FFFFFF"/>
          </a:solidFill>
          <a:ln w="12700">
            <a:solidFill>
              <a:srgbClr val="D8DDE9"/>
            </a:solidFill>
            <a:prstDash val="solid"/>
          </a:ln>
        </p:spPr>
      </p:sp>
      <p:sp>
        <p:nvSpPr>
          <p:cNvPr id="9" name="Shape 7"/>
          <p:cNvSpPr/>
          <p:nvPr/>
        </p:nvSpPr>
        <p:spPr>
          <a:xfrm>
            <a:off x="740664" y="2075688"/>
            <a:ext cx="384048" cy="384048"/>
          </a:xfrm>
          <a:prstGeom prst="roundRect">
            <a:avLst>
              <a:gd name="adj" fmla="val 50000"/>
            </a:avLst>
          </a:prstGeom>
          <a:solidFill>
            <a:srgbClr val="1B2D8A"/>
          </a:solidFill>
          <a:ln/>
        </p:spPr>
      </p:sp>
      <p:sp>
        <p:nvSpPr>
          <p:cNvPr id="10" name="Text 8"/>
          <p:cNvSpPr/>
          <p:nvPr/>
        </p:nvSpPr>
        <p:spPr>
          <a:xfrm>
            <a:off x="740664" y="207568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1" name="Text 9"/>
          <p:cNvSpPr/>
          <p:nvPr/>
        </p:nvSpPr>
        <p:spPr>
          <a:xfrm>
            <a:off x="1289304" y="1965960"/>
            <a:ext cx="3017520" cy="320040"/>
          </a:xfrm>
          <a:prstGeom prst="rect">
            <a:avLst/>
          </a:prstGeom>
          <a:noFill/>
          <a:ln/>
        </p:spPr>
        <p:txBody>
          <a:bodyPr wrap="square" lIns="0" tIns="0" rIns="0" bIns="0" rtlCol="0" anchor="ctr"/>
          <a:lstStyle/>
          <a:p>
            <a:pPr indent="0" marL="0">
              <a:buNone/>
            </a:pPr>
            <a:r>
              <a:rPr lang="en-US" sz="1450" b="1" dirty="0">
                <a:solidFill>
                  <a:srgbClr val="1B2D8A"/>
                </a:solidFill>
                <a:latin typeface="Arial" pitchFamily="34" charset="0"/>
                <a:ea typeface="Arial" pitchFamily="34" charset="-122"/>
                <a:cs typeface="Arial" pitchFamily="34" charset="-120"/>
              </a:rPr>
              <a:t>Young children</a:t>
            </a:r>
            <a:endParaRPr lang="en-US" sz="1450" dirty="0"/>
          </a:p>
        </p:txBody>
      </p:sp>
      <p:sp>
        <p:nvSpPr>
          <p:cNvPr id="12" name="Text 10"/>
          <p:cNvSpPr/>
          <p:nvPr/>
        </p:nvSpPr>
        <p:spPr>
          <a:xfrm>
            <a:off x="1289304" y="2276856"/>
            <a:ext cx="7498080" cy="301752"/>
          </a:xfrm>
          <a:prstGeom prst="rect">
            <a:avLst/>
          </a:prstGeom>
          <a:noFill/>
          <a:ln/>
        </p:spPr>
        <p:txBody>
          <a:bodyPr wrap="square" lIns="0" tIns="0" rIns="0" bIns="0" rtlCol="0" anchor="ctr"/>
          <a:lstStyle/>
          <a:p>
            <a:pPr indent="0" marL="0">
              <a:buNone/>
            </a:pPr>
            <a:r>
              <a:rPr lang="en-US" sz="1150" dirty="0">
                <a:solidFill>
                  <a:srgbClr val="5A6484"/>
                </a:solidFill>
                <a:latin typeface="Arial" pitchFamily="34" charset="0"/>
                <a:ea typeface="Arial" pitchFamily="34" charset="-122"/>
                <a:cs typeface="Arial" pitchFamily="34" charset="-120"/>
              </a:rPr>
              <a:t>Reached through the adult at the school gate — not the child.</a:t>
            </a:r>
            <a:endParaRPr lang="en-US" sz="1150" dirty="0"/>
          </a:p>
        </p:txBody>
      </p:sp>
      <p:sp>
        <p:nvSpPr>
          <p:cNvPr id="13" name="Text 11"/>
          <p:cNvSpPr/>
          <p:nvPr/>
        </p:nvSpPr>
        <p:spPr>
          <a:xfrm>
            <a:off x="9966960" y="2084832"/>
            <a:ext cx="1554480" cy="365760"/>
          </a:xfrm>
          <a:prstGeom prst="rect">
            <a:avLst/>
          </a:prstGeom>
          <a:noFill/>
          <a:ln/>
        </p:spPr>
        <p:txBody>
          <a:bodyPr wrap="square" lIns="0" tIns="0" rIns="0" bIns="0" rtlCol="0" anchor="ctr"/>
          <a:lstStyle/>
          <a:p>
            <a:pPr algn="r" indent="0" marL="0">
              <a:buNone/>
            </a:pPr>
            <a:r>
              <a:rPr lang="en-US" sz="1200" b="1" dirty="0">
                <a:solidFill>
                  <a:srgbClr val="1B2D8A"/>
                </a:solidFill>
                <a:latin typeface="Arial" pitchFamily="34" charset="0"/>
                <a:ea typeface="Arial" pitchFamily="34" charset="-122"/>
                <a:cs typeface="Arial" pitchFamily="34" charset="-120"/>
              </a:rPr>
              <a:t>a0–14</a:t>
            </a:r>
            <a:endParaRPr lang="en-US" sz="1200" dirty="0"/>
          </a:p>
        </p:txBody>
      </p:sp>
      <p:sp>
        <p:nvSpPr>
          <p:cNvPr id="14" name="Shape 12"/>
          <p:cNvSpPr/>
          <p:nvPr/>
        </p:nvSpPr>
        <p:spPr>
          <a:xfrm>
            <a:off x="502920" y="2770632"/>
            <a:ext cx="11183112" cy="786384"/>
          </a:xfrm>
          <a:prstGeom prst="roundRect">
            <a:avLst>
              <a:gd name="adj" fmla="val 10465"/>
            </a:avLst>
          </a:prstGeom>
          <a:solidFill>
            <a:srgbClr val="FFFFFF"/>
          </a:solidFill>
          <a:ln w="12700">
            <a:solidFill>
              <a:srgbClr val="D8DDE9"/>
            </a:solidFill>
            <a:prstDash val="solid"/>
          </a:ln>
        </p:spPr>
      </p:sp>
      <p:sp>
        <p:nvSpPr>
          <p:cNvPr id="15" name="Shape 13"/>
          <p:cNvSpPr/>
          <p:nvPr/>
        </p:nvSpPr>
        <p:spPr>
          <a:xfrm>
            <a:off x="740664" y="2971800"/>
            <a:ext cx="384048" cy="384048"/>
          </a:xfrm>
          <a:prstGeom prst="roundRect">
            <a:avLst>
              <a:gd name="adj" fmla="val 50000"/>
            </a:avLst>
          </a:prstGeom>
          <a:solidFill>
            <a:srgbClr val="1B2D8A"/>
          </a:solidFill>
          <a:ln/>
        </p:spPr>
      </p:sp>
      <p:sp>
        <p:nvSpPr>
          <p:cNvPr id="16" name="Text 14"/>
          <p:cNvSpPr/>
          <p:nvPr/>
        </p:nvSpPr>
        <p:spPr>
          <a:xfrm>
            <a:off x="740664" y="29718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7" name="Text 15"/>
          <p:cNvSpPr/>
          <p:nvPr/>
        </p:nvSpPr>
        <p:spPr>
          <a:xfrm>
            <a:off x="1289304" y="2862072"/>
            <a:ext cx="3017520" cy="320040"/>
          </a:xfrm>
          <a:prstGeom prst="rect">
            <a:avLst/>
          </a:prstGeom>
          <a:noFill/>
          <a:ln/>
        </p:spPr>
        <p:txBody>
          <a:bodyPr wrap="square" lIns="0" tIns="0" rIns="0" bIns="0" rtlCol="0" anchor="ctr"/>
          <a:lstStyle/>
          <a:p>
            <a:pPr indent="0" marL="0">
              <a:buNone/>
            </a:pPr>
            <a:r>
              <a:rPr lang="en-US" sz="1450" b="1" dirty="0">
                <a:solidFill>
                  <a:srgbClr val="1B2D8A"/>
                </a:solidFill>
                <a:latin typeface="Arial" pitchFamily="34" charset="0"/>
                <a:ea typeface="Arial" pitchFamily="34" charset="-122"/>
                <a:cs typeface="Arial" pitchFamily="34" charset="-120"/>
              </a:rPr>
              <a:t>Seniors</a:t>
            </a:r>
            <a:endParaRPr lang="en-US" sz="1450" dirty="0"/>
          </a:p>
        </p:txBody>
      </p:sp>
      <p:sp>
        <p:nvSpPr>
          <p:cNvPr id="18" name="Text 16"/>
          <p:cNvSpPr/>
          <p:nvPr/>
        </p:nvSpPr>
        <p:spPr>
          <a:xfrm>
            <a:off x="1289304" y="3172968"/>
            <a:ext cx="7498080" cy="301752"/>
          </a:xfrm>
          <a:prstGeom prst="rect">
            <a:avLst/>
          </a:prstGeom>
          <a:noFill/>
          <a:ln/>
        </p:spPr>
        <p:txBody>
          <a:bodyPr wrap="square" lIns="0" tIns="0" rIns="0" bIns="0" rtlCol="0" anchor="ctr"/>
          <a:lstStyle/>
          <a:p>
            <a:pPr indent="0" marL="0">
              <a:buNone/>
            </a:pPr>
            <a:r>
              <a:rPr lang="en-US" sz="1150" dirty="0">
                <a:solidFill>
                  <a:srgbClr val="5A6484"/>
                </a:solidFill>
                <a:latin typeface="Arial" pitchFamily="34" charset="0"/>
                <a:ea typeface="Arial" pitchFamily="34" charset="-122"/>
                <a:cs typeface="Arial" pitchFamily="34" charset="-120"/>
              </a:rPr>
              <a:t>Polyclinic and senior-activity mornings, in the mature estates.</a:t>
            </a:r>
            <a:endParaRPr lang="en-US" sz="1150" dirty="0"/>
          </a:p>
        </p:txBody>
      </p:sp>
      <p:sp>
        <p:nvSpPr>
          <p:cNvPr id="19" name="Text 17"/>
          <p:cNvSpPr/>
          <p:nvPr/>
        </p:nvSpPr>
        <p:spPr>
          <a:xfrm>
            <a:off x="9966960" y="2980944"/>
            <a:ext cx="1554480" cy="365760"/>
          </a:xfrm>
          <a:prstGeom prst="rect">
            <a:avLst/>
          </a:prstGeom>
          <a:noFill/>
          <a:ln/>
        </p:spPr>
        <p:txBody>
          <a:bodyPr wrap="square" lIns="0" tIns="0" rIns="0" bIns="0" rtlCol="0" anchor="ctr"/>
          <a:lstStyle/>
          <a:p>
            <a:pPr algn="r" indent="0" marL="0">
              <a:buNone/>
            </a:pPr>
            <a:r>
              <a:rPr lang="en-US" sz="1200" b="1" dirty="0">
                <a:solidFill>
                  <a:srgbClr val="1B2D8A"/>
                </a:solidFill>
                <a:latin typeface="Arial" pitchFamily="34" charset="0"/>
                <a:ea typeface="Arial" pitchFamily="34" charset="-122"/>
                <a:cs typeface="Arial" pitchFamily="34" charset="-120"/>
              </a:rPr>
              <a:t>a65+</a:t>
            </a:r>
            <a:endParaRPr lang="en-US" sz="1200" dirty="0"/>
          </a:p>
        </p:txBody>
      </p:sp>
      <p:sp>
        <p:nvSpPr>
          <p:cNvPr id="20" name="Shape 18"/>
          <p:cNvSpPr/>
          <p:nvPr/>
        </p:nvSpPr>
        <p:spPr>
          <a:xfrm>
            <a:off x="502920" y="3666744"/>
            <a:ext cx="11183112" cy="786384"/>
          </a:xfrm>
          <a:prstGeom prst="roundRect">
            <a:avLst>
              <a:gd name="adj" fmla="val 10465"/>
            </a:avLst>
          </a:prstGeom>
          <a:solidFill>
            <a:srgbClr val="FFFFFF"/>
          </a:solidFill>
          <a:ln w="12700">
            <a:solidFill>
              <a:srgbClr val="D8DDE9"/>
            </a:solidFill>
            <a:prstDash val="solid"/>
          </a:ln>
        </p:spPr>
      </p:sp>
      <p:sp>
        <p:nvSpPr>
          <p:cNvPr id="21" name="Shape 19"/>
          <p:cNvSpPr/>
          <p:nvPr/>
        </p:nvSpPr>
        <p:spPr>
          <a:xfrm>
            <a:off x="740664" y="3867912"/>
            <a:ext cx="384048" cy="384048"/>
          </a:xfrm>
          <a:prstGeom prst="roundRect">
            <a:avLst>
              <a:gd name="adj" fmla="val 50000"/>
            </a:avLst>
          </a:prstGeom>
          <a:solidFill>
            <a:srgbClr val="1B2D8A"/>
          </a:solidFill>
          <a:ln/>
        </p:spPr>
      </p:sp>
      <p:sp>
        <p:nvSpPr>
          <p:cNvPr id="22" name="Text 20"/>
          <p:cNvSpPr/>
          <p:nvPr/>
        </p:nvSpPr>
        <p:spPr>
          <a:xfrm>
            <a:off x="740664" y="386791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23" name="Text 21"/>
          <p:cNvSpPr/>
          <p:nvPr/>
        </p:nvSpPr>
        <p:spPr>
          <a:xfrm>
            <a:off x="1289304" y="3758184"/>
            <a:ext cx="3017520" cy="320040"/>
          </a:xfrm>
          <a:prstGeom prst="rect">
            <a:avLst/>
          </a:prstGeom>
          <a:noFill/>
          <a:ln/>
        </p:spPr>
        <p:txBody>
          <a:bodyPr wrap="square" lIns="0" tIns="0" rIns="0" bIns="0" rtlCol="0" anchor="ctr"/>
          <a:lstStyle/>
          <a:p>
            <a:pPr indent="0" marL="0">
              <a:buNone/>
            </a:pPr>
            <a:r>
              <a:rPr lang="en-US" sz="1450" b="1" dirty="0">
                <a:solidFill>
                  <a:srgbClr val="1B2D8A"/>
                </a:solidFill>
                <a:latin typeface="Arial" pitchFamily="34" charset="0"/>
                <a:ea typeface="Arial" pitchFamily="34" charset="-122"/>
                <a:cs typeface="Arial" pitchFamily="34" charset="-120"/>
              </a:rPr>
              <a:t>Working adults</a:t>
            </a:r>
            <a:endParaRPr lang="en-US" sz="1450" dirty="0"/>
          </a:p>
        </p:txBody>
      </p:sp>
      <p:sp>
        <p:nvSpPr>
          <p:cNvPr id="24" name="Text 22"/>
          <p:cNvSpPr/>
          <p:nvPr/>
        </p:nvSpPr>
        <p:spPr>
          <a:xfrm>
            <a:off x="1289304" y="4069080"/>
            <a:ext cx="7498080" cy="301752"/>
          </a:xfrm>
          <a:prstGeom prst="rect">
            <a:avLst/>
          </a:prstGeom>
          <a:noFill/>
          <a:ln/>
        </p:spPr>
        <p:txBody>
          <a:bodyPr wrap="square" lIns="0" tIns="0" rIns="0" bIns="0" rtlCol="0" anchor="ctr"/>
          <a:lstStyle/>
          <a:p>
            <a:pPr indent="0" marL="0">
              <a:buNone/>
            </a:pPr>
            <a:r>
              <a:rPr lang="en-US" sz="1150" dirty="0">
                <a:solidFill>
                  <a:srgbClr val="5A6484"/>
                </a:solidFill>
                <a:latin typeface="Arial" pitchFamily="34" charset="0"/>
                <a:ea typeface="Arial" pitchFamily="34" charset="-122"/>
                <a:cs typeface="Arial" pitchFamily="34" charset="-120"/>
              </a:rPr>
              <a:t>Interchange and CBD commute, twice a day.</a:t>
            </a:r>
            <a:endParaRPr lang="en-US" sz="1150" dirty="0"/>
          </a:p>
        </p:txBody>
      </p:sp>
      <p:sp>
        <p:nvSpPr>
          <p:cNvPr id="25" name="Text 23"/>
          <p:cNvSpPr/>
          <p:nvPr/>
        </p:nvSpPr>
        <p:spPr>
          <a:xfrm>
            <a:off x="9966960" y="3877056"/>
            <a:ext cx="1554480" cy="365760"/>
          </a:xfrm>
          <a:prstGeom prst="rect">
            <a:avLst/>
          </a:prstGeom>
          <a:noFill/>
          <a:ln/>
        </p:spPr>
        <p:txBody>
          <a:bodyPr wrap="square" lIns="0" tIns="0" rIns="0" bIns="0" rtlCol="0" anchor="ctr"/>
          <a:lstStyle/>
          <a:p>
            <a:pPr algn="r" indent="0" marL="0">
              <a:buNone/>
            </a:pPr>
            <a:r>
              <a:rPr lang="en-US" sz="1200" b="1" dirty="0">
                <a:solidFill>
                  <a:srgbClr val="1B2D8A"/>
                </a:solidFill>
                <a:latin typeface="Arial" pitchFamily="34" charset="0"/>
                <a:ea typeface="Arial" pitchFamily="34" charset="-122"/>
                <a:cs typeface="Arial" pitchFamily="34" charset="-120"/>
              </a:rPr>
              <a:t>a25–64</a:t>
            </a:r>
            <a:endParaRPr lang="en-US" sz="1200" dirty="0"/>
          </a:p>
        </p:txBody>
      </p:sp>
      <p:sp>
        <p:nvSpPr>
          <p:cNvPr id="26" name="Shape 24"/>
          <p:cNvSpPr/>
          <p:nvPr/>
        </p:nvSpPr>
        <p:spPr>
          <a:xfrm>
            <a:off x="502920" y="4562856"/>
            <a:ext cx="11183112" cy="786384"/>
          </a:xfrm>
          <a:prstGeom prst="roundRect">
            <a:avLst>
              <a:gd name="adj" fmla="val 10465"/>
            </a:avLst>
          </a:prstGeom>
          <a:solidFill>
            <a:srgbClr val="FDF0F4"/>
          </a:solidFill>
          <a:ln w="12700">
            <a:solidFill>
              <a:srgbClr val="F0245E"/>
            </a:solidFill>
            <a:prstDash val="solid"/>
          </a:ln>
        </p:spPr>
      </p:sp>
      <p:sp>
        <p:nvSpPr>
          <p:cNvPr id="27" name="Shape 25"/>
          <p:cNvSpPr/>
          <p:nvPr/>
        </p:nvSpPr>
        <p:spPr>
          <a:xfrm>
            <a:off x="740664" y="4764024"/>
            <a:ext cx="384048" cy="384048"/>
          </a:xfrm>
          <a:prstGeom prst="roundRect">
            <a:avLst>
              <a:gd name="adj" fmla="val 50000"/>
            </a:avLst>
          </a:prstGeom>
          <a:solidFill>
            <a:srgbClr val="F0245E"/>
          </a:solidFill>
          <a:ln/>
        </p:spPr>
      </p:sp>
      <p:sp>
        <p:nvSpPr>
          <p:cNvPr id="28" name="Text 26"/>
          <p:cNvSpPr/>
          <p:nvPr/>
        </p:nvSpPr>
        <p:spPr>
          <a:xfrm>
            <a:off x="740664" y="476402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9" name="Text 27"/>
          <p:cNvSpPr/>
          <p:nvPr/>
        </p:nvSpPr>
        <p:spPr>
          <a:xfrm>
            <a:off x="1289304" y="4654296"/>
            <a:ext cx="3017520" cy="320040"/>
          </a:xfrm>
          <a:prstGeom prst="rect">
            <a:avLst/>
          </a:prstGeom>
          <a:noFill/>
          <a:ln/>
        </p:spPr>
        <p:txBody>
          <a:bodyPr wrap="square" lIns="0" tIns="0" rIns="0" bIns="0" rtlCol="0" anchor="ctr"/>
          <a:lstStyle/>
          <a:p>
            <a:pPr indent="0" marL="0">
              <a:buNone/>
            </a:pPr>
            <a:r>
              <a:rPr lang="en-US" sz="1450" b="1" dirty="0">
                <a:solidFill>
                  <a:srgbClr val="1B2D8A"/>
                </a:solidFill>
                <a:latin typeface="Arial" pitchFamily="34" charset="0"/>
                <a:ea typeface="Arial" pitchFamily="34" charset="-122"/>
                <a:cs typeface="Arial" pitchFamily="34" charset="-120"/>
              </a:rPr>
              <a:t>Sandwich generation</a:t>
            </a:r>
            <a:endParaRPr lang="en-US" sz="1450" dirty="0"/>
          </a:p>
        </p:txBody>
      </p:sp>
      <p:sp>
        <p:nvSpPr>
          <p:cNvPr id="30" name="Text 28"/>
          <p:cNvSpPr/>
          <p:nvPr/>
        </p:nvSpPr>
        <p:spPr>
          <a:xfrm>
            <a:off x="1289304" y="4965192"/>
            <a:ext cx="7498080" cy="301752"/>
          </a:xfrm>
          <a:prstGeom prst="rect">
            <a:avLst/>
          </a:prstGeom>
          <a:noFill/>
          <a:ln/>
        </p:spPr>
        <p:txBody>
          <a:bodyPr wrap="square" lIns="0" tIns="0" rIns="0" bIns="0" rtlCol="0" anchor="ctr"/>
          <a:lstStyle/>
          <a:p>
            <a:pPr indent="0" marL="0">
              <a:buNone/>
            </a:pPr>
            <a:r>
              <a:rPr lang="en-US" sz="1150" dirty="0">
                <a:solidFill>
                  <a:srgbClr val="5A6484"/>
                </a:solidFill>
                <a:latin typeface="Arial" pitchFamily="34" charset="0"/>
                <a:ea typeface="Arial" pitchFamily="34" charset="-122"/>
                <a:cs typeface="Arial" pitchFamily="34" charset="-120"/>
              </a:rPr>
              <a:t>Caring for a child and a parent at once. No layer maps them.</a:t>
            </a:r>
            <a:endParaRPr lang="en-US" sz="1150" dirty="0"/>
          </a:p>
        </p:txBody>
      </p:sp>
      <p:sp>
        <p:nvSpPr>
          <p:cNvPr id="31" name="Text 29"/>
          <p:cNvSpPr/>
          <p:nvPr/>
        </p:nvSpPr>
        <p:spPr>
          <a:xfrm>
            <a:off x="9966960" y="4773168"/>
            <a:ext cx="1554480" cy="365760"/>
          </a:xfrm>
          <a:prstGeom prst="rect">
            <a:avLst/>
          </a:prstGeom>
          <a:noFill/>
          <a:ln/>
        </p:spPr>
        <p:txBody>
          <a:bodyPr wrap="square" lIns="0" tIns="0" rIns="0" bIns="0" rtlCol="0" anchor="ctr"/>
          <a:lstStyle/>
          <a:p>
            <a:pPr algn="r" indent="0" marL="0">
              <a:buNone/>
            </a:pPr>
            <a:r>
              <a:rPr lang="en-US" sz="1200" b="1" dirty="0">
                <a:solidFill>
                  <a:srgbClr val="F0245E"/>
                </a:solidFill>
                <a:latin typeface="Arial" pitchFamily="34" charset="0"/>
                <a:ea typeface="Arial" pitchFamily="34" charset="-122"/>
                <a:cs typeface="Arial" pitchFamily="34" charset="-120"/>
              </a:rPr>
              <a:t>the gap</a:t>
            </a:r>
            <a:endParaRPr lang="en-US" sz="1200" dirty="0"/>
          </a:p>
        </p:txBody>
      </p:sp>
      <p:sp>
        <p:nvSpPr>
          <p:cNvPr id="32" name="Shape 30"/>
          <p:cNvSpPr/>
          <p:nvPr/>
        </p:nvSpPr>
        <p:spPr>
          <a:xfrm>
            <a:off x="502920" y="5458968"/>
            <a:ext cx="11183112" cy="786384"/>
          </a:xfrm>
          <a:prstGeom prst="roundRect">
            <a:avLst>
              <a:gd name="adj" fmla="val 10465"/>
            </a:avLst>
          </a:prstGeom>
          <a:solidFill>
            <a:srgbClr val="FFFFFF"/>
          </a:solidFill>
          <a:ln w="12700">
            <a:solidFill>
              <a:srgbClr val="D8DDE9"/>
            </a:solidFill>
            <a:prstDash val="solid"/>
          </a:ln>
        </p:spPr>
      </p:sp>
      <p:sp>
        <p:nvSpPr>
          <p:cNvPr id="33" name="Shape 31"/>
          <p:cNvSpPr/>
          <p:nvPr/>
        </p:nvSpPr>
        <p:spPr>
          <a:xfrm>
            <a:off x="740664" y="5660136"/>
            <a:ext cx="384048" cy="384048"/>
          </a:xfrm>
          <a:prstGeom prst="roundRect">
            <a:avLst>
              <a:gd name="adj" fmla="val 50000"/>
            </a:avLst>
          </a:prstGeom>
          <a:solidFill>
            <a:srgbClr val="1B2D8A"/>
          </a:solidFill>
          <a:ln/>
        </p:spPr>
      </p:sp>
      <p:sp>
        <p:nvSpPr>
          <p:cNvPr id="34" name="Text 32"/>
          <p:cNvSpPr/>
          <p:nvPr/>
        </p:nvSpPr>
        <p:spPr>
          <a:xfrm>
            <a:off x="740664" y="566013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35" name="Text 33"/>
          <p:cNvSpPr/>
          <p:nvPr/>
        </p:nvSpPr>
        <p:spPr>
          <a:xfrm>
            <a:off x="1289304" y="5550408"/>
            <a:ext cx="3017520" cy="320040"/>
          </a:xfrm>
          <a:prstGeom prst="rect">
            <a:avLst/>
          </a:prstGeom>
          <a:noFill/>
          <a:ln/>
        </p:spPr>
        <p:txBody>
          <a:bodyPr wrap="square" lIns="0" tIns="0" rIns="0" bIns="0" rtlCol="0" anchor="ctr"/>
          <a:lstStyle/>
          <a:p>
            <a:pPr indent="0" marL="0">
              <a:buNone/>
            </a:pPr>
            <a:r>
              <a:rPr lang="en-US" sz="1450" b="1" dirty="0">
                <a:solidFill>
                  <a:srgbClr val="1B2D8A"/>
                </a:solidFill>
                <a:latin typeface="Arial" pitchFamily="34" charset="0"/>
                <a:ea typeface="Arial" pitchFamily="34" charset="-122"/>
                <a:cs typeface="Arial" pitchFamily="34" charset="-120"/>
              </a:rPr>
              <a:t>Youth</a:t>
            </a:r>
            <a:endParaRPr lang="en-US" sz="1450" dirty="0"/>
          </a:p>
        </p:txBody>
      </p:sp>
      <p:sp>
        <p:nvSpPr>
          <p:cNvPr id="36" name="Text 34"/>
          <p:cNvSpPr/>
          <p:nvPr/>
        </p:nvSpPr>
        <p:spPr>
          <a:xfrm>
            <a:off x="1289304" y="5861304"/>
            <a:ext cx="7498080" cy="301752"/>
          </a:xfrm>
          <a:prstGeom prst="rect">
            <a:avLst/>
          </a:prstGeom>
          <a:noFill/>
          <a:ln/>
        </p:spPr>
        <p:txBody>
          <a:bodyPr wrap="square" lIns="0" tIns="0" rIns="0" bIns="0" rtlCol="0" anchor="ctr"/>
          <a:lstStyle/>
          <a:p>
            <a:pPr indent="0" marL="0">
              <a:buNone/>
            </a:pPr>
            <a:r>
              <a:rPr lang="en-US" sz="1150" dirty="0">
                <a:solidFill>
                  <a:srgbClr val="5A6484"/>
                </a:solidFill>
                <a:latin typeface="Arial" pitchFamily="34" charset="0"/>
                <a:ea typeface="Arial" pitchFamily="34" charset="-122"/>
                <a:cs typeface="Arial" pitchFamily="34" charset="-120"/>
              </a:rPr>
              <a:t>Secondary and IHL dismissal, then the third places after.</a:t>
            </a:r>
            <a:endParaRPr lang="en-US" sz="1150" dirty="0"/>
          </a:p>
        </p:txBody>
      </p:sp>
      <p:sp>
        <p:nvSpPr>
          <p:cNvPr id="37" name="Text 35"/>
          <p:cNvSpPr/>
          <p:nvPr/>
        </p:nvSpPr>
        <p:spPr>
          <a:xfrm>
            <a:off x="9966960" y="5669280"/>
            <a:ext cx="1554480" cy="365760"/>
          </a:xfrm>
          <a:prstGeom prst="rect">
            <a:avLst/>
          </a:prstGeom>
          <a:noFill/>
          <a:ln/>
        </p:spPr>
        <p:txBody>
          <a:bodyPr wrap="square" lIns="0" tIns="0" rIns="0" bIns="0" rtlCol="0" anchor="ctr"/>
          <a:lstStyle/>
          <a:p>
            <a:pPr algn="r" indent="0" marL="0">
              <a:buNone/>
            </a:pPr>
            <a:r>
              <a:rPr lang="en-US" sz="1200" b="1" dirty="0">
                <a:solidFill>
                  <a:srgbClr val="1B2D8A"/>
                </a:solidFill>
                <a:latin typeface="Arial" pitchFamily="34" charset="0"/>
                <a:ea typeface="Arial" pitchFamily="34" charset="-122"/>
                <a:cs typeface="Arial" pitchFamily="34" charset="-120"/>
              </a:rPr>
              <a:t>a15–24</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1728216" cy="310896"/>
          </a:xfrm>
          <a:prstGeom prst="roundRect">
            <a:avLst>
              <a:gd name="adj" fmla="val 50000"/>
            </a:avLst>
          </a:prstGeom>
          <a:solidFill>
            <a:srgbClr val="F0245E"/>
          </a:solidFill>
          <a:ln/>
        </p:spPr>
      </p:sp>
      <p:sp>
        <p:nvSpPr>
          <p:cNvPr id="3" name="Text 1"/>
          <p:cNvSpPr/>
          <p:nvPr/>
        </p:nvSpPr>
        <p:spPr>
          <a:xfrm>
            <a:off x="502920" y="329184"/>
            <a:ext cx="1728216" cy="310896"/>
          </a:xfrm>
          <a:prstGeom prst="rect">
            <a:avLst/>
          </a:prstGeom>
          <a:noFill/>
          <a:ln/>
        </p:spPr>
        <p:txBody>
          <a:bodyPr wrap="square" lIns="0" tIns="0" rIns="0" bIns="0" rtlCol="0" anchor="ctr"/>
          <a:lstStyle/>
          <a:p>
            <a:pPr algn="ctr" indent="0" marL="0">
              <a:buNone/>
            </a:pPr>
            <a:r>
              <a:rPr lang="en-US" sz="950" b="1" spc="130" kern="0" dirty="0">
                <a:solidFill>
                  <a:srgbClr val="FFFFFF"/>
                </a:solidFill>
                <a:latin typeface="Arial" pitchFamily="34" charset="0"/>
                <a:ea typeface="Arial" pitchFamily="34" charset="-122"/>
                <a:cs typeface="Arial" pitchFamily="34" charset="-120"/>
              </a:rPr>
              <a:t>DBP C2 · METHOD</a:t>
            </a:r>
            <a:endParaRPr lang="en-US" sz="950" dirty="0"/>
          </a:p>
        </p:txBody>
      </p:sp>
      <p:sp>
        <p:nvSpPr>
          <p:cNvPr id="4" name="Text 2"/>
          <p:cNvSpPr/>
          <p:nvPr/>
        </p:nvSpPr>
        <p:spPr>
          <a:xfrm>
            <a:off x="484632" y="749808"/>
            <a:ext cx="10607040" cy="566928"/>
          </a:xfrm>
          <a:prstGeom prst="rect">
            <a:avLst/>
          </a:prstGeom>
          <a:noFill/>
          <a:ln/>
        </p:spPr>
        <p:txBody>
          <a:bodyPr wrap="square" lIns="0" tIns="0" rIns="0" bIns="0" rtlCol="0" anchor="ctr"/>
          <a:lstStyle/>
          <a:p>
            <a:pPr indent="0" marL="0">
              <a:buNone/>
            </a:pPr>
            <a:r>
              <a:rPr lang="en-US" sz="3000" b="1" dirty="0">
                <a:solidFill>
                  <a:srgbClr val="1B2D8A"/>
                </a:solidFill>
                <a:latin typeface="Arial" pitchFamily="34" charset="0"/>
                <a:ea typeface="Arial" pitchFamily="34" charset="-122"/>
                <a:cs typeface="Arial" pitchFamily="34" charset="-120"/>
              </a:rPr>
              <a:t>How the four sets were scored</a:t>
            </a:r>
            <a:endParaRPr lang="en-US" sz="3000" dirty="0"/>
          </a:p>
        </p:txBody>
      </p:sp>
      <p:sp>
        <p:nvSpPr>
          <p:cNvPr id="5" name="Text 3"/>
          <p:cNvSpPr/>
          <p:nvPr/>
        </p:nvSpPr>
        <p:spPr>
          <a:xfrm>
            <a:off x="484632" y="1316736"/>
            <a:ext cx="10424160" cy="365760"/>
          </a:xfrm>
          <a:prstGeom prst="rect">
            <a:avLst/>
          </a:prstGeom>
          <a:noFill/>
          <a:ln/>
        </p:spPr>
        <p:txBody>
          <a:bodyPr wrap="square" lIns="0" tIns="0" rIns="0" bIns="0" rtlCol="0" anchor="t"/>
          <a:lstStyle/>
          <a:p>
            <a:pPr indent="0" marL="0">
              <a:buNone/>
            </a:pPr>
            <a:r>
              <a:rPr lang="en-US" sz="1250" dirty="0">
                <a:solidFill>
                  <a:srgbClr val="5A6484"/>
                </a:solidFill>
                <a:latin typeface="Arial" pitchFamily="34" charset="0"/>
                <a:ea typeface="Arial" pitchFamily="34" charset="-122"/>
                <a:cs typeface="Arial" pitchFamily="34" charset="-120"/>
              </a:rPr>
              <a:t>Every set measured the same way, on the atlas’s own 400 m rule — so these counts match the map.</a:t>
            </a:r>
            <a:endParaRPr lang="en-US" sz="1250" dirty="0"/>
          </a:p>
        </p:txBody>
      </p:sp>
      <p:sp>
        <p:nvSpPr>
          <p:cNvPr id="6" name="Text 4"/>
          <p:cNvSpPr/>
          <p:nvPr/>
        </p:nvSpPr>
        <p:spPr>
          <a:xfrm>
            <a:off x="9464040" y="6428232"/>
            <a:ext cx="2221992" cy="310896"/>
          </a:xfrm>
          <a:prstGeom prst="rect">
            <a:avLst/>
          </a:prstGeom>
          <a:noFill/>
          <a:ln/>
        </p:spPr>
        <p:txBody>
          <a:bodyPr wrap="square" lIns="0" tIns="0" rIns="0" bIns="0" rtlCol="0" anchor="ctr"/>
          <a:lstStyle/>
          <a:p>
            <a:pPr algn="r" indent="0" marL="0">
              <a:buNone/>
            </a:pPr>
            <a:r>
              <a:rPr lang="en-US" sz="1150" b="1" i="1" spc="100" kern="0" dirty="0">
                <a:solidFill>
                  <a:srgbClr val="1B2D8A"/>
                </a:solidFill>
                <a:latin typeface="Arial" pitchFamily="34" charset="0"/>
                <a:ea typeface="Arial" pitchFamily="34" charset="-122"/>
                <a:cs typeface="Arial" pitchFamily="34" charset="-120"/>
              </a:rPr>
              <a:t>MOOVE MEDIA</a:t>
            </a:r>
            <a:endParaRPr lang="en-US" sz="1150" dirty="0"/>
          </a:p>
        </p:txBody>
      </p:sp>
      <p:sp>
        <p:nvSpPr>
          <p:cNvPr id="7" name="Text 5"/>
          <p:cNvSpPr/>
          <p:nvPr/>
        </p:nvSpPr>
        <p:spPr>
          <a:xfrm>
            <a:off x="484632" y="6428232"/>
            <a:ext cx="548640" cy="310896"/>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3</a:t>
            </a:r>
            <a:endParaRPr lang="en-US" sz="1000" dirty="0"/>
          </a:p>
        </p:txBody>
      </p:sp>
      <p:sp>
        <p:nvSpPr>
          <p:cNvPr id="8" name="Shape 6"/>
          <p:cNvSpPr/>
          <p:nvPr/>
        </p:nvSpPr>
        <p:spPr>
          <a:xfrm>
            <a:off x="502920" y="1965960"/>
            <a:ext cx="5431536" cy="2057400"/>
          </a:xfrm>
          <a:prstGeom prst="roundRect">
            <a:avLst>
              <a:gd name="adj" fmla="val 4000"/>
            </a:avLst>
          </a:prstGeom>
          <a:solidFill>
            <a:srgbClr val="FFFFFF"/>
          </a:solidFill>
          <a:ln w="12700">
            <a:solidFill>
              <a:srgbClr val="D8DDE9"/>
            </a:solidFill>
            <a:prstDash val="solid"/>
          </a:ln>
        </p:spPr>
      </p:sp>
      <p:sp>
        <p:nvSpPr>
          <p:cNvPr id="9" name="Shape 7"/>
          <p:cNvSpPr/>
          <p:nvPr/>
        </p:nvSpPr>
        <p:spPr>
          <a:xfrm>
            <a:off x="777240" y="2212848"/>
            <a:ext cx="914400" cy="310896"/>
          </a:xfrm>
          <a:prstGeom prst="roundRect">
            <a:avLst>
              <a:gd name="adj" fmla="val 50000"/>
            </a:avLst>
          </a:prstGeom>
          <a:solidFill>
            <a:srgbClr val="F0245E"/>
          </a:solidFill>
          <a:ln/>
        </p:spPr>
      </p:sp>
      <p:sp>
        <p:nvSpPr>
          <p:cNvPr id="10" name="Text 8"/>
          <p:cNvSpPr/>
          <p:nvPr/>
        </p:nvSpPr>
        <p:spPr>
          <a:xfrm>
            <a:off x="777240" y="2212848"/>
            <a:ext cx="914400" cy="310896"/>
          </a:xfrm>
          <a:prstGeom prst="rect">
            <a:avLst/>
          </a:prstGeom>
          <a:noFill/>
          <a:ln/>
        </p:spPr>
        <p:txBody>
          <a:bodyPr wrap="square" lIns="0" tIns="0" rIns="0" bIns="0" rtlCol="0" anchor="ctr"/>
          <a:lstStyle/>
          <a:p>
            <a:pPr algn="ctr" indent="0" marL="0">
              <a:buNone/>
            </a:pPr>
            <a:r>
              <a:rPr lang="en-US" sz="900" b="1" spc="130" kern="0" dirty="0">
                <a:solidFill>
                  <a:srgbClr val="FFFFFF"/>
                </a:solidFill>
                <a:latin typeface="Arial" pitchFamily="34" charset="0"/>
                <a:ea typeface="Arial" pitchFamily="34" charset="-122"/>
                <a:cs typeface="Arial" pitchFamily="34" charset="-120"/>
              </a:rPr>
              <a:t>PLACES</a:t>
            </a:r>
            <a:endParaRPr lang="en-US" sz="900" dirty="0"/>
          </a:p>
        </p:txBody>
      </p:sp>
      <p:sp>
        <p:nvSpPr>
          <p:cNvPr id="11" name="Text 9"/>
          <p:cNvSpPr/>
          <p:nvPr/>
        </p:nvSpPr>
        <p:spPr>
          <a:xfrm>
            <a:off x="777240" y="2633472"/>
            <a:ext cx="4882896" cy="347472"/>
          </a:xfrm>
          <a:prstGeom prst="rect">
            <a:avLst/>
          </a:prstGeom>
          <a:noFill/>
          <a:ln/>
        </p:spPr>
        <p:txBody>
          <a:bodyPr wrap="square" lIns="0" tIns="0" rIns="0" bIns="0" rtlCol="0" anchor="ctr"/>
          <a:lstStyle/>
          <a:p>
            <a:pPr indent="0" marL="0">
              <a:buNone/>
            </a:pPr>
            <a:r>
              <a:rPr lang="en-US" sz="1400" b="1" dirty="0">
                <a:solidFill>
                  <a:srgbClr val="1B2D8A"/>
                </a:solidFill>
                <a:latin typeface="Arial" pitchFamily="34" charset="0"/>
                <a:ea typeface="Arial" pitchFamily="34" charset="-122"/>
                <a:cs typeface="Arial" pitchFamily="34" charset="-120"/>
              </a:rPr>
              <a:t>Is the ad where this audience gathers?</a:t>
            </a:r>
            <a:endParaRPr lang="en-US" sz="1400" dirty="0"/>
          </a:p>
        </p:txBody>
      </p:sp>
      <p:sp>
        <p:nvSpPr>
          <p:cNvPr id="12" name="Text 10"/>
          <p:cNvSpPr/>
          <p:nvPr/>
        </p:nvSpPr>
        <p:spPr>
          <a:xfrm>
            <a:off x="777240" y="2999232"/>
            <a:ext cx="4882896" cy="868680"/>
          </a:xfrm>
          <a:prstGeom prst="rect">
            <a:avLst/>
          </a:prstGeom>
          <a:noFill/>
          <a:ln/>
        </p:spPr>
        <p:txBody>
          <a:bodyPr wrap="square" lIns="0" tIns="0" rIns="0" bIns="0" rtlCol="0" anchor="ctr"/>
          <a:lstStyle/>
          <a:p>
            <a:pPr indent="0" marL="0">
              <a:buNone/>
            </a:pPr>
            <a:r>
              <a:rPr lang="en-US" sz="1150" dirty="0">
                <a:solidFill>
                  <a:srgbClr val="5A6484"/>
                </a:solidFill>
                <a:latin typeface="Arial" pitchFamily="34" charset="0"/>
                <a:ea typeface="Arial" pitchFamily="34" charset="-122"/>
                <a:cs typeface="Arial" pitchFamily="34" charset="-120"/>
              </a:rPr>
              <a:t>Counted from 37 place layers — schools, eldercare, polyclinics, community clubs, interchanges. Deduplicated across the five routes: a school two buses both pass is one school.</a:t>
            </a:r>
            <a:endParaRPr lang="en-US" sz="1150" dirty="0"/>
          </a:p>
        </p:txBody>
      </p:sp>
      <p:sp>
        <p:nvSpPr>
          <p:cNvPr id="13" name="Shape 11"/>
          <p:cNvSpPr/>
          <p:nvPr/>
        </p:nvSpPr>
        <p:spPr>
          <a:xfrm>
            <a:off x="6254496" y="1965960"/>
            <a:ext cx="5431536" cy="2057400"/>
          </a:xfrm>
          <a:prstGeom prst="roundRect">
            <a:avLst>
              <a:gd name="adj" fmla="val 4000"/>
            </a:avLst>
          </a:prstGeom>
          <a:solidFill>
            <a:srgbClr val="FFFFFF"/>
          </a:solidFill>
          <a:ln w="12700">
            <a:solidFill>
              <a:srgbClr val="D8DDE9"/>
            </a:solidFill>
            <a:prstDash val="solid"/>
          </a:ln>
        </p:spPr>
      </p:sp>
      <p:sp>
        <p:nvSpPr>
          <p:cNvPr id="14" name="Shape 12"/>
          <p:cNvSpPr/>
          <p:nvPr/>
        </p:nvSpPr>
        <p:spPr>
          <a:xfrm>
            <a:off x="6528816" y="2212848"/>
            <a:ext cx="1355141" cy="310896"/>
          </a:xfrm>
          <a:prstGeom prst="roundRect">
            <a:avLst>
              <a:gd name="adj" fmla="val 50000"/>
            </a:avLst>
          </a:prstGeom>
          <a:solidFill>
            <a:srgbClr val="1B2D8A"/>
          </a:solidFill>
          <a:ln/>
        </p:spPr>
      </p:sp>
      <p:sp>
        <p:nvSpPr>
          <p:cNvPr id="15" name="Text 13"/>
          <p:cNvSpPr/>
          <p:nvPr/>
        </p:nvSpPr>
        <p:spPr>
          <a:xfrm>
            <a:off x="6528816" y="2212848"/>
            <a:ext cx="1355141" cy="310896"/>
          </a:xfrm>
          <a:prstGeom prst="rect">
            <a:avLst/>
          </a:prstGeom>
          <a:noFill/>
          <a:ln/>
        </p:spPr>
        <p:txBody>
          <a:bodyPr wrap="square" lIns="0" tIns="0" rIns="0" bIns="0" rtlCol="0" anchor="ctr"/>
          <a:lstStyle/>
          <a:p>
            <a:pPr algn="ctr" indent="0" marL="0">
              <a:buNone/>
            </a:pPr>
            <a:r>
              <a:rPr lang="en-US" sz="900" b="1" spc="130" kern="0" dirty="0">
                <a:solidFill>
                  <a:srgbClr val="FFFFFF"/>
                </a:solidFill>
                <a:latin typeface="Arial" pitchFamily="34" charset="0"/>
                <a:ea typeface="Arial" pitchFamily="34" charset="-122"/>
                <a:cs typeface="Arial" pitchFamily="34" charset="-120"/>
              </a:rPr>
              <a:t>IMPRESSIONS</a:t>
            </a:r>
            <a:endParaRPr lang="en-US" sz="900" dirty="0"/>
          </a:p>
        </p:txBody>
      </p:sp>
      <p:sp>
        <p:nvSpPr>
          <p:cNvPr id="16" name="Text 14"/>
          <p:cNvSpPr/>
          <p:nvPr/>
        </p:nvSpPr>
        <p:spPr>
          <a:xfrm>
            <a:off x="6528816" y="2633472"/>
            <a:ext cx="4882896" cy="347472"/>
          </a:xfrm>
          <a:prstGeom prst="rect">
            <a:avLst/>
          </a:prstGeom>
          <a:noFill/>
          <a:ln/>
        </p:spPr>
        <p:txBody>
          <a:bodyPr wrap="square" lIns="0" tIns="0" rIns="0" bIns="0" rtlCol="0" anchor="ctr"/>
          <a:lstStyle/>
          <a:p>
            <a:pPr indent="0" marL="0">
              <a:buNone/>
            </a:pPr>
            <a:r>
              <a:rPr lang="en-US" sz="1400" b="1" dirty="0">
                <a:solidFill>
                  <a:srgbClr val="1B2D8A"/>
                </a:solidFill>
                <a:latin typeface="Arial" pitchFamily="34" charset="0"/>
                <a:ea typeface="Arial" pitchFamily="34" charset="-122"/>
                <a:cs typeface="Arial" pitchFamily="34" charset="-120"/>
              </a:rPr>
              <a:t>How many of that audience actually see it?</a:t>
            </a:r>
            <a:endParaRPr lang="en-US" sz="1400" dirty="0"/>
          </a:p>
        </p:txBody>
      </p:sp>
      <p:sp>
        <p:nvSpPr>
          <p:cNvPr id="17" name="Text 15"/>
          <p:cNvSpPr/>
          <p:nvPr/>
        </p:nvSpPr>
        <p:spPr>
          <a:xfrm>
            <a:off x="6528816" y="2999232"/>
            <a:ext cx="4882896" cy="868680"/>
          </a:xfrm>
          <a:prstGeom prst="rect">
            <a:avLst/>
          </a:prstGeom>
          <a:noFill/>
          <a:ln/>
        </p:spPr>
        <p:txBody>
          <a:bodyPr wrap="square" lIns="0" tIns="0" rIns="0" bIns="0" rtlCol="0" anchor="ctr"/>
          <a:lstStyle/>
          <a:p>
            <a:pPr indent="0" marL="0">
              <a:buNone/>
            </a:pPr>
            <a:r>
              <a:rPr lang="en-US" sz="1150" dirty="0">
                <a:solidFill>
                  <a:srgbClr val="5A6484"/>
                </a:solidFill>
                <a:latin typeface="Arial" pitchFamily="34" charset="0"/>
                <a:ea typeface="Arial" pitchFamily="34" charset="-122"/>
                <a:cs typeface="Arial" pitchFamily="34" charset="-120"/>
              </a:rPr>
              <a:t>Weekday boardings at each stop, weighted by that cohort’s share of the stop’s planning area.</a:t>
            </a:r>
            <a:endParaRPr lang="en-US" sz="1150" dirty="0"/>
          </a:p>
        </p:txBody>
      </p:sp>
      <p:sp>
        <p:nvSpPr>
          <p:cNvPr id="18" name="Shape 16"/>
          <p:cNvSpPr/>
          <p:nvPr/>
        </p:nvSpPr>
        <p:spPr>
          <a:xfrm>
            <a:off x="502920" y="4224528"/>
            <a:ext cx="11183112" cy="1024128"/>
          </a:xfrm>
          <a:prstGeom prst="roundRect">
            <a:avLst>
              <a:gd name="adj" fmla="val 8036"/>
            </a:avLst>
          </a:prstGeom>
          <a:solidFill>
            <a:srgbClr val="F5F7FC"/>
          </a:solidFill>
          <a:ln w="12700">
            <a:solidFill>
              <a:srgbClr val="D8DDE9"/>
            </a:solidFill>
            <a:prstDash val="solid"/>
          </a:ln>
        </p:spPr>
      </p:sp>
      <p:sp>
        <p:nvSpPr>
          <p:cNvPr id="19" name="Text 17"/>
          <p:cNvSpPr/>
          <p:nvPr/>
        </p:nvSpPr>
        <p:spPr>
          <a:xfrm>
            <a:off x="795528" y="4370832"/>
            <a:ext cx="2743200" cy="292608"/>
          </a:xfrm>
          <a:prstGeom prst="rect">
            <a:avLst/>
          </a:prstGeom>
          <a:noFill/>
          <a:ln/>
        </p:spPr>
        <p:txBody>
          <a:bodyPr wrap="square" lIns="0" tIns="0" rIns="0" bIns="0" rtlCol="0" anchor="ctr"/>
          <a:lstStyle/>
          <a:p>
            <a:pPr indent="0" marL="0">
              <a:buNone/>
            </a:pPr>
            <a:r>
              <a:rPr lang="en-US" sz="1250" b="1" dirty="0">
                <a:solidFill>
                  <a:srgbClr val="1B2D8A"/>
                </a:solidFill>
                <a:latin typeface="Arial" pitchFamily="34" charset="0"/>
                <a:ea typeface="Arial" pitchFamily="34" charset="-122"/>
                <a:cs typeface="Arial" pitchFamily="34" charset="-120"/>
              </a:rPr>
              <a:t>Why both halves</a:t>
            </a:r>
            <a:endParaRPr lang="en-US" sz="1250" dirty="0"/>
          </a:p>
        </p:txBody>
      </p:sp>
      <p:sp>
        <p:nvSpPr>
          <p:cNvPr id="20" name="Text 18"/>
          <p:cNvSpPr/>
          <p:nvPr/>
        </p:nvSpPr>
        <p:spPr>
          <a:xfrm>
            <a:off x="795528" y="4663440"/>
            <a:ext cx="10607040" cy="512064"/>
          </a:xfrm>
          <a:prstGeom prst="rect">
            <a:avLst/>
          </a:prstGeom>
          <a:noFill/>
          <a:ln/>
        </p:spPr>
        <p:txBody>
          <a:bodyPr wrap="square" lIns="0" tIns="0" rIns="0" bIns="0" rtlCol="0" anchor="ctr"/>
          <a:lstStyle/>
          <a:p>
            <a:pPr indent="0" marL="0">
              <a:buNone/>
            </a:pPr>
            <a:r>
              <a:rPr lang="en-US" sz="1150" dirty="0">
                <a:solidFill>
                  <a:srgbClr val="5A6484"/>
                </a:solidFill>
                <a:latin typeface="Arial" pitchFamily="34" charset="0"/>
                <a:ea typeface="Arial" pitchFamily="34" charset="-122"/>
                <a:cs typeface="Arial" pitchFamily="34" charset="-120"/>
              </a:rPr>
              <a:t>Places alone would rank ten quiet schools above one packed interchange. Boardings alone would put every CBD route on top and ignore the brief entirely. Each audience is scored 50 / 50, and the best set in each column is indexed to 100.</a:t>
            </a:r>
            <a:endParaRPr lang="en-US" sz="1150" dirty="0"/>
          </a:p>
        </p:txBody>
      </p:sp>
      <p:sp>
        <p:nvSpPr>
          <p:cNvPr id="21" name="Text 19"/>
          <p:cNvSpPr/>
          <p:nvPr/>
        </p:nvSpPr>
        <p:spPr>
          <a:xfrm>
            <a:off x="502920" y="5486400"/>
            <a:ext cx="10607040" cy="365760"/>
          </a:xfrm>
          <a:prstGeom prst="rect">
            <a:avLst/>
          </a:prstGeom>
          <a:noFill/>
          <a:ln/>
        </p:spPr>
        <p:txBody>
          <a:bodyPr wrap="square" lIns="0" tIns="0" rIns="0" bIns="0" rtlCol="0" anchor="ctr"/>
          <a:lstStyle/>
          <a:p>
            <a:pPr indent="0" marL="0">
              <a:buNone/>
            </a:pPr>
            <a:r>
              <a:rPr lang="en-US" sz="950" i="1" dirty="0">
                <a:solidFill>
                  <a:srgbClr val="5A6484"/>
                </a:solidFill>
                <a:latin typeface="Arial" pitchFamily="34" charset="0"/>
                <a:ea typeface="Arial" pitchFamily="34" charset="-122"/>
                <a:cs typeface="Arial" pitchFamily="34" charset="-120"/>
              </a:rPr>
              <a:t>Sources — LTA DataMall passenger volume · SingStat Census 2020 · MOE school registry · 5,880 places across 37 layers, verified 13 Aug 2026.</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2008022" cy="310896"/>
          </a:xfrm>
          <a:prstGeom prst="roundRect">
            <a:avLst>
              <a:gd name="adj" fmla="val 50000"/>
            </a:avLst>
          </a:prstGeom>
          <a:solidFill>
            <a:srgbClr val="F0245E"/>
          </a:solidFill>
          <a:ln/>
        </p:spPr>
      </p:sp>
      <p:sp>
        <p:nvSpPr>
          <p:cNvPr id="3" name="Text 1"/>
          <p:cNvSpPr/>
          <p:nvPr/>
        </p:nvSpPr>
        <p:spPr>
          <a:xfrm>
            <a:off x="502920" y="329184"/>
            <a:ext cx="2008022" cy="310896"/>
          </a:xfrm>
          <a:prstGeom prst="rect">
            <a:avLst/>
          </a:prstGeom>
          <a:noFill/>
          <a:ln/>
        </p:spPr>
        <p:txBody>
          <a:bodyPr wrap="square" lIns="0" tIns="0" rIns="0" bIns="0" rtlCol="0" anchor="ctr"/>
          <a:lstStyle/>
          <a:p>
            <a:pPr algn="ctr" indent="0" marL="0">
              <a:buNone/>
            </a:pPr>
            <a:r>
              <a:rPr lang="en-US" sz="950" b="1" spc="130" kern="0" dirty="0">
                <a:solidFill>
                  <a:srgbClr val="FFFFFF"/>
                </a:solidFill>
                <a:latin typeface="Arial" pitchFamily="34" charset="0"/>
                <a:ea typeface="Arial" pitchFamily="34" charset="-122"/>
                <a:cs typeface="Arial" pitchFamily="34" charset="-120"/>
              </a:rPr>
              <a:t>DBP C2 · SHORTLIST</a:t>
            </a:r>
            <a:endParaRPr lang="en-US" sz="950" dirty="0"/>
          </a:p>
        </p:txBody>
      </p:sp>
      <p:sp>
        <p:nvSpPr>
          <p:cNvPr id="4" name="Text 2"/>
          <p:cNvSpPr/>
          <p:nvPr/>
        </p:nvSpPr>
        <p:spPr>
          <a:xfrm>
            <a:off x="484632" y="749808"/>
            <a:ext cx="10607040" cy="566928"/>
          </a:xfrm>
          <a:prstGeom prst="rect">
            <a:avLst/>
          </a:prstGeom>
          <a:noFill/>
          <a:ln/>
        </p:spPr>
        <p:txBody>
          <a:bodyPr wrap="square" lIns="0" tIns="0" rIns="0" bIns="0" rtlCol="0" anchor="ctr"/>
          <a:lstStyle/>
          <a:p>
            <a:pPr indent="0" marL="0">
              <a:buNone/>
            </a:pPr>
            <a:r>
              <a:rPr lang="en-US" sz="3000" b="1" dirty="0">
                <a:solidFill>
                  <a:srgbClr val="1B2D8A"/>
                </a:solidFill>
                <a:latin typeface="Arial" pitchFamily="34" charset="0"/>
                <a:ea typeface="Arial" pitchFamily="34" charset="-122"/>
                <a:cs typeface="Arial" pitchFamily="34" charset="-120"/>
              </a:rPr>
              <a:t>Four sets, scored side by side</a:t>
            </a:r>
            <a:endParaRPr lang="en-US" sz="3000" dirty="0"/>
          </a:p>
        </p:txBody>
      </p:sp>
      <p:sp>
        <p:nvSpPr>
          <p:cNvPr id="5" name="Text 3"/>
          <p:cNvSpPr/>
          <p:nvPr/>
        </p:nvSpPr>
        <p:spPr>
          <a:xfrm>
            <a:off x="484632" y="1316736"/>
            <a:ext cx="10424160" cy="365760"/>
          </a:xfrm>
          <a:prstGeom prst="rect">
            <a:avLst/>
          </a:prstGeom>
          <a:noFill/>
          <a:ln/>
        </p:spPr>
        <p:txBody>
          <a:bodyPr wrap="square" lIns="0" tIns="0" rIns="0" bIns="0" rtlCol="0" anchor="t"/>
          <a:lstStyle/>
          <a:p>
            <a:pPr indent="0" marL="0">
              <a:buNone/>
            </a:pPr>
            <a:r>
              <a:rPr lang="en-US" sz="1250" dirty="0">
                <a:solidFill>
                  <a:srgbClr val="5A6484"/>
                </a:solidFill>
                <a:latin typeface="Arial" pitchFamily="34" charset="0"/>
                <a:ea typeface="Arial" pitchFamily="34" charset="-122"/>
                <a:cs typeface="Arial" pitchFamily="34" charset="-120"/>
              </a:rPr>
              <a:t>Overall index — the mean of the five audience columns. Best set in each column = 100.</a:t>
            </a:r>
            <a:endParaRPr lang="en-US" sz="1250" dirty="0"/>
          </a:p>
        </p:txBody>
      </p:sp>
      <p:sp>
        <p:nvSpPr>
          <p:cNvPr id="6" name="Text 4"/>
          <p:cNvSpPr/>
          <p:nvPr/>
        </p:nvSpPr>
        <p:spPr>
          <a:xfrm>
            <a:off x="9464040" y="6428232"/>
            <a:ext cx="2221992" cy="310896"/>
          </a:xfrm>
          <a:prstGeom prst="rect">
            <a:avLst/>
          </a:prstGeom>
          <a:noFill/>
          <a:ln/>
        </p:spPr>
        <p:txBody>
          <a:bodyPr wrap="square" lIns="0" tIns="0" rIns="0" bIns="0" rtlCol="0" anchor="ctr"/>
          <a:lstStyle/>
          <a:p>
            <a:pPr algn="r" indent="0" marL="0">
              <a:buNone/>
            </a:pPr>
            <a:r>
              <a:rPr lang="en-US" sz="1150" b="1" i="1" spc="100" kern="0" dirty="0">
                <a:solidFill>
                  <a:srgbClr val="1B2D8A"/>
                </a:solidFill>
                <a:latin typeface="Arial" pitchFamily="34" charset="0"/>
                <a:ea typeface="Arial" pitchFamily="34" charset="-122"/>
                <a:cs typeface="Arial" pitchFamily="34" charset="-120"/>
              </a:rPr>
              <a:t>MOOVE MEDIA</a:t>
            </a:r>
            <a:endParaRPr lang="en-US" sz="1150" dirty="0"/>
          </a:p>
        </p:txBody>
      </p:sp>
      <p:sp>
        <p:nvSpPr>
          <p:cNvPr id="7" name="Text 5"/>
          <p:cNvSpPr/>
          <p:nvPr/>
        </p:nvSpPr>
        <p:spPr>
          <a:xfrm>
            <a:off x="484632" y="6428232"/>
            <a:ext cx="548640" cy="310896"/>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4</a:t>
            </a:r>
            <a:endParaRPr lang="en-US" sz="1000" dirty="0"/>
          </a:p>
        </p:txBody>
      </p:sp>
      <p:graphicFrame>
        <p:nvGraphicFramePr>
          <p:cNvPr id="8" name="Chart 0" descr=""/>
          <p:cNvGraphicFramePr/>
          <p:nvPr/>
        </p:nvGraphicFramePr>
        <p:xfrm>
          <a:off x="502920" y="1874520"/>
          <a:ext cx="5943600" cy="3657600"/>
        </p:xfrm>
        <a:graphic xmlns:a="http://schemas.openxmlformats.org/drawingml/2006/main">
          <a:graphicData uri="http://schemas.openxmlformats.org/drawingml/2006/chart">
            <c:chart xmlns:c="http://schemas.openxmlformats.org/drawingml/2006/chart" r:id="rId1"/>
          </a:graphicData>
        </a:graphic>
      </p:graphicFrame>
      <p:sp>
        <p:nvSpPr>
          <p:cNvPr id="9" name="Text 6"/>
          <p:cNvSpPr/>
          <p:nvPr/>
        </p:nvSpPr>
        <p:spPr>
          <a:xfrm>
            <a:off x="6720840" y="1874520"/>
            <a:ext cx="1234440" cy="365760"/>
          </a:xfrm>
          <a:prstGeom prst="rect">
            <a:avLst/>
          </a:prstGeom>
          <a:noFill/>
          <a:ln/>
        </p:spPr>
        <p:txBody>
          <a:bodyPr wrap="square" lIns="0" tIns="0" rIns="0" bIns="0" rtlCol="0" anchor="ctr"/>
          <a:lstStyle/>
          <a:p>
            <a:pPr algn="l" indent="0" marL="0">
              <a:buNone/>
            </a:pPr>
            <a:endParaRPr lang="en-US" sz="950" dirty="0"/>
          </a:p>
        </p:txBody>
      </p:sp>
      <p:sp>
        <p:nvSpPr>
          <p:cNvPr id="10" name="Text 7"/>
          <p:cNvSpPr/>
          <p:nvPr/>
        </p:nvSpPr>
        <p:spPr>
          <a:xfrm>
            <a:off x="7955280" y="1874520"/>
            <a:ext cx="841248" cy="365760"/>
          </a:xfrm>
          <a:prstGeom prst="rect">
            <a:avLst/>
          </a:prstGeom>
          <a:noFill/>
          <a:ln/>
        </p:spPr>
        <p:txBody>
          <a:bodyPr wrap="square" lIns="0" tIns="0" rIns="0" bIns="0" rtlCol="0" anchor="ctr"/>
          <a:lstStyle/>
          <a:p>
            <a:pPr algn="ctr" indent="0" marL="0">
              <a:buNone/>
            </a:pPr>
            <a:r>
              <a:rPr lang="en-US" sz="950" b="1" dirty="0">
                <a:solidFill>
                  <a:srgbClr val="5A6484"/>
                </a:solidFill>
                <a:latin typeface="Arial" pitchFamily="34" charset="0"/>
                <a:ea typeface="Arial" pitchFamily="34" charset="-122"/>
                <a:cs typeface="Arial" pitchFamily="34" charset="-120"/>
              </a:rPr>
              <a:t>Child</a:t>
            </a:r>
            <a:endParaRPr lang="en-US" sz="950" dirty="0"/>
          </a:p>
        </p:txBody>
      </p:sp>
      <p:sp>
        <p:nvSpPr>
          <p:cNvPr id="11" name="Text 8"/>
          <p:cNvSpPr/>
          <p:nvPr/>
        </p:nvSpPr>
        <p:spPr>
          <a:xfrm>
            <a:off x="8796528" y="1874520"/>
            <a:ext cx="896112" cy="365760"/>
          </a:xfrm>
          <a:prstGeom prst="rect">
            <a:avLst/>
          </a:prstGeom>
          <a:noFill/>
          <a:ln/>
        </p:spPr>
        <p:txBody>
          <a:bodyPr wrap="square" lIns="0" tIns="0" rIns="0" bIns="0" rtlCol="0" anchor="ctr"/>
          <a:lstStyle/>
          <a:p>
            <a:pPr algn="ctr" indent="0" marL="0">
              <a:buNone/>
            </a:pPr>
            <a:r>
              <a:rPr lang="en-US" sz="950" b="1" dirty="0">
                <a:solidFill>
                  <a:srgbClr val="5A6484"/>
                </a:solidFill>
                <a:latin typeface="Arial" pitchFamily="34" charset="0"/>
                <a:ea typeface="Arial" pitchFamily="34" charset="-122"/>
                <a:cs typeface="Arial" pitchFamily="34" charset="-120"/>
              </a:rPr>
              <a:t>Senior</a:t>
            </a:r>
            <a:endParaRPr lang="en-US" sz="950" dirty="0"/>
          </a:p>
        </p:txBody>
      </p:sp>
      <p:sp>
        <p:nvSpPr>
          <p:cNvPr id="12" name="Text 9"/>
          <p:cNvSpPr/>
          <p:nvPr/>
        </p:nvSpPr>
        <p:spPr>
          <a:xfrm>
            <a:off x="9692640" y="1874520"/>
            <a:ext cx="822960" cy="365760"/>
          </a:xfrm>
          <a:prstGeom prst="rect">
            <a:avLst/>
          </a:prstGeom>
          <a:noFill/>
          <a:ln/>
        </p:spPr>
        <p:txBody>
          <a:bodyPr wrap="square" lIns="0" tIns="0" rIns="0" bIns="0" rtlCol="0" anchor="ctr"/>
          <a:lstStyle/>
          <a:p>
            <a:pPr algn="ctr" indent="0" marL="0">
              <a:buNone/>
            </a:pPr>
            <a:r>
              <a:rPr lang="en-US" sz="950" b="1" dirty="0">
                <a:solidFill>
                  <a:srgbClr val="5A6484"/>
                </a:solidFill>
                <a:latin typeface="Arial" pitchFamily="34" charset="0"/>
                <a:ea typeface="Arial" pitchFamily="34" charset="-122"/>
                <a:cs typeface="Arial" pitchFamily="34" charset="-120"/>
              </a:rPr>
              <a:t>Work</a:t>
            </a:r>
            <a:endParaRPr lang="en-US" sz="950" dirty="0"/>
          </a:p>
        </p:txBody>
      </p:sp>
      <p:sp>
        <p:nvSpPr>
          <p:cNvPr id="13" name="Text 10"/>
          <p:cNvSpPr/>
          <p:nvPr/>
        </p:nvSpPr>
        <p:spPr>
          <a:xfrm>
            <a:off x="10515600" y="1874520"/>
            <a:ext cx="822960" cy="365760"/>
          </a:xfrm>
          <a:prstGeom prst="rect">
            <a:avLst/>
          </a:prstGeom>
          <a:noFill/>
          <a:ln/>
        </p:spPr>
        <p:txBody>
          <a:bodyPr wrap="square" lIns="0" tIns="0" rIns="0" bIns="0" rtlCol="0" anchor="ctr"/>
          <a:lstStyle/>
          <a:p>
            <a:pPr algn="ctr" indent="0" marL="0">
              <a:buNone/>
            </a:pPr>
            <a:r>
              <a:rPr lang="en-US" sz="950" b="1" dirty="0">
                <a:solidFill>
                  <a:srgbClr val="5A6484"/>
                </a:solidFill>
                <a:latin typeface="Arial" pitchFamily="34" charset="0"/>
                <a:ea typeface="Arial" pitchFamily="34" charset="-122"/>
                <a:cs typeface="Arial" pitchFamily="34" charset="-120"/>
              </a:rPr>
              <a:t>Sand.</a:t>
            </a:r>
            <a:endParaRPr lang="en-US" sz="950" dirty="0"/>
          </a:p>
        </p:txBody>
      </p:sp>
      <p:sp>
        <p:nvSpPr>
          <p:cNvPr id="14" name="Text 11"/>
          <p:cNvSpPr/>
          <p:nvPr/>
        </p:nvSpPr>
        <p:spPr>
          <a:xfrm>
            <a:off x="11338560" y="1874520"/>
            <a:ext cx="850392" cy="365760"/>
          </a:xfrm>
          <a:prstGeom prst="rect">
            <a:avLst/>
          </a:prstGeom>
          <a:noFill/>
          <a:ln/>
        </p:spPr>
        <p:txBody>
          <a:bodyPr wrap="square" lIns="0" tIns="0" rIns="0" bIns="0" rtlCol="0" anchor="ctr"/>
          <a:lstStyle/>
          <a:p>
            <a:pPr algn="ctr" indent="0" marL="0">
              <a:buNone/>
            </a:pPr>
            <a:r>
              <a:rPr lang="en-US" sz="950" b="1" dirty="0">
                <a:solidFill>
                  <a:srgbClr val="5A6484"/>
                </a:solidFill>
                <a:latin typeface="Arial" pitchFamily="34" charset="0"/>
                <a:ea typeface="Arial" pitchFamily="34" charset="-122"/>
                <a:cs typeface="Arial" pitchFamily="34" charset="-120"/>
              </a:rPr>
              <a:t>Youth</a:t>
            </a:r>
            <a:endParaRPr lang="en-US" sz="950" dirty="0"/>
          </a:p>
        </p:txBody>
      </p:sp>
      <p:sp>
        <p:nvSpPr>
          <p:cNvPr id="15" name="Shape 12"/>
          <p:cNvSpPr/>
          <p:nvPr/>
        </p:nvSpPr>
        <p:spPr>
          <a:xfrm>
            <a:off x="6720840" y="2249424"/>
            <a:ext cx="5166360" cy="0"/>
          </a:xfrm>
          <a:prstGeom prst="line">
            <a:avLst/>
          </a:prstGeom>
          <a:noFill/>
          <a:ln w="12700">
            <a:solidFill>
              <a:srgbClr val="D8DDE9"/>
            </a:solidFill>
            <a:prstDash val="solid"/>
          </a:ln>
        </p:spPr>
      </p:sp>
      <p:sp>
        <p:nvSpPr>
          <p:cNvPr id="16" name="Text 13"/>
          <p:cNvSpPr/>
          <p:nvPr/>
        </p:nvSpPr>
        <p:spPr>
          <a:xfrm>
            <a:off x="6720840" y="2331720"/>
            <a:ext cx="1234440" cy="365760"/>
          </a:xfrm>
          <a:prstGeom prst="rect">
            <a:avLst/>
          </a:prstGeom>
          <a:noFill/>
          <a:ln/>
        </p:spPr>
        <p:txBody>
          <a:bodyPr wrap="square" lIns="0" tIns="0" rIns="0" bIns="0" rtlCol="0" anchor="ctr"/>
          <a:lstStyle/>
          <a:p>
            <a:pPr algn="l" indent="0" marL="0">
              <a:buNone/>
            </a:pPr>
            <a:r>
              <a:rPr lang="en-US" sz="1150" dirty="0">
                <a:solidFill>
                  <a:srgbClr val="14204A"/>
                </a:solidFill>
                <a:latin typeface="Arial" pitchFamily="34" charset="0"/>
                <a:ea typeface="Arial" pitchFamily="34" charset="-122"/>
                <a:cs typeface="Arial" pitchFamily="34" charset="-120"/>
              </a:rPr>
              <a:t>Set 1</a:t>
            </a:r>
            <a:endParaRPr lang="en-US" sz="1150" dirty="0"/>
          </a:p>
        </p:txBody>
      </p:sp>
      <p:sp>
        <p:nvSpPr>
          <p:cNvPr id="17" name="Text 14"/>
          <p:cNvSpPr/>
          <p:nvPr/>
        </p:nvSpPr>
        <p:spPr>
          <a:xfrm>
            <a:off x="7955280" y="2331720"/>
            <a:ext cx="841248" cy="365760"/>
          </a:xfrm>
          <a:prstGeom prst="rect">
            <a:avLst/>
          </a:prstGeom>
          <a:noFill/>
          <a:ln/>
        </p:spPr>
        <p:txBody>
          <a:bodyPr wrap="square" lIns="0" tIns="0" rIns="0" bIns="0" rtlCol="0" anchor="ctr"/>
          <a:lstStyle/>
          <a:p>
            <a:pPr algn="ctr" indent="0" marL="0">
              <a:buNone/>
            </a:pPr>
            <a:r>
              <a:rPr lang="en-US" sz="1150" dirty="0">
                <a:solidFill>
                  <a:srgbClr val="14204A"/>
                </a:solidFill>
                <a:latin typeface="Arial" pitchFamily="34" charset="0"/>
                <a:ea typeface="Arial" pitchFamily="34" charset="-122"/>
                <a:cs typeface="Arial" pitchFamily="34" charset="-120"/>
              </a:rPr>
              <a:t>92.7</a:t>
            </a:r>
            <a:endParaRPr lang="en-US" sz="1150" dirty="0"/>
          </a:p>
        </p:txBody>
      </p:sp>
      <p:sp>
        <p:nvSpPr>
          <p:cNvPr id="18" name="Text 15"/>
          <p:cNvSpPr/>
          <p:nvPr/>
        </p:nvSpPr>
        <p:spPr>
          <a:xfrm>
            <a:off x="8796528" y="2331720"/>
            <a:ext cx="896112" cy="365760"/>
          </a:xfrm>
          <a:prstGeom prst="rect">
            <a:avLst/>
          </a:prstGeom>
          <a:noFill/>
          <a:ln/>
        </p:spPr>
        <p:txBody>
          <a:bodyPr wrap="square" lIns="0" tIns="0" rIns="0" bIns="0" rtlCol="0" anchor="ctr"/>
          <a:lstStyle/>
          <a:p>
            <a:pPr algn="ctr" indent="0" marL="0">
              <a:buNone/>
            </a:pPr>
            <a:r>
              <a:rPr lang="en-US" sz="1150" dirty="0">
                <a:solidFill>
                  <a:srgbClr val="14204A"/>
                </a:solidFill>
                <a:latin typeface="Arial" pitchFamily="34" charset="0"/>
                <a:ea typeface="Arial" pitchFamily="34" charset="-122"/>
                <a:cs typeface="Arial" pitchFamily="34" charset="-120"/>
              </a:rPr>
              <a:t>67.4</a:t>
            </a:r>
            <a:endParaRPr lang="en-US" sz="1150" dirty="0"/>
          </a:p>
        </p:txBody>
      </p:sp>
      <p:sp>
        <p:nvSpPr>
          <p:cNvPr id="19" name="Text 16"/>
          <p:cNvSpPr/>
          <p:nvPr/>
        </p:nvSpPr>
        <p:spPr>
          <a:xfrm>
            <a:off x="9692640" y="2331720"/>
            <a:ext cx="822960" cy="365760"/>
          </a:xfrm>
          <a:prstGeom prst="rect">
            <a:avLst/>
          </a:prstGeom>
          <a:noFill/>
          <a:ln/>
        </p:spPr>
        <p:txBody>
          <a:bodyPr wrap="square" lIns="0" tIns="0" rIns="0" bIns="0" rtlCol="0" anchor="ctr"/>
          <a:lstStyle/>
          <a:p>
            <a:pPr algn="ctr" indent="0" marL="0">
              <a:buNone/>
            </a:pPr>
            <a:r>
              <a:rPr lang="en-US" sz="1150" dirty="0">
                <a:solidFill>
                  <a:srgbClr val="14204A"/>
                </a:solidFill>
                <a:latin typeface="Arial" pitchFamily="34" charset="0"/>
                <a:ea typeface="Arial" pitchFamily="34" charset="-122"/>
                <a:cs typeface="Arial" pitchFamily="34" charset="-120"/>
              </a:rPr>
              <a:t>82.2</a:t>
            </a:r>
            <a:endParaRPr lang="en-US" sz="1150" dirty="0"/>
          </a:p>
        </p:txBody>
      </p:sp>
      <p:sp>
        <p:nvSpPr>
          <p:cNvPr id="20" name="Text 17"/>
          <p:cNvSpPr/>
          <p:nvPr/>
        </p:nvSpPr>
        <p:spPr>
          <a:xfrm>
            <a:off x="10515600" y="2331720"/>
            <a:ext cx="822960" cy="365760"/>
          </a:xfrm>
          <a:prstGeom prst="rect">
            <a:avLst/>
          </a:prstGeom>
          <a:noFill/>
          <a:ln/>
        </p:spPr>
        <p:txBody>
          <a:bodyPr wrap="square" lIns="0" tIns="0" rIns="0" bIns="0" rtlCol="0" anchor="ctr"/>
          <a:lstStyle/>
          <a:p>
            <a:pPr algn="ctr" indent="0" marL="0">
              <a:buNone/>
            </a:pPr>
            <a:r>
              <a:rPr lang="en-US" sz="1150" dirty="0">
                <a:solidFill>
                  <a:srgbClr val="14204A"/>
                </a:solidFill>
                <a:latin typeface="Arial" pitchFamily="34" charset="0"/>
                <a:ea typeface="Arial" pitchFamily="34" charset="-122"/>
                <a:cs typeface="Arial" pitchFamily="34" charset="-120"/>
              </a:rPr>
              <a:t>74.8</a:t>
            </a:r>
            <a:endParaRPr lang="en-US" sz="1150" dirty="0"/>
          </a:p>
        </p:txBody>
      </p:sp>
      <p:sp>
        <p:nvSpPr>
          <p:cNvPr id="21" name="Text 18"/>
          <p:cNvSpPr/>
          <p:nvPr/>
        </p:nvSpPr>
        <p:spPr>
          <a:xfrm>
            <a:off x="11338560" y="2331720"/>
            <a:ext cx="850392" cy="365760"/>
          </a:xfrm>
          <a:prstGeom prst="rect">
            <a:avLst/>
          </a:prstGeom>
          <a:noFill/>
          <a:ln/>
        </p:spPr>
        <p:txBody>
          <a:bodyPr wrap="square" lIns="0" tIns="0" rIns="0" bIns="0" rtlCol="0" anchor="ctr"/>
          <a:lstStyle/>
          <a:p>
            <a:pPr algn="ctr" indent="0" marL="0">
              <a:buNone/>
            </a:pPr>
            <a:r>
              <a:rPr lang="en-US" sz="1150" dirty="0">
                <a:solidFill>
                  <a:srgbClr val="14204A"/>
                </a:solidFill>
                <a:latin typeface="Arial" pitchFamily="34" charset="0"/>
                <a:ea typeface="Arial" pitchFamily="34" charset="-122"/>
                <a:cs typeface="Arial" pitchFamily="34" charset="-120"/>
              </a:rPr>
              <a:t>87.2</a:t>
            </a:r>
            <a:endParaRPr lang="en-US" sz="1150" dirty="0"/>
          </a:p>
        </p:txBody>
      </p:sp>
      <p:sp>
        <p:nvSpPr>
          <p:cNvPr id="22" name="Text 19"/>
          <p:cNvSpPr/>
          <p:nvPr/>
        </p:nvSpPr>
        <p:spPr>
          <a:xfrm>
            <a:off x="6720840" y="2807208"/>
            <a:ext cx="1234440" cy="365760"/>
          </a:xfrm>
          <a:prstGeom prst="rect">
            <a:avLst/>
          </a:prstGeom>
          <a:noFill/>
          <a:ln/>
        </p:spPr>
        <p:txBody>
          <a:bodyPr wrap="square" lIns="0" tIns="0" rIns="0" bIns="0" rtlCol="0" anchor="ctr"/>
          <a:lstStyle/>
          <a:p>
            <a:pPr algn="l" indent="0" marL="0">
              <a:buNone/>
            </a:pPr>
            <a:r>
              <a:rPr lang="en-US" sz="1150" dirty="0">
                <a:solidFill>
                  <a:srgbClr val="14204A"/>
                </a:solidFill>
                <a:latin typeface="Arial" pitchFamily="34" charset="0"/>
                <a:ea typeface="Arial" pitchFamily="34" charset="-122"/>
                <a:cs typeface="Arial" pitchFamily="34" charset="-120"/>
              </a:rPr>
              <a:t>DBP C1</a:t>
            </a:r>
            <a:endParaRPr lang="en-US" sz="1150" dirty="0"/>
          </a:p>
        </p:txBody>
      </p:sp>
      <p:sp>
        <p:nvSpPr>
          <p:cNvPr id="23" name="Text 20"/>
          <p:cNvSpPr/>
          <p:nvPr/>
        </p:nvSpPr>
        <p:spPr>
          <a:xfrm>
            <a:off x="7955280" y="2807208"/>
            <a:ext cx="841248" cy="365760"/>
          </a:xfrm>
          <a:prstGeom prst="rect">
            <a:avLst/>
          </a:prstGeom>
          <a:noFill/>
          <a:ln/>
        </p:spPr>
        <p:txBody>
          <a:bodyPr wrap="square" lIns="0" tIns="0" rIns="0" bIns="0" rtlCol="0" anchor="ctr"/>
          <a:lstStyle/>
          <a:p>
            <a:pPr algn="ctr" indent="0" marL="0">
              <a:buNone/>
            </a:pPr>
            <a:r>
              <a:rPr lang="en-US" sz="1150" dirty="0">
                <a:solidFill>
                  <a:srgbClr val="14204A"/>
                </a:solidFill>
                <a:latin typeface="Arial" pitchFamily="34" charset="0"/>
                <a:ea typeface="Arial" pitchFamily="34" charset="-122"/>
                <a:cs typeface="Arial" pitchFamily="34" charset="-120"/>
              </a:rPr>
              <a:t>96.5</a:t>
            </a:r>
            <a:endParaRPr lang="en-US" sz="1150" dirty="0"/>
          </a:p>
        </p:txBody>
      </p:sp>
      <p:sp>
        <p:nvSpPr>
          <p:cNvPr id="24" name="Text 21"/>
          <p:cNvSpPr/>
          <p:nvPr/>
        </p:nvSpPr>
        <p:spPr>
          <a:xfrm>
            <a:off x="8796528" y="2807208"/>
            <a:ext cx="896112" cy="365760"/>
          </a:xfrm>
          <a:prstGeom prst="rect">
            <a:avLst/>
          </a:prstGeom>
          <a:noFill/>
          <a:ln/>
        </p:spPr>
        <p:txBody>
          <a:bodyPr wrap="square" lIns="0" tIns="0" rIns="0" bIns="0" rtlCol="0" anchor="ctr"/>
          <a:lstStyle/>
          <a:p>
            <a:pPr algn="ctr" indent="0" marL="0">
              <a:buNone/>
            </a:pPr>
            <a:r>
              <a:rPr lang="en-US" sz="1150" dirty="0">
                <a:solidFill>
                  <a:srgbClr val="14204A"/>
                </a:solidFill>
                <a:latin typeface="Arial" pitchFamily="34" charset="0"/>
                <a:ea typeface="Arial" pitchFamily="34" charset="-122"/>
                <a:cs typeface="Arial" pitchFamily="34" charset="-120"/>
              </a:rPr>
              <a:t>90.6</a:t>
            </a:r>
            <a:endParaRPr lang="en-US" sz="1150" dirty="0"/>
          </a:p>
        </p:txBody>
      </p:sp>
      <p:sp>
        <p:nvSpPr>
          <p:cNvPr id="25" name="Text 22"/>
          <p:cNvSpPr/>
          <p:nvPr/>
        </p:nvSpPr>
        <p:spPr>
          <a:xfrm>
            <a:off x="9692640" y="2807208"/>
            <a:ext cx="822960" cy="365760"/>
          </a:xfrm>
          <a:prstGeom prst="rect">
            <a:avLst/>
          </a:prstGeom>
          <a:noFill/>
          <a:ln/>
        </p:spPr>
        <p:txBody>
          <a:bodyPr wrap="square" lIns="0" tIns="0" rIns="0" bIns="0" rtlCol="0" anchor="ctr"/>
          <a:lstStyle/>
          <a:p>
            <a:pPr algn="ctr" indent="0" marL="0">
              <a:buNone/>
            </a:pPr>
            <a:r>
              <a:rPr lang="en-US" sz="1150" dirty="0">
                <a:solidFill>
                  <a:srgbClr val="14204A"/>
                </a:solidFill>
                <a:latin typeface="Arial" pitchFamily="34" charset="0"/>
                <a:ea typeface="Arial" pitchFamily="34" charset="-122"/>
                <a:cs typeface="Arial" pitchFamily="34" charset="-120"/>
              </a:rPr>
              <a:t>92.9</a:t>
            </a:r>
            <a:endParaRPr lang="en-US" sz="1150" dirty="0"/>
          </a:p>
        </p:txBody>
      </p:sp>
      <p:sp>
        <p:nvSpPr>
          <p:cNvPr id="26" name="Text 23"/>
          <p:cNvSpPr/>
          <p:nvPr/>
        </p:nvSpPr>
        <p:spPr>
          <a:xfrm>
            <a:off x="10515600" y="2807208"/>
            <a:ext cx="822960" cy="365760"/>
          </a:xfrm>
          <a:prstGeom prst="rect">
            <a:avLst/>
          </a:prstGeom>
          <a:noFill/>
          <a:ln/>
        </p:spPr>
        <p:txBody>
          <a:bodyPr wrap="square" lIns="0" tIns="0" rIns="0" bIns="0" rtlCol="0" anchor="ctr"/>
          <a:lstStyle/>
          <a:p>
            <a:pPr algn="ctr" indent="0" marL="0">
              <a:buNone/>
            </a:pPr>
            <a:r>
              <a:rPr lang="en-US" sz="1150" dirty="0">
                <a:solidFill>
                  <a:srgbClr val="14204A"/>
                </a:solidFill>
                <a:latin typeface="Arial" pitchFamily="34" charset="0"/>
                <a:ea typeface="Arial" pitchFamily="34" charset="-122"/>
                <a:cs typeface="Arial" pitchFamily="34" charset="-120"/>
              </a:rPr>
              <a:t>92.7</a:t>
            </a:r>
            <a:endParaRPr lang="en-US" sz="1150" dirty="0"/>
          </a:p>
        </p:txBody>
      </p:sp>
      <p:sp>
        <p:nvSpPr>
          <p:cNvPr id="27" name="Text 24"/>
          <p:cNvSpPr/>
          <p:nvPr/>
        </p:nvSpPr>
        <p:spPr>
          <a:xfrm>
            <a:off x="11338560" y="2807208"/>
            <a:ext cx="850392" cy="365760"/>
          </a:xfrm>
          <a:prstGeom prst="rect">
            <a:avLst/>
          </a:prstGeom>
          <a:noFill/>
          <a:ln/>
        </p:spPr>
        <p:txBody>
          <a:bodyPr wrap="square" lIns="0" tIns="0" rIns="0" bIns="0" rtlCol="0" anchor="ctr"/>
          <a:lstStyle/>
          <a:p>
            <a:pPr algn="ctr" indent="0" marL="0">
              <a:buNone/>
            </a:pPr>
            <a:r>
              <a:rPr lang="en-US" sz="1150" dirty="0">
                <a:solidFill>
                  <a:srgbClr val="14204A"/>
                </a:solidFill>
                <a:latin typeface="Arial" pitchFamily="34" charset="0"/>
                <a:ea typeface="Arial" pitchFamily="34" charset="-122"/>
                <a:cs typeface="Arial" pitchFamily="34" charset="-120"/>
              </a:rPr>
              <a:t>96.4</a:t>
            </a:r>
            <a:endParaRPr lang="en-US" sz="1150" dirty="0"/>
          </a:p>
        </p:txBody>
      </p:sp>
      <p:sp>
        <p:nvSpPr>
          <p:cNvPr id="28" name="Text 25"/>
          <p:cNvSpPr/>
          <p:nvPr/>
        </p:nvSpPr>
        <p:spPr>
          <a:xfrm>
            <a:off x="6720840" y="3282696"/>
            <a:ext cx="1234440" cy="365760"/>
          </a:xfrm>
          <a:prstGeom prst="rect">
            <a:avLst/>
          </a:prstGeom>
          <a:noFill/>
          <a:ln/>
        </p:spPr>
        <p:txBody>
          <a:bodyPr wrap="square" lIns="0" tIns="0" rIns="0" bIns="0" rtlCol="0" anchor="ctr"/>
          <a:lstStyle/>
          <a:p>
            <a:pPr algn="l" indent="0" marL="0">
              <a:buNone/>
            </a:pPr>
            <a:r>
              <a:rPr lang="en-US" sz="1150" dirty="0">
                <a:solidFill>
                  <a:srgbClr val="14204A"/>
                </a:solidFill>
                <a:latin typeface="Arial" pitchFamily="34" charset="0"/>
                <a:ea typeface="Arial" pitchFamily="34" charset="-122"/>
                <a:cs typeface="Arial" pitchFamily="34" charset="-120"/>
              </a:rPr>
              <a:t>DBP L2</a:t>
            </a:r>
            <a:endParaRPr lang="en-US" sz="1150" dirty="0"/>
          </a:p>
        </p:txBody>
      </p:sp>
      <p:sp>
        <p:nvSpPr>
          <p:cNvPr id="29" name="Text 26"/>
          <p:cNvSpPr/>
          <p:nvPr/>
        </p:nvSpPr>
        <p:spPr>
          <a:xfrm>
            <a:off x="7955280" y="3282696"/>
            <a:ext cx="841248" cy="365760"/>
          </a:xfrm>
          <a:prstGeom prst="rect">
            <a:avLst/>
          </a:prstGeom>
          <a:noFill/>
          <a:ln/>
        </p:spPr>
        <p:txBody>
          <a:bodyPr wrap="square" lIns="0" tIns="0" rIns="0" bIns="0" rtlCol="0" anchor="ctr"/>
          <a:lstStyle/>
          <a:p>
            <a:pPr algn="ctr" indent="0" marL="0">
              <a:buNone/>
            </a:pPr>
            <a:r>
              <a:rPr lang="en-US" sz="1150" dirty="0">
                <a:solidFill>
                  <a:srgbClr val="14204A"/>
                </a:solidFill>
                <a:latin typeface="Arial" pitchFamily="34" charset="0"/>
                <a:ea typeface="Arial" pitchFamily="34" charset="-122"/>
                <a:cs typeface="Arial" pitchFamily="34" charset="-120"/>
              </a:rPr>
              <a:t>95.2</a:t>
            </a:r>
            <a:endParaRPr lang="en-US" sz="1150" dirty="0"/>
          </a:p>
        </p:txBody>
      </p:sp>
      <p:sp>
        <p:nvSpPr>
          <p:cNvPr id="30" name="Text 27"/>
          <p:cNvSpPr/>
          <p:nvPr/>
        </p:nvSpPr>
        <p:spPr>
          <a:xfrm>
            <a:off x="8796528" y="3282696"/>
            <a:ext cx="896112" cy="365760"/>
          </a:xfrm>
          <a:prstGeom prst="rect">
            <a:avLst/>
          </a:prstGeom>
          <a:noFill/>
          <a:ln/>
        </p:spPr>
        <p:txBody>
          <a:bodyPr wrap="square" lIns="0" tIns="0" rIns="0" bIns="0" rtlCol="0" anchor="ctr"/>
          <a:lstStyle/>
          <a:p>
            <a:pPr algn="ctr" indent="0" marL="0">
              <a:buNone/>
            </a:pPr>
            <a:r>
              <a:rPr lang="en-US" sz="1150" dirty="0">
                <a:solidFill>
                  <a:srgbClr val="14204A"/>
                </a:solidFill>
                <a:latin typeface="Arial" pitchFamily="34" charset="0"/>
                <a:ea typeface="Arial" pitchFamily="34" charset="-122"/>
                <a:cs typeface="Arial" pitchFamily="34" charset="-120"/>
              </a:rPr>
              <a:t>97.7</a:t>
            </a:r>
            <a:endParaRPr lang="en-US" sz="1150" dirty="0"/>
          </a:p>
        </p:txBody>
      </p:sp>
      <p:sp>
        <p:nvSpPr>
          <p:cNvPr id="31" name="Text 28"/>
          <p:cNvSpPr/>
          <p:nvPr/>
        </p:nvSpPr>
        <p:spPr>
          <a:xfrm>
            <a:off x="9692640" y="3282696"/>
            <a:ext cx="822960" cy="365760"/>
          </a:xfrm>
          <a:prstGeom prst="rect">
            <a:avLst/>
          </a:prstGeom>
          <a:noFill/>
          <a:ln/>
        </p:spPr>
        <p:txBody>
          <a:bodyPr wrap="square" lIns="0" tIns="0" rIns="0" bIns="0" rtlCol="0" anchor="ctr"/>
          <a:lstStyle/>
          <a:p>
            <a:pPr algn="ctr" indent="0" marL="0">
              <a:buNone/>
            </a:pPr>
            <a:r>
              <a:rPr lang="en-US" sz="1150" dirty="0">
                <a:solidFill>
                  <a:srgbClr val="14204A"/>
                </a:solidFill>
                <a:latin typeface="Arial" pitchFamily="34" charset="0"/>
                <a:ea typeface="Arial" pitchFamily="34" charset="-122"/>
                <a:cs typeface="Arial" pitchFamily="34" charset="-120"/>
              </a:rPr>
              <a:t>86.8</a:t>
            </a:r>
            <a:endParaRPr lang="en-US" sz="1150" dirty="0"/>
          </a:p>
        </p:txBody>
      </p:sp>
      <p:sp>
        <p:nvSpPr>
          <p:cNvPr id="32" name="Text 29"/>
          <p:cNvSpPr/>
          <p:nvPr/>
        </p:nvSpPr>
        <p:spPr>
          <a:xfrm>
            <a:off x="10515600" y="3282696"/>
            <a:ext cx="822960" cy="365760"/>
          </a:xfrm>
          <a:prstGeom prst="rect">
            <a:avLst/>
          </a:prstGeom>
          <a:noFill/>
          <a:ln/>
        </p:spPr>
        <p:txBody>
          <a:bodyPr wrap="square" lIns="0" tIns="0" rIns="0" bIns="0" rtlCol="0" anchor="ctr"/>
          <a:lstStyle/>
          <a:p>
            <a:pPr algn="ctr" indent="0" marL="0">
              <a:buNone/>
            </a:pPr>
            <a:r>
              <a:rPr lang="en-US" sz="1150" dirty="0">
                <a:solidFill>
                  <a:srgbClr val="14204A"/>
                </a:solidFill>
                <a:latin typeface="Arial" pitchFamily="34" charset="0"/>
                <a:ea typeface="Arial" pitchFamily="34" charset="-122"/>
                <a:cs typeface="Arial" pitchFamily="34" charset="-120"/>
              </a:rPr>
              <a:t>93.9</a:t>
            </a:r>
            <a:endParaRPr lang="en-US" sz="1150" dirty="0"/>
          </a:p>
        </p:txBody>
      </p:sp>
      <p:sp>
        <p:nvSpPr>
          <p:cNvPr id="33" name="Text 30"/>
          <p:cNvSpPr/>
          <p:nvPr/>
        </p:nvSpPr>
        <p:spPr>
          <a:xfrm>
            <a:off x="11338560" y="3282696"/>
            <a:ext cx="850392" cy="365760"/>
          </a:xfrm>
          <a:prstGeom prst="rect">
            <a:avLst/>
          </a:prstGeom>
          <a:noFill/>
          <a:ln/>
        </p:spPr>
        <p:txBody>
          <a:bodyPr wrap="square" lIns="0" tIns="0" rIns="0" bIns="0" rtlCol="0" anchor="ctr"/>
          <a:lstStyle/>
          <a:p>
            <a:pPr algn="ctr" indent="0" marL="0">
              <a:buNone/>
            </a:pPr>
            <a:r>
              <a:rPr lang="en-US" sz="1150" dirty="0">
                <a:solidFill>
                  <a:srgbClr val="14204A"/>
                </a:solidFill>
                <a:latin typeface="Arial" pitchFamily="34" charset="0"/>
                <a:ea typeface="Arial" pitchFamily="34" charset="-122"/>
                <a:cs typeface="Arial" pitchFamily="34" charset="-120"/>
              </a:rPr>
              <a:t>92.7</a:t>
            </a:r>
            <a:endParaRPr lang="en-US" sz="1150" dirty="0"/>
          </a:p>
        </p:txBody>
      </p:sp>
      <p:sp>
        <p:nvSpPr>
          <p:cNvPr id="34" name="Shape 31"/>
          <p:cNvSpPr/>
          <p:nvPr/>
        </p:nvSpPr>
        <p:spPr>
          <a:xfrm>
            <a:off x="6629400" y="3730752"/>
            <a:ext cx="5349240" cy="420624"/>
          </a:xfrm>
          <a:prstGeom prst="roundRect">
            <a:avLst>
              <a:gd name="adj" fmla="val 15217"/>
            </a:avLst>
          </a:prstGeom>
          <a:solidFill>
            <a:srgbClr val="FDF0F4"/>
          </a:solidFill>
          <a:ln w="12700">
            <a:solidFill>
              <a:srgbClr val="F0245E"/>
            </a:solidFill>
            <a:prstDash val="solid"/>
          </a:ln>
        </p:spPr>
      </p:sp>
      <p:sp>
        <p:nvSpPr>
          <p:cNvPr id="35" name="Text 32"/>
          <p:cNvSpPr/>
          <p:nvPr/>
        </p:nvSpPr>
        <p:spPr>
          <a:xfrm>
            <a:off x="6720840" y="3758184"/>
            <a:ext cx="1234440" cy="365760"/>
          </a:xfrm>
          <a:prstGeom prst="rect">
            <a:avLst/>
          </a:prstGeom>
          <a:noFill/>
          <a:ln/>
        </p:spPr>
        <p:txBody>
          <a:bodyPr wrap="square" lIns="0" tIns="0" rIns="0" bIns="0" rtlCol="0" anchor="ctr"/>
          <a:lstStyle/>
          <a:p>
            <a:pPr algn="l" indent="0" marL="0">
              <a:buNone/>
            </a:pPr>
            <a:r>
              <a:rPr lang="en-US" sz="1150" b="1" dirty="0">
                <a:solidFill>
                  <a:srgbClr val="F0245E"/>
                </a:solidFill>
                <a:latin typeface="Arial" pitchFamily="34" charset="0"/>
                <a:ea typeface="Arial" pitchFamily="34" charset="-122"/>
                <a:cs typeface="Arial" pitchFamily="34" charset="-120"/>
              </a:rPr>
              <a:t>DBP C2</a:t>
            </a:r>
            <a:endParaRPr lang="en-US" sz="1150" dirty="0"/>
          </a:p>
        </p:txBody>
      </p:sp>
      <p:sp>
        <p:nvSpPr>
          <p:cNvPr id="36" name="Text 33"/>
          <p:cNvSpPr/>
          <p:nvPr/>
        </p:nvSpPr>
        <p:spPr>
          <a:xfrm>
            <a:off x="7955280" y="3758184"/>
            <a:ext cx="841248" cy="365760"/>
          </a:xfrm>
          <a:prstGeom prst="rect">
            <a:avLst/>
          </a:prstGeom>
          <a:noFill/>
          <a:ln/>
        </p:spPr>
        <p:txBody>
          <a:bodyPr wrap="square" lIns="0" tIns="0" rIns="0" bIns="0" rtlCol="0" anchor="ctr"/>
          <a:lstStyle/>
          <a:p>
            <a:pPr algn="ctr" indent="0" marL="0">
              <a:buNone/>
            </a:pPr>
            <a:r>
              <a:rPr lang="en-US" sz="1150" b="1" dirty="0">
                <a:solidFill>
                  <a:srgbClr val="F0245E"/>
                </a:solidFill>
                <a:latin typeface="Arial" pitchFamily="34" charset="0"/>
                <a:ea typeface="Arial" pitchFamily="34" charset="-122"/>
                <a:cs typeface="Arial" pitchFamily="34" charset="-120"/>
              </a:rPr>
              <a:t>92.2</a:t>
            </a:r>
            <a:endParaRPr lang="en-US" sz="1150" dirty="0"/>
          </a:p>
        </p:txBody>
      </p:sp>
      <p:sp>
        <p:nvSpPr>
          <p:cNvPr id="37" name="Text 34"/>
          <p:cNvSpPr/>
          <p:nvPr/>
        </p:nvSpPr>
        <p:spPr>
          <a:xfrm>
            <a:off x="8796528" y="3758184"/>
            <a:ext cx="896112" cy="365760"/>
          </a:xfrm>
          <a:prstGeom prst="rect">
            <a:avLst/>
          </a:prstGeom>
          <a:noFill/>
          <a:ln/>
        </p:spPr>
        <p:txBody>
          <a:bodyPr wrap="square" lIns="0" tIns="0" rIns="0" bIns="0" rtlCol="0" anchor="ctr"/>
          <a:lstStyle/>
          <a:p>
            <a:pPr algn="ctr" indent="0" marL="0">
              <a:buNone/>
            </a:pPr>
            <a:r>
              <a:rPr lang="en-US" sz="1150" b="1" dirty="0">
                <a:solidFill>
                  <a:srgbClr val="F0245E"/>
                </a:solidFill>
                <a:latin typeface="Arial" pitchFamily="34" charset="0"/>
                <a:ea typeface="Arial" pitchFamily="34" charset="-122"/>
                <a:cs typeface="Arial" pitchFamily="34" charset="-120"/>
              </a:rPr>
              <a:t>70.4</a:t>
            </a:r>
            <a:endParaRPr lang="en-US" sz="1150" dirty="0"/>
          </a:p>
        </p:txBody>
      </p:sp>
      <p:sp>
        <p:nvSpPr>
          <p:cNvPr id="38" name="Text 35"/>
          <p:cNvSpPr/>
          <p:nvPr/>
        </p:nvSpPr>
        <p:spPr>
          <a:xfrm>
            <a:off x="9692640" y="3758184"/>
            <a:ext cx="822960" cy="365760"/>
          </a:xfrm>
          <a:prstGeom prst="rect">
            <a:avLst/>
          </a:prstGeom>
          <a:noFill/>
          <a:ln/>
        </p:spPr>
        <p:txBody>
          <a:bodyPr wrap="square" lIns="0" tIns="0" rIns="0" bIns="0" rtlCol="0" anchor="ctr"/>
          <a:lstStyle/>
          <a:p>
            <a:pPr algn="ctr" indent="0" marL="0">
              <a:buNone/>
            </a:pPr>
            <a:r>
              <a:rPr lang="en-US" sz="1150" b="1" dirty="0">
                <a:solidFill>
                  <a:srgbClr val="F0245E"/>
                </a:solidFill>
                <a:latin typeface="Arial" pitchFamily="34" charset="0"/>
                <a:ea typeface="Arial" pitchFamily="34" charset="-122"/>
                <a:cs typeface="Arial" pitchFamily="34" charset="-120"/>
              </a:rPr>
              <a:t>88.9</a:t>
            </a:r>
            <a:endParaRPr lang="en-US" sz="1150" dirty="0"/>
          </a:p>
        </p:txBody>
      </p:sp>
      <p:sp>
        <p:nvSpPr>
          <p:cNvPr id="39" name="Text 36"/>
          <p:cNvSpPr/>
          <p:nvPr/>
        </p:nvSpPr>
        <p:spPr>
          <a:xfrm>
            <a:off x="10515600" y="3758184"/>
            <a:ext cx="822960" cy="365760"/>
          </a:xfrm>
          <a:prstGeom prst="rect">
            <a:avLst/>
          </a:prstGeom>
          <a:noFill/>
          <a:ln/>
        </p:spPr>
        <p:txBody>
          <a:bodyPr wrap="square" lIns="0" tIns="0" rIns="0" bIns="0" rtlCol="0" anchor="ctr"/>
          <a:lstStyle/>
          <a:p>
            <a:pPr algn="ctr" indent="0" marL="0">
              <a:buNone/>
            </a:pPr>
            <a:r>
              <a:rPr lang="en-US" sz="1150" b="1" dirty="0">
                <a:solidFill>
                  <a:srgbClr val="F0245E"/>
                </a:solidFill>
                <a:latin typeface="Arial" pitchFamily="34" charset="0"/>
                <a:ea typeface="Arial" pitchFamily="34" charset="-122"/>
                <a:cs typeface="Arial" pitchFamily="34" charset="-120"/>
              </a:rPr>
              <a:t>77.8</a:t>
            </a:r>
            <a:endParaRPr lang="en-US" sz="1150" dirty="0"/>
          </a:p>
        </p:txBody>
      </p:sp>
      <p:sp>
        <p:nvSpPr>
          <p:cNvPr id="40" name="Text 37"/>
          <p:cNvSpPr/>
          <p:nvPr/>
        </p:nvSpPr>
        <p:spPr>
          <a:xfrm>
            <a:off x="11338560" y="3758184"/>
            <a:ext cx="850392" cy="365760"/>
          </a:xfrm>
          <a:prstGeom prst="rect">
            <a:avLst/>
          </a:prstGeom>
          <a:noFill/>
          <a:ln/>
        </p:spPr>
        <p:txBody>
          <a:bodyPr wrap="square" lIns="0" tIns="0" rIns="0" bIns="0" rtlCol="0" anchor="ctr"/>
          <a:lstStyle/>
          <a:p>
            <a:pPr algn="ctr" indent="0" marL="0">
              <a:buNone/>
            </a:pPr>
            <a:r>
              <a:rPr lang="en-US" sz="1150" b="1" dirty="0">
                <a:solidFill>
                  <a:srgbClr val="F0245E"/>
                </a:solidFill>
                <a:latin typeface="Arial" pitchFamily="34" charset="0"/>
                <a:ea typeface="Arial" pitchFamily="34" charset="-122"/>
                <a:cs typeface="Arial" pitchFamily="34" charset="-120"/>
              </a:rPr>
              <a:t>85.2</a:t>
            </a:r>
            <a:endParaRPr lang="en-US" sz="1150" dirty="0"/>
          </a:p>
        </p:txBody>
      </p:sp>
      <p:sp>
        <p:nvSpPr>
          <p:cNvPr id="41" name="Shape 38"/>
          <p:cNvSpPr/>
          <p:nvPr/>
        </p:nvSpPr>
        <p:spPr>
          <a:xfrm>
            <a:off x="6629400" y="4389120"/>
            <a:ext cx="5349240" cy="1143000"/>
          </a:xfrm>
          <a:prstGeom prst="roundRect">
            <a:avLst>
              <a:gd name="adj" fmla="val 7200"/>
            </a:avLst>
          </a:prstGeom>
          <a:solidFill>
            <a:srgbClr val="F5F7FC"/>
          </a:solidFill>
          <a:ln w="12700">
            <a:solidFill>
              <a:srgbClr val="D8DDE9"/>
            </a:solidFill>
            <a:prstDash val="solid"/>
          </a:ln>
        </p:spPr>
      </p:sp>
      <p:sp>
        <p:nvSpPr>
          <p:cNvPr id="42" name="Text 39"/>
          <p:cNvSpPr/>
          <p:nvPr/>
        </p:nvSpPr>
        <p:spPr>
          <a:xfrm>
            <a:off x="6830568" y="4572000"/>
            <a:ext cx="4937760" cy="822960"/>
          </a:xfrm>
          <a:prstGeom prst="rect">
            <a:avLst/>
          </a:prstGeom>
          <a:noFill/>
          <a:ln/>
        </p:spPr>
        <p:txBody>
          <a:bodyPr wrap="square" lIns="0" tIns="0" rIns="0" bIns="0" rtlCol="0" anchor="ctr"/>
          <a:lstStyle/>
          <a:p>
            <a:pPr indent="0" marL="0">
              <a:buNone/>
            </a:pPr>
            <a:r>
              <a:rPr lang="en-US" sz="1100" dirty="0">
                <a:solidFill>
                  <a:srgbClr val="5A6484"/>
                </a:solidFill>
                <a:latin typeface="Arial" pitchFamily="34" charset="0"/>
                <a:ea typeface="Arial" pitchFamily="34" charset="-122"/>
                <a:cs typeface="Arial" pitchFamily="34" charset="-120"/>
              </a:rPr>
              <a:t>DBP C2 sits roughly eleven points behind the two contenders and loses to both under every weighting tested. It is on the table for what it covers, not for what it scores — slide 5.</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2008022" cy="310896"/>
          </a:xfrm>
          <a:prstGeom prst="roundRect">
            <a:avLst>
              <a:gd name="adj" fmla="val 50000"/>
            </a:avLst>
          </a:prstGeom>
          <a:solidFill>
            <a:srgbClr val="F0245E"/>
          </a:solidFill>
          <a:ln/>
        </p:spPr>
      </p:sp>
      <p:sp>
        <p:nvSpPr>
          <p:cNvPr id="3" name="Text 1"/>
          <p:cNvSpPr/>
          <p:nvPr/>
        </p:nvSpPr>
        <p:spPr>
          <a:xfrm>
            <a:off x="502920" y="329184"/>
            <a:ext cx="2008022" cy="310896"/>
          </a:xfrm>
          <a:prstGeom prst="rect">
            <a:avLst/>
          </a:prstGeom>
          <a:noFill/>
          <a:ln/>
        </p:spPr>
        <p:txBody>
          <a:bodyPr wrap="square" lIns="0" tIns="0" rIns="0" bIns="0" rtlCol="0" anchor="ctr"/>
          <a:lstStyle/>
          <a:p>
            <a:pPr algn="ctr" indent="0" marL="0">
              <a:buNone/>
            </a:pPr>
            <a:r>
              <a:rPr lang="en-US" sz="950" b="1" spc="130" kern="0" dirty="0">
                <a:solidFill>
                  <a:srgbClr val="FFFFFF"/>
                </a:solidFill>
                <a:latin typeface="Arial" pitchFamily="34" charset="0"/>
                <a:ea typeface="Arial" pitchFamily="34" charset="-122"/>
                <a:cs typeface="Arial" pitchFamily="34" charset="-120"/>
              </a:rPr>
              <a:t>DBP C2 · THE TRADE</a:t>
            </a:r>
            <a:endParaRPr lang="en-US" sz="950" dirty="0"/>
          </a:p>
        </p:txBody>
      </p:sp>
      <p:sp>
        <p:nvSpPr>
          <p:cNvPr id="4" name="Text 2"/>
          <p:cNvSpPr/>
          <p:nvPr/>
        </p:nvSpPr>
        <p:spPr>
          <a:xfrm>
            <a:off x="484632" y="749808"/>
            <a:ext cx="10607040" cy="566928"/>
          </a:xfrm>
          <a:prstGeom prst="rect">
            <a:avLst/>
          </a:prstGeom>
          <a:noFill/>
          <a:ln/>
        </p:spPr>
        <p:txBody>
          <a:bodyPr wrap="square" lIns="0" tIns="0" rIns="0" bIns="0" rtlCol="0" anchor="ctr"/>
          <a:lstStyle/>
          <a:p>
            <a:pPr indent="0" marL="0">
              <a:buNone/>
            </a:pPr>
            <a:r>
              <a:rPr lang="en-US" sz="3000" b="1" dirty="0">
                <a:solidFill>
                  <a:srgbClr val="1B2D8A"/>
                </a:solidFill>
                <a:latin typeface="Arial" pitchFamily="34" charset="0"/>
                <a:ea typeface="Arial" pitchFamily="34" charset="-122"/>
                <a:cs typeface="Arial" pitchFamily="34" charset="-120"/>
              </a:rPr>
              <a:t>DBP C2 against DBP C1</a:t>
            </a:r>
            <a:endParaRPr lang="en-US" sz="3000" dirty="0"/>
          </a:p>
        </p:txBody>
      </p:sp>
      <p:sp>
        <p:nvSpPr>
          <p:cNvPr id="5" name="Text 3"/>
          <p:cNvSpPr/>
          <p:nvPr/>
        </p:nvSpPr>
        <p:spPr>
          <a:xfrm>
            <a:off x="484632" y="1316736"/>
            <a:ext cx="10424160" cy="365760"/>
          </a:xfrm>
          <a:prstGeom prst="rect">
            <a:avLst/>
          </a:prstGeom>
          <a:noFill/>
          <a:ln/>
        </p:spPr>
        <p:txBody>
          <a:bodyPr wrap="square" lIns="0" tIns="0" rIns="0" bIns="0" rtlCol="0" anchor="t"/>
          <a:lstStyle/>
          <a:p>
            <a:pPr indent="0" marL="0">
              <a:buNone/>
            </a:pPr>
            <a:r>
              <a:rPr lang="en-US" sz="1250" dirty="0">
                <a:solidFill>
                  <a:srgbClr val="5A6484"/>
                </a:solidFill>
                <a:latin typeface="Arial" pitchFamily="34" charset="0"/>
                <a:ea typeface="Arial" pitchFamily="34" charset="-122"/>
                <a:cs typeface="Arial" pitchFamily="34" charset="-120"/>
              </a:rPr>
              <a:t>The only question worth asking about an alternative: what does it buy you, and what does it cost you.</a:t>
            </a:r>
            <a:endParaRPr lang="en-US" sz="1250" dirty="0"/>
          </a:p>
        </p:txBody>
      </p:sp>
      <p:sp>
        <p:nvSpPr>
          <p:cNvPr id="6" name="Text 4"/>
          <p:cNvSpPr/>
          <p:nvPr/>
        </p:nvSpPr>
        <p:spPr>
          <a:xfrm>
            <a:off x="9464040" y="6428232"/>
            <a:ext cx="2221992" cy="310896"/>
          </a:xfrm>
          <a:prstGeom prst="rect">
            <a:avLst/>
          </a:prstGeom>
          <a:noFill/>
          <a:ln/>
        </p:spPr>
        <p:txBody>
          <a:bodyPr wrap="square" lIns="0" tIns="0" rIns="0" bIns="0" rtlCol="0" anchor="ctr"/>
          <a:lstStyle/>
          <a:p>
            <a:pPr algn="r" indent="0" marL="0">
              <a:buNone/>
            </a:pPr>
            <a:r>
              <a:rPr lang="en-US" sz="1150" b="1" i="1" spc="100" kern="0" dirty="0">
                <a:solidFill>
                  <a:srgbClr val="1B2D8A"/>
                </a:solidFill>
                <a:latin typeface="Arial" pitchFamily="34" charset="0"/>
                <a:ea typeface="Arial" pitchFamily="34" charset="-122"/>
                <a:cs typeface="Arial" pitchFamily="34" charset="-120"/>
              </a:rPr>
              <a:t>MOOVE MEDIA</a:t>
            </a:r>
            <a:endParaRPr lang="en-US" sz="1150" dirty="0"/>
          </a:p>
        </p:txBody>
      </p:sp>
      <p:sp>
        <p:nvSpPr>
          <p:cNvPr id="7" name="Text 5"/>
          <p:cNvSpPr/>
          <p:nvPr/>
        </p:nvSpPr>
        <p:spPr>
          <a:xfrm>
            <a:off x="484632" y="6428232"/>
            <a:ext cx="548640" cy="310896"/>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5</a:t>
            </a:r>
            <a:endParaRPr lang="en-US" sz="1000" dirty="0"/>
          </a:p>
        </p:txBody>
      </p:sp>
      <p:sp>
        <p:nvSpPr>
          <p:cNvPr id="8" name="Shape 6"/>
          <p:cNvSpPr/>
          <p:nvPr/>
        </p:nvSpPr>
        <p:spPr>
          <a:xfrm>
            <a:off x="502920" y="1965960"/>
            <a:ext cx="5431536" cy="3611880"/>
          </a:xfrm>
          <a:prstGeom prst="roundRect">
            <a:avLst>
              <a:gd name="adj" fmla="val 2278"/>
            </a:avLst>
          </a:prstGeom>
          <a:solidFill>
            <a:srgbClr val="FDF0F4"/>
          </a:solidFill>
          <a:ln w="12700">
            <a:solidFill>
              <a:srgbClr val="F0245E"/>
            </a:solidFill>
            <a:prstDash val="solid"/>
          </a:ln>
        </p:spPr>
      </p:sp>
      <p:sp>
        <p:nvSpPr>
          <p:cNvPr id="9" name="Shape 7"/>
          <p:cNvSpPr/>
          <p:nvPr/>
        </p:nvSpPr>
        <p:spPr>
          <a:xfrm>
            <a:off x="777240" y="2194560"/>
            <a:ext cx="1541678" cy="310896"/>
          </a:xfrm>
          <a:prstGeom prst="roundRect">
            <a:avLst>
              <a:gd name="adj" fmla="val 50000"/>
            </a:avLst>
          </a:prstGeom>
          <a:solidFill>
            <a:srgbClr val="F0245E"/>
          </a:solidFill>
          <a:ln/>
        </p:spPr>
      </p:sp>
      <p:sp>
        <p:nvSpPr>
          <p:cNvPr id="10" name="Text 8"/>
          <p:cNvSpPr/>
          <p:nvPr/>
        </p:nvSpPr>
        <p:spPr>
          <a:xfrm>
            <a:off x="777240" y="2194560"/>
            <a:ext cx="1541678" cy="310896"/>
          </a:xfrm>
          <a:prstGeom prst="rect">
            <a:avLst/>
          </a:prstGeom>
          <a:noFill/>
          <a:ln/>
        </p:spPr>
        <p:txBody>
          <a:bodyPr wrap="square" lIns="0" tIns="0" rIns="0" bIns="0" rtlCol="0" anchor="ctr"/>
          <a:lstStyle/>
          <a:p>
            <a:pPr algn="ctr" indent="0" marL="0">
              <a:buNone/>
            </a:pPr>
            <a:r>
              <a:rPr lang="en-US" sz="900" b="1" spc="130" kern="0" dirty="0">
                <a:solidFill>
                  <a:srgbClr val="FFFFFF"/>
                </a:solidFill>
                <a:latin typeface="Arial" pitchFamily="34" charset="0"/>
                <a:ea typeface="Arial" pitchFamily="34" charset="-122"/>
                <a:cs typeface="Arial" pitchFamily="34" charset="-120"/>
              </a:rPr>
              <a:t>WHAT YOU GAIN</a:t>
            </a:r>
            <a:endParaRPr lang="en-US" sz="900" dirty="0"/>
          </a:p>
        </p:txBody>
      </p:sp>
      <p:sp>
        <p:nvSpPr>
          <p:cNvPr id="11" name="Text 9"/>
          <p:cNvSpPr/>
          <p:nvPr/>
        </p:nvSpPr>
        <p:spPr>
          <a:xfrm>
            <a:off x="777240" y="2724912"/>
            <a:ext cx="2377440" cy="292608"/>
          </a:xfrm>
          <a:prstGeom prst="rect">
            <a:avLst/>
          </a:prstGeom>
          <a:noFill/>
          <a:ln/>
        </p:spPr>
        <p:txBody>
          <a:bodyPr wrap="square" lIns="0" tIns="0" rIns="0" bIns="0" rtlCol="0" anchor="ctr"/>
          <a:lstStyle/>
          <a:p>
            <a:pPr indent="0" marL="0">
              <a:buNone/>
            </a:pPr>
            <a:r>
              <a:rPr lang="en-US" sz="1300" b="1" dirty="0">
                <a:solidFill>
                  <a:srgbClr val="1B2D8A"/>
                </a:solidFill>
                <a:latin typeface="Arial" pitchFamily="34" charset="0"/>
                <a:ea typeface="Arial" pitchFamily="34" charset="-122"/>
                <a:cs typeface="Arial" pitchFamily="34" charset="-120"/>
              </a:rPr>
              <a:t>Schools</a:t>
            </a:r>
            <a:endParaRPr lang="en-US" sz="1300" dirty="0"/>
          </a:p>
        </p:txBody>
      </p:sp>
      <p:sp>
        <p:nvSpPr>
          <p:cNvPr id="12" name="Text 10"/>
          <p:cNvSpPr/>
          <p:nvPr/>
        </p:nvSpPr>
        <p:spPr>
          <a:xfrm>
            <a:off x="3154680" y="2724912"/>
            <a:ext cx="2505456" cy="292608"/>
          </a:xfrm>
          <a:prstGeom prst="rect">
            <a:avLst/>
          </a:prstGeom>
          <a:noFill/>
          <a:ln/>
        </p:spPr>
        <p:txBody>
          <a:bodyPr wrap="square" lIns="0" tIns="0" rIns="0" bIns="0" rtlCol="0" anchor="ctr"/>
          <a:lstStyle/>
          <a:p>
            <a:pPr algn="r" indent="0" marL="0">
              <a:buNone/>
            </a:pPr>
            <a:r>
              <a:rPr lang="en-US" sz="1200" b="1" dirty="0">
                <a:solidFill>
                  <a:srgbClr val="F0245E"/>
                </a:solidFill>
                <a:latin typeface="Arial" pitchFamily="34" charset="0"/>
                <a:ea typeface="Arial" pitchFamily="34" charset="-122"/>
                <a:cs typeface="Arial" pitchFamily="34" charset="-120"/>
              </a:rPr>
              <a:t>48 + 38 vs 45 + 33</a:t>
            </a:r>
            <a:endParaRPr lang="en-US" sz="1200" dirty="0"/>
          </a:p>
        </p:txBody>
      </p:sp>
      <p:sp>
        <p:nvSpPr>
          <p:cNvPr id="13" name="Text 11"/>
          <p:cNvSpPr/>
          <p:nvPr/>
        </p:nvSpPr>
        <p:spPr>
          <a:xfrm>
            <a:off x="777240" y="3035808"/>
            <a:ext cx="4882896" cy="512064"/>
          </a:xfrm>
          <a:prstGeom prst="rect">
            <a:avLst/>
          </a:prstGeom>
          <a:noFill/>
          <a:ln/>
        </p:spPr>
        <p:txBody>
          <a:bodyPr wrap="square" lIns="0" tIns="0" rIns="0" bIns="0" rtlCol="0" anchor="ctr"/>
          <a:lstStyle/>
          <a:p>
            <a:pPr indent="0" marL="0">
              <a:buNone/>
            </a:pPr>
            <a:r>
              <a:rPr lang="en-US" sz="1050" dirty="0">
                <a:solidFill>
                  <a:srgbClr val="5A6484"/>
                </a:solidFill>
                <a:latin typeface="Arial" pitchFamily="34" charset="0"/>
                <a:ea typeface="Arial" pitchFamily="34" charset="-122"/>
                <a:cs typeface="Arial" pitchFamily="34" charset="-120"/>
              </a:rPr>
              <a:t>The most primary and secondary schools of any of the four, plus 4 junior colleges. A schools-led brief is where this package earns its place.</a:t>
            </a:r>
            <a:endParaRPr lang="en-US" sz="1050" dirty="0"/>
          </a:p>
        </p:txBody>
      </p:sp>
      <p:sp>
        <p:nvSpPr>
          <p:cNvPr id="14" name="Text 12"/>
          <p:cNvSpPr/>
          <p:nvPr/>
        </p:nvSpPr>
        <p:spPr>
          <a:xfrm>
            <a:off x="777240" y="3666744"/>
            <a:ext cx="2377440" cy="292608"/>
          </a:xfrm>
          <a:prstGeom prst="rect">
            <a:avLst/>
          </a:prstGeom>
          <a:noFill/>
          <a:ln/>
        </p:spPr>
        <p:txBody>
          <a:bodyPr wrap="square" lIns="0" tIns="0" rIns="0" bIns="0" rtlCol="0" anchor="ctr"/>
          <a:lstStyle/>
          <a:p>
            <a:pPr indent="0" marL="0">
              <a:buNone/>
            </a:pPr>
            <a:r>
              <a:rPr lang="en-US" sz="1300" b="1" dirty="0">
                <a:solidFill>
                  <a:srgbClr val="1B2D8A"/>
                </a:solidFill>
                <a:latin typeface="Arial" pitchFamily="34" charset="0"/>
                <a:ea typeface="Arial" pitchFamily="34" charset="-122"/>
                <a:cs typeface="Arial" pitchFamily="34" charset="-120"/>
              </a:rPr>
              <a:t>Breadth</a:t>
            </a:r>
            <a:endParaRPr lang="en-US" sz="1300" dirty="0"/>
          </a:p>
        </p:txBody>
      </p:sp>
      <p:sp>
        <p:nvSpPr>
          <p:cNvPr id="15" name="Text 13"/>
          <p:cNvSpPr/>
          <p:nvPr/>
        </p:nvSpPr>
        <p:spPr>
          <a:xfrm>
            <a:off x="3154680" y="3666744"/>
            <a:ext cx="2505456" cy="292608"/>
          </a:xfrm>
          <a:prstGeom prst="rect">
            <a:avLst/>
          </a:prstGeom>
          <a:noFill/>
          <a:ln/>
        </p:spPr>
        <p:txBody>
          <a:bodyPr wrap="square" lIns="0" tIns="0" rIns="0" bIns="0" rtlCol="0" anchor="ctr"/>
          <a:lstStyle/>
          <a:p>
            <a:pPr algn="r" indent="0" marL="0">
              <a:buNone/>
            </a:pPr>
            <a:r>
              <a:rPr lang="en-US" sz="1200" b="1" dirty="0">
                <a:solidFill>
                  <a:srgbClr val="F0245E"/>
                </a:solidFill>
                <a:latin typeface="Arial" pitchFamily="34" charset="0"/>
                <a:ea typeface="Arial" pitchFamily="34" charset="-122"/>
                <a:cs typeface="Arial" pitchFamily="34" charset="-120"/>
              </a:rPr>
              <a:t>28 areas · 129 malls</a:t>
            </a:r>
            <a:endParaRPr lang="en-US" sz="1200" dirty="0"/>
          </a:p>
        </p:txBody>
      </p:sp>
      <p:sp>
        <p:nvSpPr>
          <p:cNvPr id="16" name="Text 14"/>
          <p:cNvSpPr/>
          <p:nvPr/>
        </p:nvSpPr>
        <p:spPr>
          <a:xfrm>
            <a:off x="777240" y="3977640"/>
            <a:ext cx="4882896" cy="512064"/>
          </a:xfrm>
          <a:prstGeom prst="rect">
            <a:avLst/>
          </a:prstGeom>
          <a:noFill/>
          <a:ln/>
        </p:spPr>
        <p:txBody>
          <a:bodyPr wrap="square" lIns="0" tIns="0" rIns="0" bIns="0" rtlCol="0" anchor="ctr"/>
          <a:lstStyle/>
          <a:p>
            <a:pPr indent="0" marL="0">
              <a:buNone/>
            </a:pPr>
            <a:r>
              <a:rPr lang="en-US" sz="1050" dirty="0">
                <a:solidFill>
                  <a:srgbClr val="5A6484"/>
                </a:solidFill>
                <a:latin typeface="Arial" pitchFamily="34" charset="0"/>
                <a:ea typeface="Arial" pitchFamily="34" charset="-122"/>
                <a:cs typeface="Arial" pitchFamily="34" charset="-120"/>
              </a:rPr>
              <a:t>The widest geographic spread of the four and the most retail — 15 more malls than DBP C1.</a:t>
            </a:r>
            <a:endParaRPr lang="en-US" sz="1050" dirty="0"/>
          </a:p>
        </p:txBody>
      </p:sp>
      <p:sp>
        <p:nvSpPr>
          <p:cNvPr id="17" name="Text 15"/>
          <p:cNvSpPr/>
          <p:nvPr/>
        </p:nvSpPr>
        <p:spPr>
          <a:xfrm>
            <a:off x="777240" y="4608576"/>
            <a:ext cx="2377440" cy="292608"/>
          </a:xfrm>
          <a:prstGeom prst="rect">
            <a:avLst/>
          </a:prstGeom>
          <a:noFill/>
          <a:ln/>
        </p:spPr>
        <p:txBody>
          <a:bodyPr wrap="square" lIns="0" tIns="0" rIns="0" bIns="0" rtlCol="0" anchor="ctr"/>
          <a:lstStyle/>
          <a:p>
            <a:pPr indent="0" marL="0">
              <a:buNone/>
            </a:pPr>
            <a:r>
              <a:rPr lang="en-US" sz="1300" b="1" dirty="0">
                <a:solidFill>
                  <a:srgbClr val="1B2D8A"/>
                </a:solidFill>
                <a:latin typeface="Arial" pitchFamily="34" charset="0"/>
                <a:ea typeface="Arial" pitchFamily="34" charset="-122"/>
                <a:cs typeface="Arial" pitchFamily="34" charset="-120"/>
              </a:rPr>
              <a:t>Clean inventory</a:t>
            </a:r>
            <a:endParaRPr lang="en-US" sz="1300" dirty="0"/>
          </a:p>
        </p:txBody>
      </p:sp>
      <p:sp>
        <p:nvSpPr>
          <p:cNvPr id="18" name="Text 16"/>
          <p:cNvSpPr/>
          <p:nvPr/>
        </p:nvSpPr>
        <p:spPr>
          <a:xfrm>
            <a:off x="3154680" y="4608576"/>
            <a:ext cx="2505456" cy="292608"/>
          </a:xfrm>
          <a:prstGeom prst="rect">
            <a:avLst/>
          </a:prstGeom>
          <a:noFill/>
          <a:ln/>
        </p:spPr>
        <p:txBody>
          <a:bodyPr wrap="square" lIns="0" tIns="0" rIns="0" bIns="0" rtlCol="0" anchor="ctr"/>
          <a:lstStyle/>
          <a:p>
            <a:pPr algn="r" indent="0" marL="0">
              <a:buNone/>
            </a:pPr>
            <a:r>
              <a:rPr lang="en-US" sz="1200" b="1" dirty="0">
                <a:solidFill>
                  <a:srgbClr val="F0245E"/>
                </a:solidFill>
                <a:latin typeface="Arial" pitchFamily="34" charset="0"/>
                <a:ea typeface="Arial" pitchFamily="34" charset="-122"/>
                <a:cs typeface="Arial" pitchFamily="34" charset="-120"/>
              </a:rPr>
              <a:t>3 duplicate stops vs 5</a:t>
            </a:r>
            <a:endParaRPr lang="en-US" sz="1200" dirty="0"/>
          </a:p>
        </p:txBody>
      </p:sp>
      <p:sp>
        <p:nvSpPr>
          <p:cNvPr id="19" name="Text 17"/>
          <p:cNvSpPr/>
          <p:nvPr/>
        </p:nvSpPr>
        <p:spPr>
          <a:xfrm>
            <a:off x="777240" y="4919472"/>
            <a:ext cx="4882896" cy="512064"/>
          </a:xfrm>
          <a:prstGeom prst="rect">
            <a:avLst/>
          </a:prstGeom>
          <a:noFill/>
          <a:ln/>
        </p:spPr>
        <p:txBody>
          <a:bodyPr wrap="square" lIns="0" tIns="0" rIns="0" bIns="0" rtlCol="0" anchor="ctr"/>
          <a:lstStyle/>
          <a:p>
            <a:pPr indent="0" marL="0">
              <a:buNone/>
            </a:pPr>
            <a:r>
              <a:rPr lang="en-US" sz="1050" dirty="0">
                <a:solidFill>
                  <a:srgbClr val="5A6484"/>
                </a:solidFill>
                <a:latin typeface="Arial" pitchFamily="34" charset="0"/>
                <a:ea typeface="Arial" pitchFamily="34" charset="-122"/>
                <a:cs typeface="Arial" pitchFamily="34" charset="-120"/>
              </a:rPr>
              <a:t>Zero-point-seven per cent of the buy is double-served — the least wasted roadside of any package.</a:t>
            </a:r>
            <a:endParaRPr lang="en-US" sz="1050" dirty="0"/>
          </a:p>
        </p:txBody>
      </p:sp>
      <p:sp>
        <p:nvSpPr>
          <p:cNvPr id="20" name="Shape 18"/>
          <p:cNvSpPr/>
          <p:nvPr/>
        </p:nvSpPr>
        <p:spPr>
          <a:xfrm>
            <a:off x="6254496" y="1965960"/>
            <a:ext cx="5431536" cy="3611880"/>
          </a:xfrm>
          <a:prstGeom prst="roundRect">
            <a:avLst>
              <a:gd name="adj" fmla="val 2278"/>
            </a:avLst>
          </a:prstGeom>
          <a:solidFill>
            <a:srgbClr val="FFFFFF"/>
          </a:solidFill>
          <a:ln w="12700">
            <a:solidFill>
              <a:srgbClr val="D8DDE9"/>
            </a:solidFill>
            <a:prstDash val="solid"/>
          </a:ln>
        </p:spPr>
      </p:sp>
      <p:sp>
        <p:nvSpPr>
          <p:cNvPr id="21" name="Shape 19"/>
          <p:cNvSpPr/>
          <p:nvPr/>
        </p:nvSpPr>
        <p:spPr>
          <a:xfrm>
            <a:off x="6528816" y="2194560"/>
            <a:ext cx="1821485" cy="310896"/>
          </a:xfrm>
          <a:prstGeom prst="roundRect">
            <a:avLst>
              <a:gd name="adj" fmla="val 50000"/>
            </a:avLst>
          </a:prstGeom>
          <a:solidFill>
            <a:srgbClr val="1B2D8A"/>
          </a:solidFill>
          <a:ln/>
        </p:spPr>
      </p:sp>
      <p:sp>
        <p:nvSpPr>
          <p:cNvPr id="22" name="Text 20"/>
          <p:cNvSpPr/>
          <p:nvPr/>
        </p:nvSpPr>
        <p:spPr>
          <a:xfrm>
            <a:off x="6528816" y="2194560"/>
            <a:ext cx="1821485" cy="310896"/>
          </a:xfrm>
          <a:prstGeom prst="rect">
            <a:avLst/>
          </a:prstGeom>
          <a:noFill/>
          <a:ln/>
        </p:spPr>
        <p:txBody>
          <a:bodyPr wrap="square" lIns="0" tIns="0" rIns="0" bIns="0" rtlCol="0" anchor="ctr"/>
          <a:lstStyle/>
          <a:p>
            <a:pPr algn="ctr" indent="0" marL="0">
              <a:buNone/>
            </a:pPr>
            <a:r>
              <a:rPr lang="en-US" sz="900" b="1" spc="130" kern="0" dirty="0">
                <a:solidFill>
                  <a:srgbClr val="FFFFFF"/>
                </a:solidFill>
                <a:latin typeface="Arial" pitchFamily="34" charset="0"/>
                <a:ea typeface="Arial" pitchFamily="34" charset="-122"/>
                <a:cs typeface="Arial" pitchFamily="34" charset="-120"/>
              </a:rPr>
              <a:t>WHAT YOU GIVE UP</a:t>
            </a:r>
            <a:endParaRPr lang="en-US" sz="900" dirty="0"/>
          </a:p>
        </p:txBody>
      </p:sp>
      <p:sp>
        <p:nvSpPr>
          <p:cNvPr id="23" name="Text 21"/>
          <p:cNvSpPr/>
          <p:nvPr/>
        </p:nvSpPr>
        <p:spPr>
          <a:xfrm>
            <a:off x="6528816" y="2724912"/>
            <a:ext cx="2377440" cy="292608"/>
          </a:xfrm>
          <a:prstGeom prst="rect">
            <a:avLst/>
          </a:prstGeom>
          <a:noFill/>
          <a:ln/>
        </p:spPr>
        <p:txBody>
          <a:bodyPr wrap="square" lIns="0" tIns="0" rIns="0" bIns="0" rtlCol="0" anchor="ctr"/>
          <a:lstStyle/>
          <a:p>
            <a:pPr indent="0" marL="0">
              <a:buNone/>
            </a:pPr>
            <a:r>
              <a:rPr lang="en-US" sz="1300" b="1" dirty="0">
                <a:solidFill>
                  <a:srgbClr val="1B2D8A"/>
                </a:solidFill>
                <a:latin typeface="Arial" pitchFamily="34" charset="0"/>
                <a:ea typeface="Arial" pitchFamily="34" charset="-122"/>
                <a:cs typeface="Arial" pitchFamily="34" charset="-120"/>
              </a:rPr>
              <a:t>Seniors</a:t>
            </a:r>
            <a:endParaRPr lang="en-US" sz="1300" dirty="0"/>
          </a:p>
        </p:txBody>
      </p:sp>
      <p:sp>
        <p:nvSpPr>
          <p:cNvPr id="24" name="Text 22"/>
          <p:cNvSpPr/>
          <p:nvPr/>
        </p:nvSpPr>
        <p:spPr>
          <a:xfrm>
            <a:off x="8906256" y="2724912"/>
            <a:ext cx="2505456" cy="292608"/>
          </a:xfrm>
          <a:prstGeom prst="rect">
            <a:avLst/>
          </a:prstGeom>
          <a:noFill/>
          <a:ln/>
        </p:spPr>
        <p:txBody>
          <a:bodyPr wrap="square" lIns="0" tIns="0" rIns="0" bIns="0" rtlCol="0" anchor="ctr"/>
          <a:lstStyle/>
          <a:p>
            <a:pPr algn="r" indent="0" marL="0">
              <a:buNone/>
            </a:pPr>
            <a:r>
              <a:rPr lang="en-US" sz="1200" b="1" dirty="0">
                <a:solidFill>
                  <a:srgbClr val="1B2D8A"/>
                </a:solidFill>
                <a:latin typeface="Arial" pitchFamily="34" charset="0"/>
                <a:ea typeface="Arial" pitchFamily="34" charset="-122"/>
                <a:cs typeface="Arial" pitchFamily="34" charset="-120"/>
              </a:rPr>
              <a:t>70.4 vs 90.6</a:t>
            </a:r>
            <a:endParaRPr lang="en-US" sz="1200" dirty="0"/>
          </a:p>
        </p:txBody>
      </p:sp>
      <p:sp>
        <p:nvSpPr>
          <p:cNvPr id="25" name="Text 23"/>
          <p:cNvSpPr/>
          <p:nvPr/>
        </p:nvSpPr>
        <p:spPr>
          <a:xfrm>
            <a:off x="6528816" y="3035808"/>
            <a:ext cx="4882896" cy="512064"/>
          </a:xfrm>
          <a:prstGeom prst="rect">
            <a:avLst/>
          </a:prstGeom>
          <a:noFill/>
          <a:ln/>
        </p:spPr>
        <p:txBody>
          <a:bodyPr wrap="square" lIns="0" tIns="0" rIns="0" bIns="0" rtlCol="0" anchor="ctr"/>
          <a:lstStyle/>
          <a:p>
            <a:pPr indent="0" marL="0">
              <a:buNone/>
            </a:pPr>
            <a:r>
              <a:rPr lang="en-US" sz="1050" dirty="0">
                <a:solidFill>
                  <a:srgbClr val="5A6484"/>
                </a:solidFill>
                <a:latin typeface="Arial" pitchFamily="34" charset="0"/>
                <a:ea typeface="Arial" pitchFamily="34" charset="-122"/>
                <a:cs typeface="Arial" pitchFamily="34" charset="-120"/>
              </a:rPr>
              <a:t>Nineteen eldercare facilities against DBP C1’s 37, and 27 community clubs to 39. This is the weakest senior delivery on the shortlist.</a:t>
            </a:r>
            <a:endParaRPr lang="en-US" sz="1050" dirty="0"/>
          </a:p>
        </p:txBody>
      </p:sp>
      <p:sp>
        <p:nvSpPr>
          <p:cNvPr id="26" name="Text 24"/>
          <p:cNvSpPr/>
          <p:nvPr/>
        </p:nvSpPr>
        <p:spPr>
          <a:xfrm>
            <a:off x="6528816" y="3666744"/>
            <a:ext cx="2377440" cy="292608"/>
          </a:xfrm>
          <a:prstGeom prst="rect">
            <a:avLst/>
          </a:prstGeom>
          <a:noFill/>
          <a:ln/>
        </p:spPr>
        <p:txBody>
          <a:bodyPr wrap="square" lIns="0" tIns="0" rIns="0" bIns="0" rtlCol="0" anchor="ctr"/>
          <a:lstStyle/>
          <a:p>
            <a:pPr indent="0" marL="0">
              <a:buNone/>
            </a:pPr>
            <a:r>
              <a:rPr lang="en-US" sz="1300" b="1" dirty="0">
                <a:solidFill>
                  <a:srgbClr val="1B2D8A"/>
                </a:solidFill>
                <a:latin typeface="Arial" pitchFamily="34" charset="0"/>
                <a:ea typeface="Arial" pitchFamily="34" charset="-122"/>
                <a:cs typeface="Arial" pitchFamily="34" charset="-120"/>
              </a:rPr>
              <a:t>Sandwich generation</a:t>
            </a:r>
            <a:endParaRPr lang="en-US" sz="1300" dirty="0"/>
          </a:p>
        </p:txBody>
      </p:sp>
      <p:sp>
        <p:nvSpPr>
          <p:cNvPr id="27" name="Text 25"/>
          <p:cNvSpPr/>
          <p:nvPr/>
        </p:nvSpPr>
        <p:spPr>
          <a:xfrm>
            <a:off x="8906256" y="3666744"/>
            <a:ext cx="2505456" cy="292608"/>
          </a:xfrm>
          <a:prstGeom prst="rect">
            <a:avLst/>
          </a:prstGeom>
          <a:noFill/>
          <a:ln/>
        </p:spPr>
        <p:txBody>
          <a:bodyPr wrap="square" lIns="0" tIns="0" rIns="0" bIns="0" rtlCol="0" anchor="ctr"/>
          <a:lstStyle/>
          <a:p>
            <a:pPr algn="r" indent="0" marL="0">
              <a:buNone/>
            </a:pPr>
            <a:r>
              <a:rPr lang="en-US" sz="1200" b="1" dirty="0">
                <a:solidFill>
                  <a:srgbClr val="1B2D8A"/>
                </a:solidFill>
                <a:latin typeface="Arial" pitchFamily="34" charset="0"/>
                <a:ea typeface="Arial" pitchFamily="34" charset="-122"/>
                <a:cs typeface="Arial" pitchFamily="34" charset="-120"/>
              </a:rPr>
              <a:t>77.8 vs 92.7</a:t>
            </a:r>
            <a:endParaRPr lang="en-US" sz="1200" dirty="0"/>
          </a:p>
        </p:txBody>
      </p:sp>
      <p:sp>
        <p:nvSpPr>
          <p:cNvPr id="28" name="Text 26"/>
          <p:cNvSpPr/>
          <p:nvPr/>
        </p:nvSpPr>
        <p:spPr>
          <a:xfrm>
            <a:off x="6528816" y="3977640"/>
            <a:ext cx="4882896" cy="512064"/>
          </a:xfrm>
          <a:prstGeom prst="rect">
            <a:avLst/>
          </a:prstGeom>
          <a:noFill/>
          <a:ln/>
        </p:spPr>
        <p:txBody>
          <a:bodyPr wrap="square" lIns="0" tIns="0" rIns="0" bIns="0" rtlCol="0" anchor="ctr"/>
          <a:lstStyle/>
          <a:p>
            <a:pPr indent="0" marL="0">
              <a:buNone/>
            </a:pPr>
            <a:r>
              <a:rPr lang="en-US" sz="1050" dirty="0">
                <a:solidFill>
                  <a:srgbClr val="5A6484"/>
                </a:solidFill>
                <a:latin typeface="Arial" pitchFamily="34" charset="0"/>
                <a:ea typeface="Arial" pitchFamily="34" charset="-122"/>
                <a:cs typeface="Arial" pitchFamily="34" charset="-120"/>
              </a:rPr>
              <a:t>84 caregiving corridors against 99 — on a buy that is 51 stops larger.</a:t>
            </a:r>
            <a:endParaRPr lang="en-US" sz="1050" dirty="0"/>
          </a:p>
        </p:txBody>
      </p:sp>
      <p:sp>
        <p:nvSpPr>
          <p:cNvPr id="29" name="Text 27"/>
          <p:cNvSpPr/>
          <p:nvPr/>
        </p:nvSpPr>
        <p:spPr>
          <a:xfrm>
            <a:off x="6528816" y="4608576"/>
            <a:ext cx="2377440" cy="292608"/>
          </a:xfrm>
          <a:prstGeom prst="rect">
            <a:avLst/>
          </a:prstGeom>
          <a:noFill/>
          <a:ln/>
        </p:spPr>
        <p:txBody>
          <a:bodyPr wrap="square" lIns="0" tIns="0" rIns="0" bIns="0" rtlCol="0" anchor="ctr"/>
          <a:lstStyle/>
          <a:p>
            <a:pPr indent="0" marL="0">
              <a:buNone/>
            </a:pPr>
            <a:r>
              <a:rPr lang="en-US" sz="1300" b="1" dirty="0">
                <a:solidFill>
                  <a:srgbClr val="1B2D8A"/>
                </a:solidFill>
                <a:latin typeface="Arial" pitchFamily="34" charset="0"/>
                <a:ea typeface="Arial" pitchFamily="34" charset="-122"/>
                <a:cs typeface="Arial" pitchFamily="34" charset="-120"/>
              </a:rPr>
              <a:t>Overall</a:t>
            </a:r>
            <a:endParaRPr lang="en-US" sz="1300" dirty="0"/>
          </a:p>
        </p:txBody>
      </p:sp>
      <p:sp>
        <p:nvSpPr>
          <p:cNvPr id="30" name="Text 28"/>
          <p:cNvSpPr/>
          <p:nvPr/>
        </p:nvSpPr>
        <p:spPr>
          <a:xfrm>
            <a:off x="8906256" y="4608576"/>
            <a:ext cx="2505456" cy="292608"/>
          </a:xfrm>
          <a:prstGeom prst="rect">
            <a:avLst/>
          </a:prstGeom>
          <a:noFill/>
          <a:ln/>
        </p:spPr>
        <p:txBody>
          <a:bodyPr wrap="square" lIns="0" tIns="0" rIns="0" bIns="0" rtlCol="0" anchor="ctr"/>
          <a:lstStyle/>
          <a:p>
            <a:pPr algn="r" indent="0" marL="0">
              <a:buNone/>
            </a:pPr>
            <a:r>
              <a:rPr lang="en-US" sz="1200" b="1" dirty="0">
                <a:solidFill>
                  <a:srgbClr val="1B2D8A"/>
                </a:solidFill>
                <a:latin typeface="Arial" pitchFamily="34" charset="0"/>
                <a:ea typeface="Arial" pitchFamily="34" charset="-122"/>
                <a:cs typeface="Arial" pitchFamily="34" charset="-120"/>
              </a:rPr>
              <a:t>82.9 vs 93.8</a:t>
            </a:r>
            <a:endParaRPr lang="en-US" sz="1200" dirty="0"/>
          </a:p>
        </p:txBody>
      </p:sp>
      <p:sp>
        <p:nvSpPr>
          <p:cNvPr id="31" name="Text 29"/>
          <p:cNvSpPr/>
          <p:nvPr/>
        </p:nvSpPr>
        <p:spPr>
          <a:xfrm>
            <a:off x="6528816" y="4919472"/>
            <a:ext cx="4882896" cy="512064"/>
          </a:xfrm>
          <a:prstGeom prst="rect">
            <a:avLst/>
          </a:prstGeom>
          <a:noFill/>
          <a:ln/>
        </p:spPr>
        <p:txBody>
          <a:bodyPr wrap="square" lIns="0" tIns="0" rIns="0" bIns="0" rtlCol="0" anchor="ctr"/>
          <a:lstStyle/>
          <a:p>
            <a:pPr indent="0" marL="0">
              <a:buNone/>
            </a:pPr>
            <a:r>
              <a:rPr lang="en-US" sz="1050" dirty="0">
                <a:solidFill>
                  <a:srgbClr val="5A6484"/>
                </a:solidFill>
                <a:latin typeface="Arial" pitchFamily="34" charset="0"/>
                <a:ea typeface="Arial" pitchFamily="34" charset="-122"/>
                <a:cs typeface="Arial" pitchFamily="34" charset="-120"/>
              </a:rPr>
              <a:t>It loses to both contenders under all six weightings tested. Choose it for coverage, never on the score.</a:t>
            </a:r>
            <a:endParaRPr lang="en-US" sz="1050" dirty="0"/>
          </a:p>
        </p:txBody>
      </p:sp>
      <p:sp>
        <p:nvSpPr>
          <p:cNvPr id="32" name="Shape 30"/>
          <p:cNvSpPr/>
          <p:nvPr/>
        </p:nvSpPr>
        <p:spPr>
          <a:xfrm>
            <a:off x="502920" y="5742432"/>
            <a:ext cx="11183112" cy="566928"/>
          </a:xfrm>
          <a:prstGeom prst="roundRect">
            <a:avLst>
              <a:gd name="adj" fmla="val 14516"/>
            </a:avLst>
          </a:prstGeom>
          <a:solidFill>
            <a:srgbClr val="F5F7FC"/>
          </a:solidFill>
          <a:ln w="12700">
            <a:solidFill>
              <a:srgbClr val="D8DDE9"/>
            </a:solidFill>
            <a:prstDash val="solid"/>
          </a:ln>
        </p:spPr>
      </p:sp>
      <p:sp>
        <p:nvSpPr>
          <p:cNvPr id="33" name="Text 31"/>
          <p:cNvSpPr/>
          <p:nvPr/>
        </p:nvSpPr>
        <p:spPr>
          <a:xfrm>
            <a:off x="795528" y="5833872"/>
            <a:ext cx="10607040" cy="384048"/>
          </a:xfrm>
          <a:prstGeom prst="rect">
            <a:avLst/>
          </a:prstGeom>
          <a:noFill/>
          <a:ln/>
        </p:spPr>
        <p:txBody>
          <a:bodyPr wrap="square" lIns="0" tIns="0" rIns="0" bIns="0" rtlCol="0" anchor="ctr"/>
          <a:lstStyle/>
          <a:p>
            <a:pPr indent="0" marL="0">
              <a:buNone/>
            </a:pPr>
            <a:r>
              <a:rPr lang="en-US" sz="1100" dirty="0">
                <a:solidFill>
                  <a:srgbClr val="1B2D8A"/>
                </a:solidFill>
                <a:latin typeface="Arial" pitchFamily="34" charset="0"/>
                <a:ea typeface="Arial" pitchFamily="34" charset="-122"/>
                <a:cs typeface="Arial" pitchFamily="34" charset="-120"/>
              </a:rPr>
              <a:t>DBP C2 trails both contenders on the index under all six weightings. It is on the shortlist for what it covers — schools, spread, and the only IMH corridor of the four.</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1914754" cy="310896"/>
          </a:xfrm>
          <a:prstGeom prst="roundRect">
            <a:avLst>
              <a:gd name="adj" fmla="val 50000"/>
            </a:avLst>
          </a:prstGeom>
          <a:solidFill>
            <a:srgbClr val="F0245E"/>
          </a:solidFill>
          <a:ln/>
        </p:spPr>
      </p:sp>
      <p:sp>
        <p:nvSpPr>
          <p:cNvPr id="3" name="Text 1"/>
          <p:cNvSpPr/>
          <p:nvPr/>
        </p:nvSpPr>
        <p:spPr>
          <a:xfrm>
            <a:off x="502920" y="329184"/>
            <a:ext cx="1914754" cy="310896"/>
          </a:xfrm>
          <a:prstGeom prst="rect">
            <a:avLst/>
          </a:prstGeom>
          <a:noFill/>
          <a:ln/>
        </p:spPr>
        <p:txBody>
          <a:bodyPr wrap="square" lIns="0" tIns="0" rIns="0" bIns="0" rtlCol="0" anchor="ctr"/>
          <a:lstStyle/>
          <a:p>
            <a:pPr algn="ctr" indent="0" marL="0">
              <a:buNone/>
            </a:pPr>
            <a:r>
              <a:rPr lang="en-US" sz="950" b="1" spc="130" kern="0" dirty="0">
                <a:solidFill>
                  <a:srgbClr val="FFFFFF"/>
                </a:solidFill>
                <a:latin typeface="Arial" pitchFamily="34" charset="0"/>
                <a:ea typeface="Arial" pitchFamily="34" charset="-122"/>
                <a:cs typeface="Arial" pitchFamily="34" charset="-120"/>
              </a:rPr>
              <a:t>DBP C2 · DELIVERY</a:t>
            </a:r>
            <a:endParaRPr lang="en-US" sz="950" dirty="0"/>
          </a:p>
        </p:txBody>
      </p:sp>
      <p:sp>
        <p:nvSpPr>
          <p:cNvPr id="4" name="Text 2"/>
          <p:cNvSpPr/>
          <p:nvPr/>
        </p:nvSpPr>
        <p:spPr>
          <a:xfrm>
            <a:off x="484632" y="749808"/>
            <a:ext cx="10607040" cy="566928"/>
          </a:xfrm>
          <a:prstGeom prst="rect">
            <a:avLst/>
          </a:prstGeom>
          <a:noFill/>
          <a:ln/>
        </p:spPr>
        <p:txBody>
          <a:bodyPr wrap="square" lIns="0" tIns="0" rIns="0" bIns="0" rtlCol="0" anchor="ctr"/>
          <a:lstStyle/>
          <a:p>
            <a:pPr indent="0" marL="0">
              <a:buNone/>
            </a:pPr>
            <a:r>
              <a:rPr lang="en-US" sz="3000" b="1" dirty="0">
                <a:solidFill>
                  <a:srgbClr val="1B2D8A"/>
                </a:solidFill>
                <a:latin typeface="Arial" pitchFamily="34" charset="0"/>
                <a:ea typeface="Arial" pitchFamily="34" charset="-122"/>
                <a:cs typeface="Arial" pitchFamily="34" charset="-120"/>
              </a:rPr>
              <a:t>What DBP C2 delivers, audience by audience</a:t>
            </a:r>
            <a:endParaRPr lang="en-US" sz="3000" dirty="0"/>
          </a:p>
        </p:txBody>
      </p:sp>
      <p:sp>
        <p:nvSpPr>
          <p:cNvPr id="5" name="Text 3"/>
          <p:cNvSpPr/>
          <p:nvPr/>
        </p:nvSpPr>
        <p:spPr>
          <a:xfrm>
            <a:off x="484632" y="1316736"/>
            <a:ext cx="10424160" cy="365760"/>
          </a:xfrm>
          <a:prstGeom prst="rect">
            <a:avLst/>
          </a:prstGeom>
          <a:noFill/>
          <a:ln/>
        </p:spPr>
        <p:txBody>
          <a:bodyPr wrap="square" lIns="0" tIns="0" rIns="0" bIns="0" rtlCol="0" anchor="t"/>
          <a:lstStyle/>
          <a:p>
            <a:pPr indent="0" marL="0">
              <a:buNone/>
            </a:pPr>
            <a:r>
              <a:rPr lang="en-US" sz="1250" dirty="0">
                <a:solidFill>
                  <a:srgbClr val="5A6484"/>
                </a:solidFill>
                <a:latin typeface="Arial" pitchFamily="34" charset="0"/>
                <a:ea typeface="Arial" pitchFamily="34" charset="-122"/>
                <a:cs typeface="Arial" pitchFamily="34" charset="-120"/>
              </a:rPr>
              <a:t>Index out of 100, and the places on the ground that carry it.</a:t>
            </a:r>
            <a:endParaRPr lang="en-US" sz="1250" dirty="0"/>
          </a:p>
        </p:txBody>
      </p:sp>
      <p:sp>
        <p:nvSpPr>
          <p:cNvPr id="6" name="Text 4"/>
          <p:cNvSpPr/>
          <p:nvPr/>
        </p:nvSpPr>
        <p:spPr>
          <a:xfrm>
            <a:off x="9464040" y="6428232"/>
            <a:ext cx="2221992" cy="310896"/>
          </a:xfrm>
          <a:prstGeom prst="rect">
            <a:avLst/>
          </a:prstGeom>
          <a:noFill/>
          <a:ln/>
        </p:spPr>
        <p:txBody>
          <a:bodyPr wrap="square" lIns="0" tIns="0" rIns="0" bIns="0" rtlCol="0" anchor="ctr"/>
          <a:lstStyle/>
          <a:p>
            <a:pPr algn="r" indent="0" marL="0">
              <a:buNone/>
            </a:pPr>
            <a:r>
              <a:rPr lang="en-US" sz="1150" b="1" i="1" spc="100" kern="0" dirty="0">
                <a:solidFill>
                  <a:srgbClr val="1B2D8A"/>
                </a:solidFill>
                <a:latin typeface="Arial" pitchFamily="34" charset="0"/>
                <a:ea typeface="Arial" pitchFamily="34" charset="-122"/>
                <a:cs typeface="Arial" pitchFamily="34" charset="-120"/>
              </a:rPr>
              <a:t>MOOVE MEDIA</a:t>
            </a:r>
            <a:endParaRPr lang="en-US" sz="1150" dirty="0"/>
          </a:p>
        </p:txBody>
      </p:sp>
      <p:sp>
        <p:nvSpPr>
          <p:cNvPr id="7" name="Text 5"/>
          <p:cNvSpPr/>
          <p:nvPr/>
        </p:nvSpPr>
        <p:spPr>
          <a:xfrm>
            <a:off x="484632" y="6428232"/>
            <a:ext cx="548640" cy="310896"/>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6</a:t>
            </a:r>
            <a:endParaRPr lang="en-US" sz="1000" dirty="0"/>
          </a:p>
        </p:txBody>
      </p:sp>
      <p:sp>
        <p:nvSpPr>
          <p:cNvPr id="8" name="Shape 6"/>
          <p:cNvSpPr/>
          <p:nvPr/>
        </p:nvSpPr>
        <p:spPr>
          <a:xfrm>
            <a:off x="502920" y="1920240"/>
            <a:ext cx="11183112" cy="749808"/>
          </a:xfrm>
          <a:prstGeom prst="roundRect">
            <a:avLst>
              <a:gd name="adj" fmla="val 10976"/>
            </a:avLst>
          </a:prstGeom>
          <a:solidFill>
            <a:srgbClr val="FFFFFF"/>
          </a:solidFill>
          <a:ln w="12700">
            <a:solidFill>
              <a:srgbClr val="D8DDE9"/>
            </a:solidFill>
            <a:prstDash val="solid"/>
          </a:ln>
        </p:spPr>
      </p:sp>
      <p:sp>
        <p:nvSpPr>
          <p:cNvPr id="9" name="Text 7"/>
          <p:cNvSpPr/>
          <p:nvPr/>
        </p:nvSpPr>
        <p:spPr>
          <a:xfrm>
            <a:off x="795528" y="2103120"/>
            <a:ext cx="2834640" cy="384048"/>
          </a:xfrm>
          <a:prstGeom prst="rect">
            <a:avLst/>
          </a:prstGeom>
          <a:noFill/>
          <a:ln/>
        </p:spPr>
        <p:txBody>
          <a:bodyPr wrap="square" lIns="0" tIns="0" rIns="0" bIns="0" rtlCol="0" anchor="ctr"/>
          <a:lstStyle/>
          <a:p>
            <a:pPr indent="0" marL="0">
              <a:buNone/>
            </a:pPr>
            <a:r>
              <a:rPr lang="en-US" sz="1400" b="1" dirty="0">
                <a:solidFill>
                  <a:srgbClr val="1B2D8A"/>
                </a:solidFill>
                <a:latin typeface="Arial" pitchFamily="34" charset="0"/>
                <a:ea typeface="Arial" pitchFamily="34" charset="-122"/>
                <a:cs typeface="Arial" pitchFamily="34" charset="-120"/>
              </a:rPr>
              <a:t>Young children</a:t>
            </a:r>
            <a:endParaRPr lang="en-US" sz="1400" dirty="0"/>
          </a:p>
        </p:txBody>
      </p:sp>
      <p:sp>
        <p:nvSpPr>
          <p:cNvPr id="10" name="Shape 8"/>
          <p:cNvSpPr/>
          <p:nvPr/>
        </p:nvSpPr>
        <p:spPr>
          <a:xfrm>
            <a:off x="3703320" y="2212848"/>
            <a:ext cx="3200400" cy="164592"/>
          </a:xfrm>
          <a:prstGeom prst="roundRect">
            <a:avLst>
              <a:gd name="adj" fmla="val 50000"/>
            </a:avLst>
          </a:prstGeom>
          <a:solidFill>
            <a:srgbClr val="EBEFF7"/>
          </a:solidFill>
          <a:ln/>
        </p:spPr>
      </p:sp>
      <p:sp>
        <p:nvSpPr>
          <p:cNvPr id="11" name="Shape 9"/>
          <p:cNvSpPr/>
          <p:nvPr/>
        </p:nvSpPr>
        <p:spPr>
          <a:xfrm>
            <a:off x="3703320" y="2212848"/>
            <a:ext cx="2950769" cy="164592"/>
          </a:xfrm>
          <a:prstGeom prst="roundRect">
            <a:avLst>
              <a:gd name="adj" fmla="val 50000"/>
            </a:avLst>
          </a:prstGeom>
          <a:solidFill>
            <a:srgbClr val="F0245E"/>
          </a:solidFill>
          <a:ln/>
        </p:spPr>
      </p:sp>
      <p:sp>
        <p:nvSpPr>
          <p:cNvPr id="12" name="Text 10"/>
          <p:cNvSpPr/>
          <p:nvPr/>
        </p:nvSpPr>
        <p:spPr>
          <a:xfrm>
            <a:off x="7013448" y="2103120"/>
            <a:ext cx="658368" cy="384048"/>
          </a:xfrm>
          <a:prstGeom prst="rect">
            <a:avLst/>
          </a:prstGeom>
          <a:noFill/>
          <a:ln/>
        </p:spPr>
        <p:txBody>
          <a:bodyPr wrap="square" lIns="0" tIns="0" rIns="0" bIns="0" rtlCol="0" anchor="ctr"/>
          <a:lstStyle/>
          <a:p>
            <a:pPr indent="0" marL="0">
              <a:buNone/>
            </a:pPr>
            <a:r>
              <a:rPr lang="en-US" sz="1250" b="1" dirty="0">
                <a:solidFill>
                  <a:srgbClr val="F0245E"/>
                </a:solidFill>
                <a:latin typeface="Arial" pitchFamily="34" charset="0"/>
                <a:ea typeface="Arial" pitchFamily="34" charset="-122"/>
                <a:cs typeface="Arial" pitchFamily="34" charset="-120"/>
              </a:rPr>
              <a:t>92.2</a:t>
            </a:r>
            <a:endParaRPr lang="en-US" sz="1250" dirty="0"/>
          </a:p>
        </p:txBody>
      </p:sp>
      <p:sp>
        <p:nvSpPr>
          <p:cNvPr id="13" name="Text 11"/>
          <p:cNvSpPr/>
          <p:nvPr/>
        </p:nvSpPr>
        <p:spPr>
          <a:xfrm>
            <a:off x="7772400" y="2103120"/>
            <a:ext cx="3749040" cy="384048"/>
          </a:xfrm>
          <a:prstGeom prst="rect">
            <a:avLst/>
          </a:prstGeom>
          <a:noFill/>
          <a:ln/>
        </p:spPr>
        <p:txBody>
          <a:bodyPr wrap="square" lIns="0" tIns="0" rIns="0" bIns="0" rtlCol="0" anchor="ctr"/>
          <a:lstStyle/>
          <a:p>
            <a:pPr indent="0" marL="0">
              <a:buNone/>
            </a:pPr>
            <a:r>
              <a:rPr lang="en-US" sz="1050" dirty="0">
                <a:solidFill>
                  <a:srgbClr val="5A6484"/>
                </a:solidFill>
                <a:latin typeface="Arial" pitchFamily="34" charset="0"/>
                <a:ea typeface="Arial" pitchFamily="34" charset="-122"/>
                <a:cs typeface="Arial" pitchFamily="34" charset="-120"/>
              </a:rPr>
              <a:t>48 primary schools · 69 student-care centres</a:t>
            </a:r>
            <a:endParaRPr lang="en-US" sz="1050" dirty="0"/>
          </a:p>
        </p:txBody>
      </p:sp>
      <p:sp>
        <p:nvSpPr>
          <p:cNvPr id="14" name="Shape 12"/>
          <p:cNvSpPr/>
          <p:nvPr/>
        </p:nvSpPr>
        <p:spPr>
          <a:xfrm>
            <a:off x="502920" y="2743200"/>
            <a:ext cx="11183112" cy="749808"/>
          </a:xfrm>
          <a:prstGeom prst="roundRect">
            <a:avLst>
              <a:gd name="adj" fmla="val 10976"/>
            </a:avLst>
          </a:prstGeom>
          <a:solidFill>
            <a:srgbClr val="FFFFFF"/>
          </a:solidFill>
          <a:ln w="12700">
            <a:solidFill>
              <a:srgbClr val="D8DDE9"/>
            </a:solidFill>
            <a:prstDash val="solid"/>
          </a:ln>
        </p:spPr>
      </p:sp>
      <p:sp>
        <p:nvSpPr>
          <p:cNvPr id="15" name="Text 13"/>
          <p:cNvSpPr/>
          <p:nvPr/>
        </p:nvSpPr>
        <p:spPr>
          <a:xfrm>
            <a:off x="795528" y="2926080"/>
            <a:ext cx="2834640" cy="384048"/>
          </a:xfrm>
          <a:prstGeom prst="rect">
            <a:avLst/>
          </a:prstGeom>
          <a:noFill/>
          <a:ln/>
        </p:spPr>
        <p:txBody>
          <a:bodyPr wrap="square" lIns="0" tIns="0" rIns="0" bIns="0" rtlCol="0" anchor="ctr"/>
          <a:lstStyle/>
          <a:p>
            <a:pPr indent="0" marL="0">
              <a:buNone/>
            </a:pPr>
            <a:r>
              <a:rPr lang="en-US" sz="1400" b="1" dirty="0">
                <a:solidFill>
                  <a:srgbClr val="1B2D8A"/>
                </a:solidFill>
                <a:latin typeface="Arial" pitchFamily="34" charset="0"/>
                <a:ea typeface="Arial" pitchFamily="34" charset="-122"/>
                <a:cs typeface="Arial" pitchFamily="34" charset="-120"/>
              </a:rPr>
              <a:t>Seniors</a:t>
            </a:r>
            <a:endParaRPr lang="en-US" sz="1400" dirty="0"/>
          </a:p>
        </p:txBody>
      </p:sp>
      <p:sp>
        <p:nvSpPr>
          <p:cNvPr id="16" name="Shape 14"/>
          <p:cNvSpPr/>
          <p:nvPr/>
        </p:nvSpPr>
        <p:spPr>
          <a:xfrm>
            <a:off x="3703320" y="3035808"/>
            <a:ext cx="3200400" cy="164592"/>
          </a:xfrm>
          <a:prstGeom prst="roundRect">
            <a:avLst>
              <a:gd name="adj" fmla="val 50000"/>
            </a:avLst>
          </a:prstGeom>
          <a:solidFill>
            <a:srgbClr val="EBEFF7"/>
          </a:solidFill>
          <a:ln/>
        </p:spPr>
      </p:sp>
      <p:sp>
        <p:nvSpPr>
          <p:cNvPr id="17" name="Shape 15"/>
          <p:cNvSpPr/>
          <p:nvPr/>
        </p:nvSpPr>
        <p:spPr>
          <a:xfrm>
            <a:off x="3703320" y="3035808"/>
            <a:ext cx="2253082" cy="164592"/>
          </a:xfrm>
          <a:prstGeom prst="roundRect">
            <a:avLst>
              <a:gd name="adj" fmla="val 50000"/>
            </a:avLst>
          </a:prstGeom>
          <a:solidFill>
            <a:srgbClr val="F0245E"/>
          </a:solidFill>
          <a:ln/>
        </p:spPr>
      </p:sp>
      <p:sp>
        <p:nvSpPr>
          <p:cNvPr id="18" name="Text 16"/>
          <p:cNvSpPr/>
          <p:nvPr/>
        </p:nvSpPr>
        <p:spPr>
          <a:xfrm>
            <a:off x="7013448" y="2926080"/>
            <a:ext cx="658368" cy="384048"/>
          </a:xfrm>
          <a:prstGeom prst="rect">
            <a:avLst/>
          </a:prstGeom>
          <a:noFill/>
          <a:ln/>
        </p:spPr>
        <p:txBody>
          <a:bodyPr wrap="square" lIns="0" tIns="0" rIns="0" bIns="0" rtlCol="0" anchor="ctr"/>
          <a:lstStyle/>
          <a:p>
            <a:pPr indent="0" marL="0">
              <a:buNone/>
            </a:pPr>
            <a:r>
              <a:rPr lang="en-US" sz="1250" b="1" dirty="0">
                <a:solidFill>
                  <a:srgbClr val="F0245E"/>
                </a:solidFill>
                <a:latin typeface="Arial" pitchFamily="34" charset="0"/>
                <a:ea typeface="Arial" pitchFamily="34" charset="-122"/>
                <a:cs typeface="Arial" pitchFamily="34" charset="-120"/>
              </a:rPr>
              <a:t>70.4</a:t>
            </a:r>
            <a:endParaRPr lang="en-US" sz="1250" dirty="0"/>
          </a:p>
        </p:txBody>
      </p:sp>
      <p:sp>
        <p:nvSpPr>
          <p:cNvPr id="19" name="Text 17"/>
          <p:cNvSpPr/>
          <p:nvPr/>
        </p:nvSpPr>
        <p:spPr>
          <a:xfrm>
            <a:off x="7772400" y="2926080"/>
            <a:ext cx="3749040" cy="384048"/>
          </a:xfrm>
          <a:prstGeom prst="rect">
            <a:avLst/>
          </a:prstGeom>
          <a:noFill/>
          <a:ln/>
        </p:spPr>
        <p:txBody>
          <a:bodyPr wrap="square" lIns="0" tIns="0" rIns="0" bIns="0" rtlCol="0" anchor="ctr"/>
          <a:lstStyle/>
          <a:p>
            <a:pPr indent="0" marL="0">
              <a:buNone/>
            </a:pPr>
            <a:r>
              <a:rPr lang="en-US" sz="1050" dirty="0">
                <a:solidFill>
                  <a:srgbClr val="5A6484"/>
                </a:solidFill>
                <a:latin typeface="Arial" pitchFamily="34" charset="0"/>
                <a:ea typeface="Arial" pitchFamily="34" charset="-122"/>
                <a:cs typeface="Arial" pitchFamily="34" charset="-120"/>
              </a:rPr>
              <a:t>19 eldercare · 27 community clubs · 8 polyclinics</a:t>
            </a:r>
            <a:endParaRPr lang="en-US" sz="1050" dirty="0"/>
          </a:p>
        </p:txBody>
      </p:sp>
      <p:sp>
        <p:nvSpPr>
          <p:cNvPr id="20" name="Shape 18"/>
          <p:cNvSpPr/>
          <p:nvPr/>
        </p:nvSpPr>
        <p:spPr>
          <a:xfrm>
            <a:off x="502920" y="3566160"/>
            <a:ext cx="11183112" cy="749808"/>
          </a:xfrm>
          <a:prstGeom prst="roundRect">
            <a:avLst>
              <a:gd name="adj" fmla="val 10976"/>
            </a:avLst>
          </a:prstGeom>
          <a:solidFill>
            <a:srgbClr val="FFFFFF"/>
          </a:solidFill>
          <a:ln w="12700">
            <a:solidFill>
              <a:srgbClr val="D8DDE9"/>
            </a:solidFill>
            <a:prstDash val="solid"/>
          </a:ln>
        </p:spPr>
      </p:sp>
      <p:sp>
        <p:nvSpPr>
          <p:cNvPr id="21" name="Text 19"/>
          <p:cNvSpPr/>
          <p:nvPr/>
        </p:nvSpPr>
        <p:spPr>
          <a:xfrm>
            <a:off x="795528" y="3749040"/>
            <a:ext cx="2834640" cy="384048"/>
          </a:xfrm>
          <a:prstGeom prst="rect">
            <a:avLst/>
          </a:prstGeom>
          <a:noFill/>
          <a:ln/>
        </p:spPr>
        <p:txBody>
          <a:bodyPr wrap="square" lIns="0" tIns="0" rIns="0" bIns="0" rtlCol="0" anchor="ctr"/>
          <a:lstStyle/>
          <a:p>
            <a:pPr indent="0" marL="0">
              <a:buNone/>
            </a:pPr>
            <a:r>
              <a:rPr lang="en-US" sz="1400" b="1" dirty="0">
                <a:solidFill>
                  <a:srgbClr val="1B2D8A"/>
                </a:solidFill>
                <a:latin typeface="Arial" pitchFamily="34" charset="0"/>
                <a:ea typeface="Arial" pitchFamily="34" charset="-122"/>
                <a:cs typeface="Arial" pitchFamily="34" charset="-120"/>
              </a:rPr>
              <a:t>Working adults</a:t>
            </a:r>
            <a:endParaRPr lang="en-US" sz="1400" dirty="0"/>
          </a:p>
        </p:txBody>
      </p:sp>
      <p:sp>
        <p:nvSpPr>
          <p:cNvPr id="22" name="Shape 20"/>
          <p:cNvSpPr/>
          <p:nvPr/>
        </p:nvSpPr>
        <p:spPr>
          <a:xfrm>
            <a:off x="3703320" y="3858768"/>
            <a:ext cx="3200400" cy="164592"/>
          </a:xfrm>
          <a:prstGeom prst="roundRect">
            <a:avLst>
              <a:gd name="adj" fmla="val 50000"/>
            </a:avLst>
          </a:prstGeom>
          <a:solidFill>
            <a:srgbClr val="EBEFF7"/>
          </a:solidFill>
          <a:ln/>
        </p:spPr>
      </p:sp>
      <p:sp>
        <p:nvSpPr>
          <p:cNvPr id="23" name="Shape 21"/>
          <p:cNvSpPr/>
          <p:nvPr/>
        </p:nvSpPr>
        <p:spPr>
          <a:xfrm>
            <a:off x="3703320" y="3858768"/>
            <a:ext cx="2845156" cy="164592"/>
          </a:xfrm>
          <a:prstGeom prst="roundRect">
            <a:avLst>
              <a:gd name="adj" fmla="val 50000"/>
            </a:avLst>
          </a:prstGeom>
          <a:solidFill>
            <a:srgbClr val="F0245E"/>
          </a:solidFill>
          <a:ln/>
        </p:spPr>
      </p:sp>
      <p:sp>
        <p:nvSpPr>
          <p:cNvPr id="24" name="Text 22"/>
          <p:cNvSpPr/>
          <p:nvPr/>
        </p:nvSpPr>
        <p:spPr>
          <a:xfrm>
            <a:off x="7013448" y="3749040"/>
            <a:ext cx="658368" cy="384048"/>
          </a:xfrm>
          <a:prstGeom prst="rect">
            <a:avLst/>
          </a:prstGeom>
          <a:noFill/>
          <a:ln/>
        </p:spPr>
        <p:txBody>
          <a:bodyPr wrap="square" lIns="0" tIns="0" rIns="0" bIns="0" rtlCol="0" anchor="ctr"/>
          <a:lstStyle/>
          <a:p>
            <a:pPr indent="0" marL="0">
              <a:buNone/>
            </a:pPr>
            <a:r>
              <a:rPr lang="en-US" sz="1250" b="1" dirty="0">
                <a:solidFill>
                  <a:srgbClr val="F0245E"/>
                </a:solidFill>
                <a:latin typeface="Arial" pitchFamily="34" charset="0"/>
                <a:ea typeface="Arial" pitchFamily="34" charset="-122"/>
                <a:cs typeface="Arial" pitchFamily="34" charset="-120"/>
              </a:rPr>
              <a:t>88.9</a:t>
            </a:r>
            <a:endParaRPr lang="en-US" sz="1250" dirty="0"/>
          </a:p>
        </p:txBody>
      </p:sp>
      <p:sp>
        <p:nvSpPr>
          <p:cNvPr id="25" name="Text 23"/>
          <p:cNvSpPr/>
          <p:nvPr/>
        </p:nvSpPr>
        <p:spPr>
          <a:xfrm>
            <a:off x="7772400" y="3749040"/>
            <a:ext cx="3749040" cy="384048"/>
          </a:xfrm>
          <a:prstGeom prst="rect">
            <a:avLst/>
          </a:prstGeom>
          <a:noFill/>
          <a:ln/>
        </p:spPr>
        <p:txBody>
          <a:bodyPr wrap="square" lIns="0" tIns="0" rIns="0" bIns="0" rtlCol="0" anchor="ctr"/>
          <a:lstStyle/>
          <a:p>
            <a:pPr indent="0" marL="0">
              <a:buNone/>
            </a:pPr>
            <a:r>
              <a:rPr lang="en-US" sz="1050" dirty="0">
                <a:solidFill>
                  <a:srgbClr val="5A6484"/>
                </a:solidFill>
                <a:latin typeface="Arial" pitchFamily="34" charset="0"/>
                <a:ea typeface="Arial" pitchFamily="34" charset="-122"/>
                <a:cs typeface="Arial" pitchFamily="34" charset="-120"/>
              </a:rPr>
              <a:t>21 MRT/LRT interchanges · 129 malls</a:t>
            </a:r>
            <a:endParaRPr lang="en-US" sz="1050" dirty="0"/>
          </a:p>
        </p:txBody>
      </p:sp>
      <p:sp>
        <p:nvSpPr>
          <p:cNvPr id="26" name="Shape 24"/>
          <p:cNvSpPr/>
          <p:nvPr/>
        </p:nvSpPr>
        <p:spPr>
          <a:xfrm>
            <a:off x="502920" y="4389120"/>
            <a:ext cx="11183112" cy="749808"/>
          </a:xfrm>
          <a:prstGeom prst="roundRect">
            <a:avLst>
              <a:gd name="adj" fmla="val 10976"/>
            </a:avLst>
          </a:prstGeom>
          <a:solidFill>
            <a:srgbClr val="FFFFFF"/>
          </a:solidFill>
          <a:ln w="12700">
            <a:solidFill>
              <a:srgbClr val="D8DDE9"/>
            </a:solidFill>
            <a:prstDash val="solid"/>
          </a:ln>
        </p:spPr>
      </p:sp>
      <p:sp>
        <p:nvSpPr>
          <p:cNvPr id="27" name="Text 25"/>
          <p:cNvSpPr/>
          <p:nvPr/>
        </p:nvSpPr>
        <p:spPr>
          <a:xfrm>
            <a:off x="795528" y="4572000"/>
            <a:ext cx="2834640" cy="384048"/>
          </a:xfrm>
          <a:prstGeom prst="rect">
            <a:avLst/>
          </a:prstGeom>
          <a:noFill/>
          <a:ln/>
        </p:spPr>
        <p:txBody>
          <a:bodyPr wrap="square" lIns="0" tIns="0" rIns="0" bIns="0" rtlCol="0" anchor="ctr"/>
          <a:lstStyle/>
          <a:p>
            <a:pPr indent="0" marL="0">
              <a:buNone/>
            </a:pPr>
            <a:r>
              <a:rPr lang="en-US" sz="1400" b="1" dirty="0">
                <a:solidFill>
                  <a:srgbClr val="1B2D8A"/>
                </a:solidFill>
                <a:latin typeface="Arial" pitchFamily="34" charset="0"/>
                <a:ea typeface="Arial" pitchFamily="34" charset="-122"/>
                <a:cs typeface="Arial" pitchFamily="34" charset="-120"/>
              </a:rPr>
              <a:t>Sandwich generation</a:t>
            </a:r>
            <a:endParaRPr lang="en-US" sz="1400" dirty="0"/>
          </a:p>
        </p:txBody>
      </p:sp>
      <p:sp>
        <p:nvSpPr>
          <p:cNvPr id="28" name="Shape 26"/>
          <p:cNvSpPr/>
          <p:nvPr/>
        </p:nvSpPr>
        <p:spPr>
          <a:xfrm>
            <a:off x="3703320" y="4681728"/>
            <a:ext cx="3200400" cy="164592"/>
          </a:xfrm>
          <a:prstGeom prst="roundRect">
            <a:avLst>
              <a:gd name="adj" fmla="val 50000"/>
            </a:avLst>
          </a:prstGeom>
          <a:solidFill>
            <a:srgbClr val="EBEFF7"/>
          </a:solidFill>
          <a:ln/>
        </p:spPr>
      </p:sp>
      <p:sp>
        <p:nvSpPr>
          <p:cNvPr id="29" name="Shape 27"/>
          <p:cNvSpPr/>
          <p:nvPr/>
        </p:nvSpPr>
        <p:spPr>
          <a:xfrm>
            <a:off x="3703320" y="4681728"/>
            <a:ext cx="2489911" cy="164592"/>
          </a:xfrm>
          <a:prstGeom prst="roundRect">
            <a:avLst>
              <a:gd name="adj" fmla="val 50000"/>
            </a:avLst>
          </a:prstGeom>
          <a:solidFill>
            <a:srgbClr val="F0245E"/>
          </a:solidFill>
          <a:ln/>
        </p:spPr>
      </p:sp>
      <p:sp>
        <p:nvSpPr>
          <p:cNvPr id="30" name="Text 28"/>
          <p:cNvSpPr/>
          <p:nvPr/>
        </p:nvSpPr>
        <p:spPr>
          <a:xfrm>
            <a:off x="7013448" y="4572000"/>
            <a:ext cx="658368" cy="384048"/>
          </a:xfrm>
          <a:prstGeom prst="rect">
            <a:avLst/>
          </a:prstGeom>
          <a:noFill/>
          <a:ln/>
        </p:spPr>
        <p:txBody>
          <a:bodyPr wrap="square" lIns="0" tIns="0" rIns="0" bIns="0" rtlCol="0" anchor="ctr"/>
          <a:lstStyle/>
          <a:p>
            <a:pPr indent="0" marL="0">
              <a:buNone/>
            </a:pPr>
            <a:r>
              <a:rPr lang="en-US" sz="1250" b="1" dirty="0">
                <a:solidFill>
                  <a:srgbClr val="F0245E"/>
                </a:solidFill>
                <a:latin typeface="Arial" pitchFamily="34" charset="0"/>
                <a:ea typeface="Arial" pitchFamily="34" charset="-122"/>
                <a:cs typeface="Arial" pitchFamily="34" charset="-120"/>
              </a:rPr>
              <a:t>77.8</a:t>
            </a:r>
            <a:endParaRPr lang="en-US" sz="1250" dirty="0"/>
          </a:p>
        </p:txBody>
      </p:sp>
      <p:sp>
        <p:nvSpPr>
          <p:cNvPr id="31" name="Text 29"/>
          <p:cNvSpPr/>
          <p:nvPr/>
        </p:nvSpPr>
        <p:spPr>
          <a:xfrm>
            <a:off x="7772400" y="4572000"/>
            <a:ext cx="3749040" cy="384048"/>
          </a:xfrm>
          <a:prstGeom prst="rect">
            <a:avLst/>
          </a:prstGeom>
          <a:noFill/>
          <a:ln/>
        </p:spPr>
        <p:txBody>
          <a:bodyPr wrap="square" lIns="0" tIns="0" rIns="0" bIns="0" rtlCol="0" anchor="ctr"/>
          <a:lstStyle/>
          <a:p>
            <a:pPr indent="0" marL="0">
              <a:buNone/>
            </a:pPr>
            <a:r>
              <a:rPr lang="en-US" sz="1050" dirty="0">
                <a:solidFill>
                  <a:srgbClr val="5A6484"/>
                </a:solidFill>
                <a:latin typeface="Arial" pitchFamily="34" charset="0"/>
                <a:ea typeface="Arial" pitchFamily="34" charset="-122"/>
                <a:cs typeface="Arial" pitchFamily="34" charset="-120"/>
              </a:rPr>
              <a:t>84 stops with a school and a senior place inside 400 m</a:t>
            </a:r>
            <a:endParaRPr lang="en-US" sz="1050" dirty="0"/>
          </a:p>
        </p:txBody>
      </p:sp>
      <p:sp>
        <p:nvSpPr>
          <p:cNvPr id="32" name="Shape 30"/>
          <p:cNvSpPr/>
          <p:nvPr/>
        </p:nvSpPr>
        <p:spPr>
          <a:xfrm>
            <a:off x="502920" y="5212080"/>
            <a:ext cx="11183112" cy="749808"/>
          </a:xfrm>
          <a:prstGeom prst="roundRect">
            <a:avLst>
              <a:gd name="adj" fmla="val 10976"/>
            </a:avLst>
          </a:prstGeom>
          <a:solidFill>
            <a:srgbClr val="FFFFFF"/>
          </a:solidFill>
          <a:ln w="12700">
            <a:solidFill>
              <a:srgbClr val="D8DDE9"/>
            </a:solidFill>
            <a:prstDash val="solid"/>
          </a:ln>
        </p:spPr>
      </p:sp>
      <p:sp>
        <p:nvSpPr>
          <p:cNvPr id="33" name="Text 31"/>
          <p:cNvSpPr/>
          <p:nvPr/>
        </p:nvSpPr>
        <p:spPr>
          <a:xfrm>
            <a:off x="795528" y="5394960"/>
            <a:ext cx="2834640" cy="384048"/>
          </a:xfrm>
          <a:prstGeom prst="rect">
            <a:avLst/>
          </a:prstGeom>
          <a:noFill/>
          <a:ln/>
        </p:spPr>
        <p:txBody>
          <a:bodyPr wrap="square" lIns="0" tIns="0" rIns="0" bIns="0" rtlCol="0" anchor="ctr"/>
          <a:lstStyle/>
          <a:p>
            <a:pPr indent="0" marL="0">
              <a:buNone/>
            </a:pPr>
            <a:r>
              <a:rPr lang="en-US" sz="1400" b="1" dirty="0">
                <a:solidFill>
                  <a:srgbClr val="1B2D8A"/>
                </a:solidFill>
                <a:latin typeface="Arial" pitchFamily="34" charset="0"/>
                <a:ea typeface="Arial" pitchFamily="34" charset="-122"/>
                <a:cs typeface="Arial" pitchFamily="34" charset="-120"/>
              </a:rPr>
              <a:t>Youth</a:t>
            </a:r>
            <a:endParaRPr lang="en-US" sz="1400" dirty="0"/>
          </a:p>
        </p:txBody>
      </p:sp>
      <p:sp>
        <p:nvSpPr>
          <p:cNvPr id="34" name="Shape 32"/>
          <p:cNvSpPr/>
          <p:nvPr/>
        </p:nvSpPr>
        <p:spPr>
          <a:xfrm>
            <a:off x="3703320" y="5504688"/>
            <a:ext cx="3200400" cy="164592"/>
          </a:xfrm>
          <a:prstGeom prst="roundRect">
            <a:avLst>
              <a:gd name="adj" fmla="val 50000"/>
            </a:avLst>
          </a:prstGeom>
          <a:solidFill>
            <a:srgbClr val="EBEFF7"/>
          </a:solidFill>
          <a:ln/>
        </p:spPr>
      </p:sp>
      <p:sp>
        <p:nvSpPr>
          <p:cNvPr id="35" name="Shape 33"/>
          <p:cNvSpPr/>
          <p:nvPr/>
        </p:nvSpPr>
        <p:spPr>
          <a:xfrm>
            <a:off x="3703320" y="5504688"/>
            <a:ext cx="2726741" cy="164592"/>
          </a:xfrm>
          <a:prstGeom prst="roundRect">
            <a:avLst>
              <a:gd name="adj" fmla="val 50000"/>
            </a:avLst>
          </a:prstGeom>
          <a:solidFill>
            <a:srgbClr val="F0245E"/>
          </a:solidFill>
          <a:ln/>
        </p:spPr>
      </p:sp>
      <p:sp>
        <p:nvSpPr>
          <p:cNvPr id="36" name="Text 34"/>
          <p:cNvSpPr/>
          <p:nvPr/>
        </p:nvSpPr>
        <p:spPr>
          <a:xfrm>
            <a:off x="7013448" y="5394960"/>
            <a:ext cx="658368" cy="384048"/>
          </a:xfrm>
          <a:prstGeom prst="rect">
            <a:avLst/>
          </a:prstGeom>
          <a:noFill/>
          <a:ln/>
        </p:spPr>
        <p:txBody>
          <a:bodyPr wrap="square" lIns="0" tIns="0" rIns="0" bIns="0" rtlCol="0" anchor="ctr"/>
          <a:lstStyle/>
          <a:p>
            <a:pPr indent="0" marL="0">
              <a:buNone/>
            </a:pPr>
            <a:r>
              <a:rPr lang="en-US" sz="1250" b="1" dirty="0">
                <a:solidFill>
                  <a:srgbClr val="F0245E"/>
                </a:solidFill>
                <a:latin typeface="Arial" pitchFamily="34" charset="0"/>
                <a:ea typeface="Arial" pitchFamily="34" charset="-122"/>
                <a:cs typeface="Arial" pitchFamily="34" charset="-120"/>
              </a:rPr>
              <a:t>85.2</a:t>
            </a:r>
            <a:endParaRPr lang="en-US" sz="1250" dirty="0"/>
          </a:p>
        </p:txBody>
      </p:sp>
      <p:sp>
        <p:nvSpPr>
          <p:cNvPr id="37" name="Text 35"/>
          <p:cNvSpPr/>
          <p:nvPr/>
        </p:nvSpPr>
        <p:spPr>
          <a:xfrm>
            <a:off x="7772400" y="5394960"/>
            <a:ext cx="3749040" cy="384048"/>
          </a:xfrm>
          <a:prstGeom prst="rect">
            <a:avLst/>
          </a:prstGeom>
          <a:noFill/>
          <a:ln/>
        </p:spPr>
        <p:txBody>
          <a:bodyPr wrap="square" lIns="0" tIns="0" rIns="0" bIns="0" rtlCol="0" anchor="ctr"/>
          <a:lstStyle/>
          <a:p>
            <a:pPr indent="0" marL="0">
              <a:buNone/>
            </a:pPr>
            <a:r>
              <a:rPr lang="en-US" sz="1050" dirty="0">
                <a:solidFill>
                  <a:srgbClr val="5A6484"/>
                </a:solidFill>
                <a:latin typeface="Arial" pitchFamily="34" charset="0"/>
                <a:ea typeface="Arial" pitchFamily="34" charset="-122"/>
                <a:cs typeface="Arial" pitchFamily="34" charset="-120"/>
              </a:rPr>
              <a:t>38 secondary · 4 JCs · 11 SportSG · 17 cinemas · 14 libraries</a:t>
            </a:r>
            <a:endParaRPr lang="en-US" sz="1050" dirty="0"/>
          </a:p>
        </p:txBody>
      </p:sp>
      <p:sp>
        <p:nvSpPr>
          <p:cNvPr id="38" name="Text 36"/>
          <p:cNvSpPr/>
          <p:nvPr/>
        </p:nvSpPr>
        <p:spPr>
          <a:xfrm>
            <a:off x="502920" y="6053328"/>
            <a:ext cx="10607040" cy="320040"/>
          </a:xfrm>
          <a:prstGeom prst="rect">
            <a:avLst/>
          </a:prstGeom>
          <a:noFill/>
          <a:ln/>
        </p:spPr>
        <p:txBody>
          <a:bodyPr wrap="square" lIns="0" tIns="0" rIns="0" bIns="0" rtlCol="0" anchor="ctr"/>
          <a:lstStyle/>
          <a:p>
            <a:pPr indent="0" marL="0">
              <a:buNone/>
            </a:pPr>
            <a:r>
              <a:rPr lang="en-US" sz="950" i="1" dirty="0">
                <a:solidFill>
                  <a:srgbClr val="5A6484"/>
                </a:solidFill>
                <a:latin typeface="Arial" pitchFamily="34" charset="0"/>
                <a:ea typeface="Arial" pitchFamily="34" charset="-122"/>
                <a:cs typeface="Arial" pitchFamily="34" charset="-120"/>
              </a:rPr>
              <a:t>Index is relative: 100 = the best of the four sets in that column, not a percentage of the audience reached.</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2287829" cy="310896"/>
          </a:xfrm>
          <a:prstGeom prst="roundRect">
            <a:avLst>
              <a:gd name="adj" fmla="val 50000"/>
            </a:avLst>
          </a:prstGeom>
          <a:solidFill>
            <a:srgbClr val="F0245E"/>
          </a:solidFill>
          <a:ln/>
        </p:spPr>
      </p:sp>
      <p:sp>
        <p:nvSpPr>
          <p:cNvPr id="3" name="Text 1"/>
          <p:cNvSpPr/>
          <p:nvPr/>
        </p:nvSpPr>
        <p:spPr>
          <a:xfrm>
            <a:off x="502920" y="329184"/>
            <a:ext cx="2287829" cy="310896"/>
          </a:xfrm>
          <a:prstGeom prst="rect">
            <a:avLst/>
          </a:prstGeom>
          <a:noFill/>
          <a:ln/>
        </p:spPr>
        <p:txBody>
          <a:bodyPr wrap="square" lIns="0" tIns="0" rIns="0" bIns="0" rtlCol="0" anchor="ctr"/>
          <a:lstStyle/>
          <a:p>
            <a:pPr algn="ctr" indent="0" marL="0">
              <a:buNone/>
            </a:pPr>
            <a:r>
              <a:rPr lang="en-US" sz="950" b="1" spc="130" kern="0" dirty="0">
                <a:solidFill>
                  <a:srgbClr val="FFFFFF"/>
                </a:solidFill>
                <a:latin typeface="Arial" pitchFamily="34" charset="0"/>
                <a:ea typeface="Arial" pitchFamily="34" charset="-122"/>
                <a:cs typeface="Arial" pitchFamily="34" charset="-120"/>
              </a:rPr>
              <a:t>DBP C2 · SANDWICH GEN</a:t>
            </a:r>
            <a:endParaRPr lang="en-US" sz="950" dirty="0"/>
          </a:p>
        </p:txBody>
      </p:sp>
      <p:sp>
        <p:nvSpPr>
          <p:cNvPr id="4" name="Text 2"/>
          <p:cNvSpPr/>
          <p:nvPr/>
        </p:nvSpPr>
        <p:spPr>
          <a:xfrm>
            <a:off x="484632" y="749808"/>
            <a:ext cx="10607040" cy="566928"/>
          </a:xfrm>
          <a:prstGeom prst="rect">
            <a:avLst/>
          </a:prstGeom>
          <a:noFill/>
          <a:ln/>
        </p:spPr>
        <p:txBody>
          <a:bodyPr wrap="square" lIns="0" tIns="0" rIns="0" bIns="0" rtlCol="0" anchor="ctr"/>
          <a:lstStyle/>
          <a:p>
            <a:pPr indent="0" marL="0">
              <a:buNone/>
            </a:pPr>
            <a:r>
              <a:rPr lang="en-US" sz="3000" b="1" dirty="0">
                <a:solidFill>
                  <a:srgbClr val="1B2D8A"/>
                </a:solidFill>
                <a:latin typeface="Arial" pitchFamily="34" charset="0"/>
                <a:ea typeface="Arial" pitchFamily="34" charset="-122"/>
                <a:cs typeface="Arial" pitchFamily="34" charset="-120"/>
              </a:rPr>
              <a:t>The sandwich generation, actually measured</a:t>
            </a:r>
            <a:endParaRPr lang="en-US" sz="3000" dirty="0"/>
          </a:p>
        </p:txBody>
      </p:sp>
      <p:sp>
        <p:nvSpPr>
          <p:cNvPr id="5" name="Text 3"/>
          <p:cNvSpPr/>
          <p:nvPr/>
        </p:nvSpPr>
        <p:spPr>
          <a:xfrm>
            <a:off x="484632" y="1316736"/>
            <a:ext cx="10424160" cy="365760"/>
          </a:xfrm>
          <a:prstGeom prst="rect">
            <a:avLst/>
          </a:prstGeom>
          <a:noFill/>
          <a:ln/>
        </p:spPr>
        <p:txBody>
          <a:bodyPr wrap="square" lIns="0" tIns="0" rIns="0" bIns="0" rtlCol="0" anchor="t"/>
          <a:lstStyle/>
          <a:p>
            <a:pPr indent="0" marL="0">
              <a:buNone/>
            </a:pPr>
            <a:r>
              <a:rPr lang="en-US" sz="1250" dirty="0">
                <a:solidFill>
                  <a:srgbClr val="5A6484"/>
                </a:solidFill>
                <a:latin typeface="Arial" pitchFamily="34" charset="0"/>
                <a:ea typeface="Arial" pitchFamily="34" charset="-122"/>
                <a:cs typeface="Arial" pitchFamily="34" charset="-120"/>
              </a:rPr>
              <a:t>No place layer maps "adult with a child in school and a parent in a clinic". So we measured the corridor instead.</a:t>
            </a:r>
            <a:endParaRPr lang="en-US" sz="1250" dirty="0"/>
          </a:p>
        </p:txBody>
      </p:sp>
      <p:sp>
        <p:nvSpPr>
          <p:cNvPr id="6" name="Text 4"/>
          <p:cNvSpPr/>
          <p:nvPr/>
        </p:nvSpPr>
        <p:spPr>
          <a:xfrm>
            <a:off x="9464040" y="6428232"/>
            <a:ext cx="2221992" cy="310896"/>
          </a:xfrm>
          <a:prstGeom prst="rect">
            <a:avLst/>
          </a:prstGeom>
          <a:noFill/>
          <a:ln/>
        </p:spPr>
        <p:txBody>
          <a:bodyPr wrap="square" lIns="0" tIns="0" rIns="0" bIns="0" rtlCol="0" anchor="ctr"/>
          <a:lstStyle/>
          <a:p>
            <a:pPr algn="r" indent="0" marL="0">
              <a:buNone/>
            </a:pPr>
            <a:r>
              <a:rPr lang="en-US" sz="1150" b="1" i="1" spc="100" kern="0" dirty="0">
                <a:solidFill>
                  <a:srgbClr val="1B2D8A"/>
                </a:solidFill>
                <a:latin typeface="Arial" pitchFamily="34" charset="0"/>
                <a:ea typeface="Arial" pitchFamily="34" charset="-122"/>
                <a:cs typeface="Arial" pitchFamily="34" charset="-120"/>
              </a:rPr>
              <a:t>MOOVE MEDIA</a:t>
            </a:r>
            <a:endParaRPr lang="en-US" sz="1150" dirty="0"/>
          </a:p>
        </p:txBody>
      </p:sp>
      <p:sp>
        <p:nvSpPr>
          <p:cNvPr id="7" name="Text 5"/>
          <p:cNvSpPr/>
          <p:nvPr/>
        </p:nvSpPr>
        <p:spPr>
          <a:xfrm>
            <a:off x="484632" y="6428232"/>
            <a:ext cx="548640" cy="310896"/>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7</a:t>
            </a:r>
            <a:endParaRPr lang="en-US" sz="1000" dirty="0"/>
          </a:p>
        </p:txBody>
      </p:sp>
      <p:sp>
        <p:nvSpPr>
          <p:cNvPr id="8" name="Shape 6"/>
          <p:cNvSpPr/>
          <p:nvPr/>
        </p:nvSpPr>
        <p:spPr>
          <a:xfrm>
            <a:off x="502920" y="2011680"/>
            <a:ext cx="3931920" cy="3017520"/>
          </a:xfrm>
          <a:prstGeom prst="roundRect">
            <a:avLst>
              <a:gd name="adj" fmla="val 2727"/>
            </a:avLst>
          </a:prstGeom>
          <a:solidFill>
            <a:srgbClr val="1B2D8A"/>
          </a:solidFill>
          <a:ln/>
        </p:spPr>
      </p:sp>
      <p:sp>
        <p:nvSpPr>
          <p:cNvPr id="9" name="Text 7"/>
          <p:cNvSpPr/>
          <p:nvPr/>
        </p:nvSpPr>
        <p:spPr>
          <a:xfrm>
            <a:off x="777240" y="2331720"/>
            <a:ext cx="3383280" cy="1188720"/>
          </a:xfrm>
          <a:prstGeom prst="rect">
            <a:avLst/>
          </a:prstGeom>
          <a:noFill/>
          <a:ln/>
        </p:spPr>
        <p:txBody>
          <a:bodyPr wrap="square" lIns="0" tIns="0" rIns="0" bIns="0" rtlCol="0" anchor="ctr"/>
          <a:lstStyle/>
          <a:p>
            <a:pPr indent="0" marL="0">
              <a:buNone/>
            </a:pPr>
            <a:r>
              <a:rPr lang="en-US" sz="7600" b="1" dirty="0">
                <a:solidFill>
                  <a:srgbClr val="FFFFFF"/>
                </a:solidFill>
                <a:latin typeface="Arial" pitchFamily="34" charset="0"/>
                <a:ea typeface="Arial" pitchFamily="34" charset="-122"/>
                <a:cs typeface="Arial" pitchFamily="34" charset="-120"/>
              </a:rPr>
              <a:t>84</a:t>
            </a:r>
            <a:endParaRPr lang="en-US" sz="7600" dirty="0"/>
          </a:p>
        </p:txBody>
      </p:sp>
      <p:sp>
        <p:nvSpPr>
          <p:cNvPr id="10" name="Text 8"/>
          <p:cNvSpPr/>
          <p:nvPr/>
        </p:nvSpPr>
        <p:spPr>
          <a:xfrm>
            <a:off x="777240" y="3566160"/>
            <a:ext cx="3383280" cy="914400"/>
          </a:xfrm>
          <a:prstGeom prst="rect">
            <a:avLst/>
          </a:prstGeom>
          <a:noFill/>
          <a:ln/>
        </p:spPr>
        <p:txBody>
          <a:bodyPr wrap="square" lIns="0" tIns="0" rIns="0" bIns="0" rtlCol="0" anchor="ctr"/>
          <a:lstStyle/>
          <a:p>
            <a:pPr indent="0" marL="0">
              <a:buNone/>
            </a:pPr>
            <a:r>
              <a:rPr lang="en-US" sz="1300" dirty="0">
                <a:solidFill>
                  <a:srgbClr val="CBD3F2"/>
                </a:solidFill>
                <a:latin typeface="Arial" pitchFamily="34" charset="0"/>
                <a:ea typeface="Arial" pitchFamily="34" charset="-122"/>
                <a:cs typeface="Arial" pitchFamily="34" charset="-120"/>
              </a:rPr>
              <a:t>stops on DBP C2 with BOTH a child place and a senior place within 400 m</a:t>
            </a:r>
            <a:endParaRPr lang="en-US" sz="1300" dirty="0"/>
          </a:p>
        </p:txBody>
      </p:sp>
      <p:sp>
        <p:nvSpPr>
          <p:cNvPr id="11" name="Text 9"/>
          <p:cNvSpPr/>
          <p:nvPr/>
        </p:nvSpPr>
        <p:spPr>
          <a:xfrm>
            <a:off x="777240" y="4434840"/>
            <a:ext cx="3383280" cy="320040"/>
          </a:xfrm>
          <a:prstGeom prst="rect">
            <a:avLst/>
          </a:prstGeom>
          <a:noFill/>
          <a:ln/>
        </p:spPr>
        <p:txBody>
          <a:bodyPr wrap="square" lIns="0" tIns="0" rIns="0" bIns="0" rtlCol="0" anchor="ctr"/>
          <a:lstStyle/>
          <a:p>
            <a:pPr indent="0" marL="0">
              <a:buNone/>
            </a:pPr>
            <a:r>
              <a:rPr lang="en-US" sz="1100" b="1" dirty="0">
                <a:solidFill>
                  <a:srgbClr val="F0245E"/>
                </a:solidFill>
                <a:latin typeface="Arial" pitchFamily="34" charset="0"/>
                <a:ea typeface="Arial" pitchFamily="34" charset="-122"/>
                <a:cs typeface="Arial" pitchFamily="34" charset="-120"/>
              </a:rPr>
              <a:t>DBP C1: 99   ·   DBP L2: 87   ·   Set 1: 77</a:t>
            </a:r>
            <a:endParaRPr lang="en-US" sz="1100" dirty="0"/>
          </a:p>
        </p:txBody>
      </p:sp>
      <p:sp>
        <p:nvSpPr>
          <p:cNvPr id="12" name="Shape 10"/>
          <p:cNvSpPr/>
          <p:nvPr/>
        </p:nvSpPr>
        <p:spPr>
          <a:xfrm>
            <a:off x="4754880" y="2011680"/>
            <a:ext cx="6931152" cy="3017520"/>
          </a:xfrm>
          <a:prstGeom prst="roundRect">
            <a:avLst>
              <a:gd name="adj" fmla="val 2727"/>
            </a:avLst>
          </a:prstGeom>
          <a:solidFill>
            <a:srgbClr val="FFFFFF"/>
          </a:solidFill>
          <a:ln w="12700">
            <a:solidFill>
              <a:srgbClr val="D8DDE9"/>
            </a:solidFill>
            <a:prstDash val="solid"/>
          </a:ln>
        </p:spPr>
      </p:sp>
      <p:sp>
        <p:nvSpPr>
          <p:cNvPr id="13" name="Text 11"/>
          <p:cNvSpPr/>
          <p:nvPr/>
        </p:nvSpPr>
        <p:spPr>
          <a:xfrm>
            <a:off x="5047488" y="2240280"/>
            <a:ext cx="6309360" cy="329184"/>
          </a:xfrm>
          <a:prstGeom prst="rect">
            <a:avLst/>
          </a:prstGeom>
          <a:noFill/>
          <a:ln/>
        </p:spPr>
        <p:txBody>
          <a:bodyPr wrap="square" lIns="0" tIns="0" rIns="0" bIns="0" rtlCol="0" anchor="ctr"/>
          <a:lstStyle/>
          <a:p>
            <a:pPr indent="0" marL="0">
              <a:buNone/>
            </a:pPr>
            <a:r>
              <a:rPr lang="en-US" sz="1500" b="1" dirty="0">
                <a:solidFill>
                  <a:srgbClr val="1B2D8A"/>
                </a:solidFill>
                <a:latin typeface="Arial" pitchFamily="34" charset="0"/>
                <a:ea typeface="Arial" pitchFamily="34" charset="-122"/>
                <a:cs typeface="Arial" pitchFamily="34" charset="-120"/>
              </a:rPr>
              <a:t>Why this is the number to trust</a:t>
            </a:r>
            <a:endParaRPr lang="en-US" sz="1500" dirty="0"/>
          </a:p>
        </p:txBody>
      </p:sp>
      <p:sp>
        <p:nvSpPr>
          <p:cNvPr id="14" name="Text 12"/>
          <p:cNvSpPr/>
          <p:nvPr/>
        </p:nvSpPr>
        <p:spPr>
          <a:xfrm>
            <a:off x="5047488" y="2633472"/>
            <a:ext cx="6309360" cy="731520"/>
          </a:xfrm>
          <a:prstGeom prst="rect">
            <a:avLst/>
          </a:prstGeom>
          <a:noFill/>
          <a:ln/>
        </p:spPr>
        <p:txBody>
          <a:bodyPr wrap="square" lIns="0" tIns="0" rIns="0" bIns="0" rtlCol="0" anchor="ctr"/>
          <a:lstStyle/>
          <a:p>
            <a:pPr indent="0" marL="0">
              <a:buNone/>
            </a:pPr>
            <a:endParaRPr lang="en-US" sz="1150" dirty="0"/>
          </a:p>
        </p:txBody>
      </p:sp>
      <p:sp>
        <p:nvSpPr>
          <p:cNvPr id="15" name="Text 13"/>
          <p:cNvSpPr/>
          <p:nvPr/>
        </p:nvSpPr>
        <p:spPr>
          <a:xfrm>
            <a:off x="5047488" y="3401568"/>
            <a:ext cx="6309360" cy="640080"/>
          </a:xfrm>
          <a:prstGeom prst="rect">
            <a:avLst/>
          </a:prstGeom>
          <a:noFill/>
          <a:ln/>
        </p:spPr>
        <p:txBody>
          <a:bodyPr wrap="square" lIns="0" tIns="0" rIns="0" bIns="0" rtlCol="0" anchor="ctr"/>
          <a:lstStyle/>
          <a:p>
            <a:pPr indent="0" marL="0">
              <a:buNone/>
            </a:pPr>
            <a:r>
              <a:rPr lang="en-US" sz="1150" dirty="0">
                <a:solidFill>
                  <a:srgbClr val="5A6484"/>
                </a:solidFill>
                <a:latin typeface="Arial" pitchFamily="34" charset="0"/>
                <a:ea typeface="Arial" pitchFamily="34" charset="-122"/>
                <a:cs typeface="Arial" pitchFamily="34" charset="-120"/>
              </a:rPr>
              <a:t>It is also the only audience of the five that is defined by a behaviour rather than an age band — the caregiving trip, run after work and at the weekend. That is why it drives the dayparting on slide 11.</a:t>
            </a:r>
            <a:endParaRPr lang="en-US" sz="1150" dirty="0"/>
          </a:p>
        </p:txBody>
      </p:sp>
      <p:sp>
        <p:nvSpPr>
          <p:cNvPr id="16" name="Text 14"/>
          <p:cNvSpPr/>
          <p:nvPr/>
        </p:nvSpPr>
        <p:spPr>
          <a:xfrm>
            <a:off x="5047488" y="4114800"/>
            <a:ext cx="6309360" cy="640080"/>
          </a:xfrm>
          <a:prstGeom prst="rect">
            <a:avLst/>
          </a:prstGeom>
          <a:noFill/>
          <a:ln/>
        </p:spPr>
        <p:txBody>
          <a:bodyPr wrap="square" lIns="0" tIns="0" rIns="0" bIns="0" rtlCol="0" anchor="ctr"/>
          <a:lstStyle/>
          <a:p>
            <a:pPr indent="0" marL="0">
              <a:buNone/>
            </a:pPr>
            <a:r>
              <a:rPr lang="en-US" sz="1200" b="1" dirty="0">
                <a:solidFill>
                  <a:srgbClr val="1B2D8A"/>
                </a:solidFill>
                <a:latin typeface="Arial" pitchFamily="34" charset="0"/>
                <a:ea typeface="Arial" pitchFamily="34" charset="-122"/>
                <a:cs typeface="Arial" pitchFamily="34" charset="-120"/>
              </a:rPr>
              <a:t>DBP C2 passes 84 caregiving corridors against DBP C1’s 99, on a larger buy — the weaker of the two on the audience that most needs the message.</a:t>
            </a:r>
            <a:endParaRPr lang="en-US" sz="1200" dirty="0"/>
          </a:p>
        </p:txBody>
      </p:sp>
      <p:sp>
        <p:nvSpPr>
          <p:cNvPr id="17" name="Shape 15"/>
          <p:cNvSpPr/>
          <p:nvPr/>
        </p:nvSpPr>
        <p:spPr>
          <a:xfrm>
            <a:off x="502920" y="5193792"/>
            <a:ext cx="11183112" cy="713232"/>
          </a:xfrm>
          <a:prstGeom prst="roundRect">
            <a:avLst>
              <a:gd name="adj" fmla="val 11538"/>
            </a:avLst>
          </a:prstGeom>
          <a:solidFill>
            <a:srgbClr val="F5F7FC"/>
          </a:solidFill>
          <a:ln w="12700">
            <a:solidFill>
              <a:srgbClr val="D8DDE9"/>
            </a:solidFill>
            <a:prstDash val="solid"/>
          </a:ln>
        </p:spPr>
      </p:sp>
      <p:sp>
        <p:nvSpPr>
          <p:cNvPr id="18" name="Text 16"/>
          <p:cNvSpPr/>
          <p:nvPr/>
        </p:nvSpPr>
        <p:spPr>
          <a:xfrm>
            <a:off x="795528" y="5321808"/>
            <a:ext cx="10607040" cy="457200"/>
          </a:xfrm>
          <a:prstGeom prst="rect">
            <a:avLst/>
          </a:prstGeom>
          <a:noFill/>
          <a:ln/>
        </p:spPr>
        <p:txBody>
          <a:bodyPr wrap="square" lIns="0" tIns="0" rIns="0" bIns="0" rtlCol="0" anchor="ctr"/>
          <a:lstStyle/>
          <a:p>
            <a:pPr indent="0" marL="0">
              <a:buNone/>
            </a:pPr>
            <a:r>
              <a:rPr lang="en-US" sz="1150" dirty="0">
                <a:solidFill>
                  <a:srgbClr val="1B2D8A"/>
                </a:solidFill>
                <a:latin typeface="Arial" pitchFamily="34" charset="0"/>
                <a:ea typeface="Arial" pitchFamily="34" charset="-122"/>
                <a:cs typeface="Arial" pitchFamily="34" charset="-120"/>
              </a:rPr>
              <a:t>Top caregiving zones — Hougang (16) · Sengkang (10) · Bukit Panjang (8) · Punggol (8) · Bedok (6)</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1914754" cy="310896"/>
          </a:xfrm>
          <a:prstGeom prst="roundRect">
            <a:avLst>
              <a:gd name="adj" fmla="val 50000"/>
            </a:avLst>
          </a:prstGeom>
          <a:solidFill>
            <a:srgbClr val="F0245E"/>
          </a:solidFill>
          <a:ln/>
        </p:spPr>
      </p:sp>
      <p:sp>
        <p:nvSpPr>
          <p:cNvPr id="3" name="Text 1"/>
          <p:cNvSpPr/>
          <p:nvPr/>
        </p:nvSpPr>
        <p:spPr>
          <a:xfrm>
            <a:off x="502920" y="329184"/>
            <a:ext cx="1914754" cy="310896"/>
          </a:xfrm>
          <a:prstGeom prst="rect">
            <a:avLst/>
          </a:prstGeom>
          <a:noFill/>
          <a:ln/>
        </p:spPr>
        <p:txBody>
          <a:bodyPr wrap="square" lIns="0" tIns="0" rIns="0" bIns="0" rtlCol="0" anchor="ctr"/>
          <a:lstStyle/>
          <a:p>
            <a:pPr algn="ctr" indent="0" marL="0">
              <a:buNone/>
            </a:pPr>
            <a:r>
              <a:rPr lang="en-US" sz="950" b="1" spc="130" kern="0" dirty="0">
                <a:solidFill>
                  <a:srgbClr val="FFFFFF"/>
                </a:solidFill>
                <a:latin typeface="Arial" pitchFamily="34" charset="0"/>
                <a:ea typeface="Arial" pitchFamily="34" charset="-122"/>
                <a:cs typeface="Arial" pitchFamily="34" charset="-120"/>
              </a:rPr>
              <a:t>DBP C2 · COVERAGE</a:t>
            </a:r>
            <a:endParaRPr lang="en-US" sz="950" dirty="0"/>
          </a:p>
        </p:txBody>
      </p:sp>
      <p:sp>
        <p:nvSpPr>
          <p:cNvPr id="4" name="Text 2"/>
          <p:cNvSpPr/>
          <p:nvPr/>
        </p:nvSpPr>
        <p:spPr>
          <a:xfrm>
            <a:off x="484632" y="749808"/>
            <a:ext cx="10607040" cy="566928"/>
          </a:xfrm>
          <a:prstGeom prst="rect">
            <a:avLst/>
          </a:prstGeom>
          <a:noFill/>
          <a:ln/>
        </p:spPr>
        <p:txBody>
          <a:bodyPr wrap="square" lIns="0" tIns="0" rIns="0" bIns="0" rtlCol="0" anchor="ctr"/>
          <a:lstStyle/>
          <a:p>
            <a:pPr indent="0" marL="0">
              <a:buNone/>
            </a:pPr>
            <a:r>
              <a:rPr lang="en-US" sz="3000" b="1" dirty="0">
                <a:solidFill>
                  <a:srgbClr val="1B2D8A"/>
                </a:solidFill>
                <a:latin typeface="Arial" pitchFamily="34" charset="0"/>
                <a:ea typeface="Arial" pitchFamily="34" charset="-122"/>
                <a:cs typeface="Arial" pitchFamily="34" charset="-120"/>
              </a:rPr>
              <a:t>The widest spread of the four — but not the North</a:t>
            </a:r>
            <a:endParaRPr lang="en-US" sz="3000" dirty="0"/>
          </a:p>
        </p:txBody>
      </p:sp>
      <p:sp>
        <p:nvSpPr>
          <p:cNvPr id="5" name="Text 3"/>
          <p:cNvSpPr/>
          <p:nvPr/>
        </p:nvSpPr>
        <p:spPr>
          <a:xfrm>
            <a:off x="484632" y="1316736"/>
            <a:ext cx="10424160" cy="365760"/>
          </a:xfrm>
          <a:prstGeom prst="rect">
            <a:avLst/>
          </a:prstGeom>
          <a:noFill/>
          <a:ln/>
        </p:spPr>
        <p:txBody>
          <a:bodyPr wrap="square" lIns="0" tIns="0" rIns="0" bIns="0" rtlCol="0" anchor="t"/>
          <a:lstStyle/>
          <a:p>
            <a:pPr indent="0" marL="0">
              <a:buNone/>
            </a:pPr>
            <a:r>
              <a:rPr lang="en-US" sz="1250" dirty="0">
                <a:solidFill>
                  <a:srgbClr val="5A6484"/>
                </a:solidFill>
                <a:latin typeface="Arial" pitchFamily="34" charset="0"/>
                <a:ea typeface="Arial" pitchFamily="34" charset="-122"/>
                <a:cs typeface="Arial" pitchFamily="34" charset="-120"/>
              </a:rPr>
              <a:t>The audience index counts seniors — but not where they live. This is the trade DBP C2 makes.</a:t>
            </a:r>
            <a:endParaRPr lang="en-US" sz="1250" dirty="0"/>
          </a:p>
        </p:txBody>
      </p:sp>
      <p:sp>
        <p:nvSpPr>
          <p:cNvPr id="6" name="Text 4"/>
          <p:cNvSpPr/>
          <p:nvPr/>
        </p:nvSpPr>
        <p:spPr>
          <a:xfrm>
            <a:off x="9464040" y="6428232"/>
            <a:ext cx="2221992" cy="310896"/>
          </a:xfrm>
          <a:prstGeom prst="rect">
            <a:avLst/>
          </a:prstGeom>
          <a:noFill/>
          <a:ln/>
        </p:spPr>
        <p:txBody>
          <a:bodyPr wrap="square" lIns="0" tIns="0" rIns="0" bIns="0" rtlCol="0" anchor="ctr"/>
          <a:lstStyle/>
          <a:p>
            <a:pPr algn="r" indent="0" marL="0">
              <a:buNone/>
            </a:pPr>
            <a:r>
              <a:rPr lang="en-US" sz="1150" b="1" i="1" spc="100" kern="0" dirty="0">
                <a:solidFill>
                  <a:srgbClr val="1B2D8A"/>
                </a:solidFill>
                <a:latin typeface="Arial" pitchFamily="34" charset="0"/>
                <a:ea typeface="Arial" pitchFamily="34" charset="-122"/>
                <a:cs typeface="Arial" pitchFamily="34" charset="-120"/>
              </a:rPr>
              <a:t>MOOVE MEDIA</a:t>
            </a:r>
            <a:endParaRPr lang="en-US" sz="1150" dirty="0"/>
          </a:p>
        </p:txBody>
      </p:sp>
      <p:sp>
        <p:nvSpPr>
          <p:cNvPr id="7" name="Text 5"/>
          <p:cNvSpPr/>
          <p:nvPr/>
        </p:nvSpPr>
        <p:spPr>
          <a:xfrm>
            <a:off x="484632" y="6428232"/>
            <a:ext cx="548640" cy="310896"/>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8</a:t>
            </a:r>
            <a:endParaRPr lang="en-US" sz="1000" dirty="0"/>
          </a:p>
        </p:txBody>
      </p:sp>
      <p:sp>
        <p:nvSpPr>
          <p:cNvPr id="8" name="Text 6"/>
          <p:cNvSpPr/>
          <p:nvPr/>
        </p:nvSpPr>
        <p:spPr>
          <a:xfrm>
            <a:off x="2286000" y="1874520"/>
            <a:ext cx="1828800" cy="329184"/>
          </a:xfrm>
          <a:prstGeom prst="rect">
            <a:avLst/>
          </a:prstGeom>
          <a:noFill/>
          <a:ln/>
        </p:spPr>
        <p:txBody>
          <a:bodyPr wrap="square" lIns="0" tIns="0" rIns="0" bIns="0" rtlCol="0" anchor="ctr"/>
          <a:lstStyle/>
          <a:p>
            <a:pPr algn="ctr" indent="0" marL="0">
              <a:buNone/>
            </a:pPr>
            <a:r>
              <a:rPr lang="en-US" sz="1050" b="1" dirty="0">
                <a:solidFill>
                  <a:srgbClr val="5A6484"/>
                </a:solidFill>
                <a:latin typeface="Arial" pitchFamily="34" charset="0"/>
                <a:ea typeface="Arial" pitchFamily="34" charset="-122"/>
                <a:cs typeface="Arial" pitchFamily="34" charset="-120"/>
              </a:rPr>
              <a:t>Central</a:t>
            </a:r>
            <a:endParaRPr lang="en-US" sz="1050" dirty="0"/>
          </a:p>
        </p:txBody>
      </p:sp>
      <p:sp>
        <p:nvSpPr>
          <p:cNvPr id="9" name="Text 7"/>
          <p:cNvSpPr/>
          <p:nvPr/>
        </p:nvSpPr>
        <p:spPr>
          <a:xfrm>
            <a:off x="4114800" y="1874520"/>
            <a:ext cx="1828800" cy="329184"/>
          </a:xfrm>
          <a:prstGeom prst="rect">
            <a:avLst/>
          </a:prstGeom>
          <a:noFill/>
          <a:ln/>
        </p:spPr>
        <p:txBody>
          <a:bodyPr wrap="square" lIns="0" tIns="0" rIns="0" bIns="0" rtlCol="0" anchor="ctr"/>
          <a:lstStyle/>
          <a:p>
            <a:pPr algn="ctr" indent="0" marL="0">
              <a:buNone/>
            </a:pPr>
            <a:r>
              <a:rPr lang="en-US" sz="1050" b="1" dirty="0">
                <a:solidFill>
                  <a:srgbClr val="5A6484"/>
                </a:solidFill>
                <a:latin typeface="Arial" pitchFamily="34" charset="0"/>
                <a:ea typeface="Arial" pitchFamily="34" charset="-122"/>
                <a:cs typeface="Arial" pitchFamily="34" charset="-120"/>
              </a:rPr>
              <a:t>East</a:t>
            </a:r>
            <a:endParaRPr lang="en-US" sz="1050" dirty="0"/>
          </a:p>
        </p:txBody>
      </p:sp>
      <p:sp>
        <p:nvSpPr>
          <p:cNvPr id="10" name="Text 8"/>
          <p:cNvSpPr/>
          <p:nvPr/>
        </p:nvSpPr>
        <p:spPr>
          <a:xfrm>
            <a:off x="5943600" y="1874520"/>
            <a:ext cx="1828800" cy="329184"/>
          </a:xfrm>
          <a:prstGeom prst="rect">
            <a:avLst/>
          </a:prstGeom>
          <a:noFill/>
          <a:ln/>
        </p:spPr>
        <p:txBody>
          <a:bodyPr wrap="square" lIns="0" tIns="0" rIns="0" bIns="0" rtlCol="0" anchor="ctr"/>
          <a:lstStyle/>
          <a:p>
            <a:pPr algn="ctr" indent="0" marL="0">
              <a:buNone/>
            </a:pPr>
            <a:r>
              <a:rPr lang="en-US" sz="1050" b="1" dirty="0">
                <a:solidFill>
                  <a:srgbClr val="5A6484"/>
                </a:solidFill>
                <a:latin typeface="Arial" pitchFamily="34" charset="0"/>
                <a:ea typeface="Arial" pitchFamily="34" charset="-122"/>
                <a:cs typeface="Arial" pitchFamily="34" charset="-120"/>
              </a:rPr>
              <a:t>North</a:t>
            </a:r>
            <a:endParaRPr lang="en-US" sz="1050" dirty="0"/>
          </a:p>
        </p:txBody>
      </p:sp>
      <p:sp>
        <p:nvSpPr>
          <p:cNvPr id="11" name="Text 9"/>
          <p:cNvSpPr/>
          <p:nvPr/>
        </p:nvSpPr>
        <p:spPr>
          <a:xfrm>
            <a:off x="7772400" y="1874520"/>
            <a:ext cx="1828800" cy="329184"/>
          </a:xfrm>
          <a:prstGeom prst="rect">
            <a:avLst/>
          </a:prstGeom>
          <a:noFill/>
          <a:ln/>
        </p:spPr>
        <p:txBody>
          <a:bodyPr wrap="square" lIns="0" tIns="0" rIns="0" bIns="0" rtlCol="0" anchor="ctr"/>
          <a:lstStyle/>
          <a:p>
            <a:pPr algn="ctr" indent="0" marL="0">
              <a:buNone/>
            </a:pPr>
            <a:r>
              <a:rPr lang="en-US" sz="1050" b="1" dirty="0">
                <a:solidFill>
                  <a:srgbClr val="5A6484"/>
                </a:solidFill>
                <a:latin typeface="Arial" pitchFamily="34" charset="0"/>
                <a:ea typeface="Arial" pitchFamily="34" charset="-122"/>
                <a:cs typeface="Arial" pitchFamily="34" charset="-120"/>
              </a:rPr>
              <a:t>North-East</a:t>
            </a:r>
            <a:endParaRPr lang="en-US" sz="1050" dirty="0"/>
          </a:p>
        </p:txBody>
      </p:sp>
      <p:sp>
        <p:nvSpPr>
          <p:cNvPr id="12" name="Text 10"/>
          <p:cNvSpPr/>
          <p:nvPr/>
        </p:nvSpPr>
        <p:spPr>
          <a:xfrm>
            <a:off x="9601200" y="1874520"/>
            <a:ext cx="1828800" cy="329184"/>
          </a:xfrm>
          <a:prstGeom prst="rect">
            <a:avLst/>
          </a:prstGeom>
          <a:noFill/>
          <a:ln/>
        </p:spPr>
        <p:txBody>
          <a:bodyPr wrap="square" lIns="0" tIns="0" rIns="0" bIns="0" rtlCol="0" anchor="ctr"/>
          <a:lstStyle/>
          <a:p>
            <a:pPr algn="ctr" indent="0" marL="0">
              <a:buNone/>
            </a:pPr>
            <a:r>
              <a:rPr lang="en-US" sz="1050" b="1" dirty="0">
                <a:solidFill>
                  <a:srgbClr val="5A6484"/>
                </a:solidFill>
                <a:latin typeface="Arial" pitchFamily="34" charset="0"/>
                <a:ea typeface="Arial" pitchFamily="34" charset="-122"/>
                <a:cs typeface="Arial" pitchFamily="34" charset="-120"/>
              </a:rPr>
              <a:t>West</a:t>
            </a:r>
            <a:endParaRPr lang="en-US" sz="1050" dirty="0"/>
          </a:p>
        </p:txBody>
      </p:sp>
      <p:sp>
        <p:nvSpPr>
          <p:cNvPr id="13" name="Text 11"/>
          <p:cNvSpPr/>
          <p:nvPr/>
        </p:nvSpPr>
        <p:spPr>
          <a:xfrm>
            <a:off x="502920" y="2286000"/>
            <a:ext cx="1645920" cy="566928"/>
          </a:xfrm>
          <a:prstGeom prst="rect">
            <a:avLst/>
          </a:prstGeom>
          <a:noFill/>
          <a:ln/>
        </p:spPr>
        <p:txBody>
          <a:bodyPr wrap="square" lIns="0" tIns="0" rIns="0" bIns="0" rtlCol="0" anchor="ctr"/>
          <a:lstStyle/>
          <a:p>
            <a:pPr indent="0" marL="0">
              <a:buNone/>
            </a:pPr>
            <a:r>
              <a:rPr lang="en-US" sz="1300" dirty="0">
                <a:solidFill>
                  <a:srgbClr val="14204A"/>
                </a:solidFill>
                <a:latin typeface="Arial" pitchFamily="34" charset="0"/>
                <a:ea typeface="Arial" pitchFamily="34" charset="-122"/>
                <a:cs typeface="Arial" pitchFamily="34" charset="-120"/>
              </a:rPr>
              <a:t>Set 1</a:t>
            </a:r>
            <a:endParaRPr lang="en-US" sz="1300" dirty="0"/>
          </a:p>
        </p:txBody>
      </p:sp>
      <p:sp>
        <p:nvSpPr>
          <p:cNvPr id="14" name="Shape 12"/>
          <p:cNvSpPr/>
          <p:nvPr/>
        </p:nvSpPr>
        <p:spPr>
          <a:xfrm>
            <a:off x="2340864" y="2286000"/>
            <a:ext cx="1719072" cy="566928"/>
          </a:xfrm>
          <a:prstGeom prst="roundRect">
            <a:avLst>
              <a:gd name="adj" fmla="val 11290"/>
            </a:avLst>
          </a:prstGeom>
          <a:solidFill>
            <a:srgbClr val="4A5BB0"/>
          </a:solidFill>
          <a:ln/>
        </p:spPr>
      </p:sp>
      <p:sp>
        <p:nvSpPr>
          <p:cNvPr id="15" name="Text 13"/>
          <p:cNvSpPr/>
          <p:nvPr/>
        </p:nvSpPr>
        <p:spPr>
          <a:xfrm>
            <a:off x="2340864" y="2286000"/>
            <a:ext cx="1719072"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24.0%</a:t>
            </a:r>
            <a:endParaRPr lang="en-US" sz="1200" dirty="0"/>
          </a:p>
        </p:txBody>
      </p:sp>
      <p:sp>
        <p:nvSpPr>
          <p:cNvPr id="16" name="Shape 14"/>
          <p:cNvSpPr/>
          <p:nvPr/>
        </p:nvSpPr>
        <p:spPr>
          <a:xfrm>
            <a:off x="4169664" y="2286000"/>
            <a:ext cx="1719072" cy="566928"/>
          </a:xfrm>
          <a:prstGeom prst="roundRect">
            <a:avLst>
              <a:gd name="adj" fmla="val 11290"/>
            </a:avLst>
          </a:prstGeom>
          <a:solidFill>
            <a:srgbClr val="4A5BB0"/>
          </a:solidFill>
          <a:ln/>
        </p:spPr>
      </p:sp>
      <p:sp>
        <p:nvSpPr>
          <p:cNvPr id="17" name="Text 15"/>
          <p:cNvSpPr/>
          <p:nvPr/>
        </p:nvSpPr>
        <p:spPr>
          <a:xfrm>
            <a:off x="4169664" y="2286000"/>
            <a:ext cx="1719072"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28.9%</a:t>
            </a:r>
            <a:endParaRPr lang="en-US" sz="1200" dirty="0"/>
          </a:p>
        </p:txBody>
      </p:sp>
      <p:sp>
        <p:nvSpPr>
          <p:cNvPr id="18" name="Shape 16"/>
          <p:cNvSpPr/>
          <p:nvPr/>
        </p:nvSpPr>
        <p:spPr>
          <a:xfrm>
            <a:off x="5998464" y="2286000"/>
            <a:ext cx="1719072" cy="566928"/>
          </a:xfrm>
          <a:prstGeom prst="roundRect">
            <a:avLst>
              <a:gd name="adj" fmla="val 11290"/>
            </a:avLst>
          </a:prstGeom>
          <a:solidFill>
            <a:srgbClr val="9AA5D6"/>
          </a:solidFill>
          <a:ln/>
        </p:spPr>
      </p:sp>
      <p:sp>
        <p:nvSpPr>
          <p:cNvPr id="19" name="Text 17"/>
          <p:cNvSpPr/>
          <p:nvPr/>
        </p:nvSpPr>
        <p:spPr>
          <a:xfrm>
            <a:off x="5998464" y="2286000"/>
            <a:ext cx="1719072" cy="566928"/>
          </a:xfrm>
          <a:prstGeom prst="rect">
            <a:avLst/>
          </a:prstGeom>
          <a:noFill/>
          <a:ln/>
        </p:spPr>
        <p:txBody>
          <a:bodyPr wrap="square" lIns="0" tIns="0" rIns="0" bIns="0" rtlCol="0" anchor="ctr"/>
          <a:lstStyle/>
          <a:p>
            <a:pPr algn="ctr" indent="0" marL="0">
              <a:buNone/>
            </a:pPr>
            <a:r>
              <a:rPr lang="en-US" sz="1200" dirty="0">
                <a:solidFill>
                  <a:srgbClr val="14204A"/>
                </a:solidFill>
                <a:latin typeface="Arial" pitchFamily="34" charset="0"/>
                <a:ea typeface="Arial" pitchFamily="34" charset="-122"/>
                <a:cs typeface="Arial" pitchFamily="34" charset="-120"/>
              </a:rPr>
              <a:t>13.6%</a:t>
            </a:r>
            <a:endParaRPr lang="en-US" sz="1200" dirty="0"/>
          </a:p>
        </p:txBody>
      </p:sp>
      <p:sp>
        <p:nvSpPr>
          <p:cNvPr id="20" name="Shape 18"/>
          <p:cNvSpPr/>
          <p:nvPr/>
        </p:nvSpPr>
        <p:spPr>
          <a:xfrm>
            <a:off x="7827264" y="2286000"/>
            <a:ext cx="1719072" cy="566928"/>
          </a:xfrm>
          <a:prstGeom prst="roundRect">
            <a:avLst>
              <a:gd name="adj" fmla="val 11290"/>
            </a:avLst>
          </a:prstGeom>
          <a:solidFill>
            <a:srgbClr val="4A5BB0"/>
          </a:solidFill>
          <a:ln/>
        </p:spPr>
      </p:sp>
      <p:sp>
        <p:nvSpPr>
          <p:cNvPr id="21" name="Text 19"/>
          <p:cNvSpPr/>
          <p:nvPr/>
        </p:nvSpPr>
        <p:spPr>
          <a:xfrm>
            <a:off x="7827264" y="2286000"/>
            <a:ext cx="1719072"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23.0%</a:t>
            </a:r>
            <a:endParaRPr lang="en-US" sz="1200" dirty="0"/>
          </a:p>
        </p:txBody>
      </p:sp>
      <p:sp>
        <p:nvSpPr>
          <p:cNvPr id="22" name="Shape 20"/>
          <p:cNvSpPr/>
          <p:nvPr/>
        </p:nvSpPr>
        <p:spPr>
          <a:xfrm>
            <a:off x="9656064" y="2286000"/>
            <a:ext cx="1719072" cy="566928"/>
          </a:xfrm>
          <a:prstGeom prst="roundRect">
            <a:avLst>
              <a:gd name="adj" fmla="val 11290"/>
            </a:avLst>
          </a:prstGeom>
          <a:solidFill>
            <a:srgbClr val="DDE2F2"/>
          </a:solidFill>
          <a:ln/>
        </p:spPr>
      </p:sp>
      <p:sp>
        <p:nvSpPr>
          <p:cNvPr id="23" name="Text 21"/>
          <p:cNvSpPr/>
          <p:nvPr/>
        </p:nvSpPr>
        <p:spPr>
          <a:xfrm>
            <a:off x="9656064" y="2286000"/>
            <a:ext cx="1719072" cy="566928"/>
          </a:xfrm>
          <a:prstGeom prst="rect">
            <a:avLst/>
          </a:prstGeom>
          <a:noFill/>
          <a:ln/>
        </p:spPr>
        <p:txBody>
          <a:bodyPr wrap="square" lIns="0" tIns="0" rIns="0" bIns="0" rtlCol="0" anchor="ctr"/>
          <a:lstStyle/>
          <a:p>
            <a:pPr algn="ctr" indent="0" marL="0">
              <a:buNone/>
            </a:pPr>
            <a:r>
              <a:rPr lang="en-US" sz="1200" dirty="0">
                <a:solidFill>
                  <a:srgbClr val="14204A"/>
                </a:solidFill>
                <a:latin typeface="Arial" pitchFamily="34" charset="0"/>
                <a:ea typeface="Arial" pitchFamily="34" charset="-122"/>
                <a:cs typeface="Arial" pitchFamily="34" charset="-120"/>
              </a:rPr>
              <a:t>10.5%</a:t>
            </a:r>
            <a:endParaRPr lang="en-US" sz="1200" dirty="0"/>
          </a:p>
        </p:txBody>
      </p:sp>
      <p:sp>
        <p:nvSpPr>
          <p:cNvPr id="24" name="Text 22"/>
          <p:cNvSpPr/>
          <p:nvPr/>
        </p:nvSpPr>
        <p:spPr>
          <a:xfrm>
            <a:off x="502920" y="2962656"/>
            <a:ext cx="1645920" cy="566928"/>
          </a:xfrm>
          <a:prstGeom prst="rect">
            <a:avLst/>
          </a:prstGeom>
          <a:noFill/>
          <a:ln/>
        </p:spPr>
        <p:txBody>
          <a:bodyPr wrap="square" lIns="0" tIns="0" rIns="0" bIns="0" rtlCol="0" anchor="ctr"/>
          <a:lstStyle/>
          <a:p>
            <a:pPr indent="0" marL="0">
              <a:buNone/>
            </a:pPr>
            <a:r>
              <a:rPr lang="en-US" sz="1300" dirty="0">
                <a:solidFill>
                  <a:srgbClr val="14204A"/>
                </a:solidFill>
                <a:latin typeface="Arial" pitchFamily="34" charset="0"/>
                <a:ea typeface="Arial" pitchFamily="34" charset="-122"/>
                <a:cs typeface="Arial" pitchFamily="34" charset="-120"/>
              </a:rPr>
              <a:t>DBP C1</a:t>
            </a:r>
            <a:endParaRPr lang="en-US" sz="1300" dirty="0"/>
          </a:p>
        </p:txBody>
      </p:sp>
      <p:sp>
        <p:nvSpPr>
          <p:cNvPr id="25" name="Shape 23"/>
          <p:cNvSpPr/>
          <p:nvPr/>
        </p:nvSpPr>
        <p:spPr>
          <a:xfrm>
            <a:off x="2340864" y="2962656"/>
            <a:ext cx="1719072" cy="566928"/>
          </a:xfrm>
          <a:prstGeom prst="roundRect">
            <a:avLst>
              <a:gd name="adj" fmla="val 11290"/>
            </a:avLst>
          </a:prstGeom>
          <a:solidFill>
            <a:srgbClr val="1B2D8A"/>
          </a:solidFill>
          <a:ln/>
        </p:spPr>
      </p:sp>
      <p:sp>
        <p:nvSpPr>
          <p:cNvPr id="26" name="Text 24"/>
          <p:cNvSpPr/>
          <p:nvPr/>
        </p:nvSpPr>
        <p:spPr>
          <a:xfrm>
            <a:off x="2340864" y="2962656"/>
            <a:ext cx="1719072"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39.0%</a:t>
            </a:r>
            <a:endParaRPr lang="en-US" sz="1200" dirty="0"/>
          </a:p>
        </p:txBody>
      </p:sp>
      <p:sp>
        <p:nvSpPr>
          <p:cNvPr id="27" name="Shape 25"/>
          <p:cNvSpPr/>
          <p:nvPr/>
        </p:nvSpPr>
        <p:spPr>
          <a:xfrm>
            <a:off x="4169664" y="2962656"/>
            <a:ext cx="1719072" cy="566928"/>
          </a:xfrm>
          <a:prstGeom prst="roundRect">
            <a:avLst>
              <a:gd name="adj" fmla="val 11290"/>
            </a:avLst>
          </a:prstGeom>
          <a:solidFill>
            <a:srgbClr val="FFFFFF"/>
          </a:solidFill>
          <a:ln w="19050">
            <a:solidFill>
              <a:srgbClr val="F0245E"/>
            </a:solidFill>
            <a:prstDash val="dash"/>
          </a:ln>
        </p:spPr>
      </p:sp>
      <p:sp>
        <p:nvSpPr>
          <p:cNvPr id="28" name="Text 26"/>
          <p:cNvSpPr/>
          <p:nvPr/>
        </p:nvSpPr>
        <p:spPr>
          <a:xfrm>
            <a:off x="4169664" y="2962656"/>
            <a:ext cx="1719072" cy="566928"/>
          </a:xfrm>
          <a:prstGeom prst="rect">
            <a:avLst/>
          </a:prstGeom>
          <a:noFill/>
          <a:ln/>
        </p:spPr>
        <p:txBody>
          <a:bodyPr wrap="square" lIns="0" tIns="0" rIns="0" bIns="0" rtlCol="0" anchor="ctr"/>
          <a:lstStyle/>
          <a:p>
            <a:pPr algn="ctr" indent="0" marL="0">
              <a:buNone/>
            </a:pPr>
            <a:r>
              <a:rPr lang="en-US" sz="1200" b="1" dirty="0">
                <a:solidFill>
                  <a:srgbClr val="F0245E"/>
                </a:solidFill>
                <a:latin typeface="Arial" pitchFamily="34" charset="0"/>
                <a:ea typeface="Arial" pitchFamily="34" charset="-122"/>
                <a:cs typeface="Arial" pitchFamily="34" charset="-120"/>
              </a:rPr>
              <a:t>0.0%</a:t>
            </a:r>
            <a:endParaRPr lang="en-US" sz="1200" dirty="0"/>
          </a:p>
        </p:txBody>
      </p:sp>
      <p:sp>
        <p:nvSpPr>
          <p:cNvPr id="29" name="Shape 27"/>
          <p:cNvSpPr/>
          <p:nvPr/>
        </p:nvSpPr>
        <p:spPr>
          <a:xfrm>
            <a:off x="5998464" y="2962656"/>
            <a:ext cx="1719072" cy="566928"/>
          </a:xfrm>
          <a:prstGeom prst="roundRect">
            <a:avLst>
              <a:gd name="adj" fmla="val 11290"/>
            </a:avLst>
          </a:prstGeom>
          <a:solidFill>
            <a:srgbClr val="DDE2F2"/>
          </a:solidFill>
          <a:ln/>
        </p:spPr>
      </p:sp>
      <p:sp>
        <p:nvSpPr>
          <p:cNvPr id="30" name="Text 28"/>
          <p:cNvSpPr/>
          <p:nvPr/>
        </p:nvSpPr>
        <p:spPr>
          <a:xfrm>
            <a:off x="5998464" y="2962656"/>
            <a:ext cx="1719072" cy="566928"/>
          </a:xfrm>
          <a:prstGeom prst="rect">
            <a:avLst/>
          </a:prstGeom>
          <a:noFill/>
          <a:ln/>
        </p:spPr>
        <p:txBody>
          <a:bodyPr wrap="square" lIns="0" tIns="0" rIns="0" bIns="0" rtlCol="0" anchor="ctr"/>
          <a:lstStyle/>
          <a:p>
            <a:pPr algn="ctr" indent="0" marL="0">
              <a:buNone/>
            </a:pPr>
            <a:r>
              <a:rPr lang="en-US" sz="1200" dirty="0">
                <a:solidFill>
                  <a:srgbClr val="14204A"/>
                </a:solidFill>
                <a:latin typeface="Arial" pitchFamily="34" charset="0"/>
                <a:ea typeface="Arial" pitchFamily="34" charset="-122"/>
                <a:cs typeface="Arial" pitchFamily="34" charset="-120"/>
              </a:rPr>
              <a:t>7.8%</a:t>
            </a:r>
            <a:endParaRPr lang="en-US" sz="1200" dirty="0"/>
          </a:p>
        </p:txBody>
      </p:sp>
      <p:sp>
        <p:nvSpPr>
          <p:cNvPr id="31" name="Shape 29"/>
          <p:cNvSpPr/>
          <p:nvPr/>
        </p:nvSpPr>
        <p:spPr>
          <a:xfrm>
            <a:off x="7827264" y="2962656"/>
            <a:ext cx="1719072" cy="566928"/>
          </a:xfrm>
          <a:prstGeom prst="roundRect">
            <a:avLst>
              <a:gd name="adj" fmla="val 11290"/>
            </a:avLst>
          </a:prstGeom>
          <a:solidFill>
            <a:srgbClr val="4A5BB0"/>
          </a:solidFill>
          <a:ln/>
        </p:spPr>
      </p:sp>
      <p:sp>
        <p:nvSpPr>
          <p:cNvPr id="32" name="Text 30"/>
          <p:cNvSpPr/>
          <p:nvPr/>
        </p:nvSpPr>
        <p:spPr>
          <a:xfrm>
            <a:off x="7827264" y="2962656"/>
            <a:ext cx="1719072"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26.1%</a:t>
            </a:r>
            <a:endParaRPr lang="en-US" sz="1200" dirty="0"/>
          </a:p>
        </p:txBody>
      </p:sp>
      <p:sp>
        <p:nvSpPr>
          <p:cNvPr id="33" name="Shape 31"/>
          <p:cNvSpPr/>
          <p:nvPr/>
        </p:nvSpPr>
        <p:spPr>
          <a:xfrm>
            <a:off x="9656064" y="2962656"/>
            <a:ext cx="1719072" cy="566928"/>
          </a:xfrm>
          <a:prstGeom prst="roundRect">
            <a:avLst>
              <a:gd name="adj" fmla="val 11290"/>
            </a:avLst>
          </a:prstGeom>
          <a:solidFill>
            <a:srgbClr val="4A5BB0"/>
          </a:solidFill>
          <a:ln/>
        </p:spPr>
      </p:sp>
      <p:sp>
        <p:nvSpPr>
          <p:cNvPr id="34" name="Text 32"/>
          <p:cNvSpPr/>
          <p:nvPr/>
        </p:nvSpPr>
        <p:spPr>
          <a:xfrm>
            <a:off x="9656064" y="2962656"/>
            <a:ext cx="1719072"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27.1%</a:t>
            </a:r>
            <a:endParaRPr lang="en-US" sz="1200" dirty="0"/>
          </a:p>
        </p:txBody>
      </p:sp>
      <p:sp>
        <p:nvSpPr>
          <p:cNvPr id="35" name="Text 33"/>
          <p:cNvSpPr/>
          <p:nvPr/>
        </p:nvSpPr>
        <p:spPr>
          <a:xfrm>
            <a:off x="502920" y="3639312"/>
            <a:ext cx="1645920" cy="566928"/>
          </a:xfrm>
          <a:prstGeom prst="rect">
            <a:avLst/>
          </a:prstGeom>
          <a:noFill/>
          <a:ln/>
        </p:spPr>
        <p:txBody>
          <a:bodyPr wrap="square" lIns="0" tIns="0" rIns="0" bIns="0" rtlCol="0" anchor="ctr"/>
          <a:lstStyle/>
          <a:p>
            <a:pPr indent="0" marL="0">
              <a:buNone/>
            </a:pPr>
            <a:r>
              <a:rPr lang="en-US" sz="1300" dirty="0">
                <a:solidFill>
                  <a:srgbClr val="14204A"/>
                </a:solidFill>
                <a:latin typeface="Arial" pitchFamily="34" charset="0"/>
                <a:ea typeface="Arial" pitchFamily="34" charset="-122"/>
                <a:cs typeface="Arial" pitchFamily="34" charset="-120"/>
              </a:rPr>
              <a:t>DBP L2</a:t>
            </a:r>
            <a:endParaRPr lang="en-US" sz="1300" dirty="0"/>
          </a:p>
        </p:txBody>
      </p:sp>
      <p:sp>
        <p:nvSpPr>
          <p:cNvPr id="36" name="Shape 34"/>
          <p:cNvSpPr/>
          <p:nvPr/>
        </p:nvSpPr>
        <p:spPr>
          <a:xfrm>
            <a:off x="2340864" y="3639312"/>
            <a:ext cx="1719072" cy="566928"/>
          </a:xfrm>
          <a:prstGeom prst="roundRect">
            <a:avLst>
              <a:gd name="adj" fmla="val 11290"/>
            </a:avLst>
          </a:prstGeom>
          <a:solidFill>
            <a:srgbClr val="1B2D8A"/>
          </a:solidFill>
          <a:ln/>
        </p:spPr>
      </p:sp>
      <p:sp>
        <p:nvSpPr>
          <p:cNvPr id="37" name="Text 35"/>
          <p:cNvSpPr/>
          <p:nvPr/>
        </p:nvSpPr>
        <p:spPr>
          <a:xfrm>
            <a:off x="2340864" y="3639312"/>
            <a:ext cx="1719072"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46.2%</a:t>
            </a:r>
            <a:endParaRPr lang="en-US" sz="1200" dirty="0"/>
          </a:p>
        </p:txBody>
      </p:sp>
      <p:sp>
        <p:nvSpPr>
          <p:cNvPr id="38" name="Shape 36"/>
          <p:cNvSpPr/>
          <p:nvPr/>
        </p:nvSpPr>
        <p:spPr>
          <a:xfrm>
            <a:off x="4169664" y="3639312"/>
            <a:ext cx="1719072" cy="566928"/>
          </a:xfrm>
          <a:prstGeom prst="roundRect">
            <a:avLst>
              <a:gd name="adj" fmla="val 11290"/>
            </a:avLst>
          </a:prstGeom>
          <a:solidFill>
            <a:srgbClr val="4A5BB0"/>
          </a:solidFill>
          <a:ln/>
        </p:spPr>
      </p:sp>
      <p:sp>
        <p:nvSpPr>
          <p:cNvPr id="39" name="Text 37"/>
          <p:cNvSpPr/>
          <p:nvPr/>
        </p:nvSpPr>
        <p:spPr>
          <a:xfrm>
            <a:off x="4169664" y="3639312"/>
            <a:ext cx="1719072"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28.8%</a:t>
            </a:r>
            <a:endParaRPr lang="en-US" sz="1200" dirty="0"/>
          </a:p>
        </p:txBody>
      </p:sp>
      <p:sp>
        <p:nvSpPr>
          <p:cNvPr id="40" name="Shape 38"/>
          <p:cNvSpPr/>
          <p:nvPr/>
        </p:nvSpPr>
        <p:spPr>
          <a:xfrm>
            <a:off x="5998464" y="3639312"/>
            <a:ext cx="1719072" cy="566928"/>
          </a:xfrm>
          <a:prstGeom prst="roundRect">
            <a:avLst>
              <a:gd name="adj" fmla="val 11290"/>
            </a:avLst>
          </a:prstGeom>
          <a:solidFill>
            <a:srgbClr val="FFFFFF"/>
          </a:solidFill>
          <a:ln w="19050">
            <a:solidFill>
              <a:srgbClr val="F0245E"/>
            </a:solidFill>
            <a:prstDash val="dash"/>
          </a:ln>
        </p:spPr>
      </p:sp>
      <p:sp>
        <p:nvSpPr>
          <p:cNvPr id="41" name="Text 39"/>
          <p:cNvSpPr/>
          <p:nvPr/>
        </p:nvSpPr>
        <p:spPr>
          <a:xfrm>
            <a:off x="5998464" y="3639312"/>
            <a:ext cx="1719072" cy="566928"/>
          </a:xfrm>
          <a:prstGeom prst="rect">
            <a:avLst/>
          </a:prstGeom>
          <a:noFill/>
          <a:ln/>
        </p:spPr>
        <p:txBody>
          <a:bodyPr wrap="square" lIns="0" tIns="0" rIns="0" bIns="0" rtlCol="0" anchor="ctr"/>
          <a:lstStyle/>
          <a:p>
            <a:pPr algn="ctr" indent="0" marL="0">
              <a:buNone/>
            </a:pPr>
            <a:r>
              <a:rPr lang="en-US" sz="1200" b="1" dirty="0">
                <a:solidFill>
                  <a:srgbClr val="F0245E"/>
                </a:solidFill>
                <a:latin typeface="Arial" pitchFamily="34" charset="0"/>
                <a:ea typeface="Arial" pitchFamily="34" charset="-122"/>
                <a:cs typeface="Arial" pitchFamily="34" charset="-120"/>
              </a:rPr>
              <a:t>0.0%</a:t>
            </a:r>
            <a:endParaRPr lang="en-US" sz="1200" dirty="0"/>
          </a:p>
        </p:txBody>
      </p:sp>
      <p:sp>
        <p:nvSpPr>
          <p:cNvPr id="42" name="Shape 40"/>
          <p:cNvSpPr/>
          <p:nvPr/>
        </p:nvSpPr>
        <p:spPr>
          <a:xfrm>
            <a:off x="7827264" y="3639312"/>
            <a:ext cx="1719072" cy="566928"/>
          </a:xfrm>
          <a:prstGeom prst="roundRect">
            <a:avLst>
              <a:gd name="adj" fmla="val 11290"/>
            </a:avLst>
          </a:prstGeom>
          <a:solidFill>
            <a:srgbClr val="9AA5D6"/>
          </a:solidFill>
          <a:ln/>
        </p:spPr>
      </p:sp>
      <p:sp>
        <p:nvSpPr>
          <p:cNvPr id="43" name="Text 41"/>
          <p:cNvSpPr/>
          <p:nvPr/>
        </p:nvSpPr>
        <p:spPr>
          <a:xfrm>
            <a:off x="7827264" y="3639312"/>
            <a:ext cx="1719072" cy="566928"/>
          </a:xfrm>
          <a:prstGeom prst="rect">
            <a:avLst/>
          </a:prstGeom>
          <a:noFill/>
          <a:ln/>
        </p:spPr>
        <p:txBody>
          <a:bodyPr wrap="square" lIns="0" tIns="0" rIns="0" bIns="0" rtlCol="0" anchor="ctr"/>
          <a:lstStyle/>
          <a:p>
            <a:pPr algn="ctr" indent="0" marL="0">
              <a:buNone/>
            </a:pPr>
            <a:r>
              <a:rPr lang="en-US" sz="1200" dirty="0">
                <a:solidFill>
                  <a:srgbClr val="14204A"/>
                </a:solidFill>
                <a:latin typeface="Arial" pitchFamily="34" charset="0"/>
                <a:ea typeface="Arial" pitchFamily="34" charset="-122"/>
                <a:cs typeface="Arial" pitchFamily="34" charset="-120"/>
              </a:rPr>
              <a:t>12.5%</a:t>
            </a:r>
            <a:endParaRPr lang="en-US" sz="1200" dirty="0"/>
          </a:p>
        </p:txBody>
      </p:sp>
      <p:sp>
        <p:nvSpPr>
          <p:cNvPr id="44" name="Shape 42"/>
          <p:cNvSpPr/>
          <p:nvPr/>
        </p:nvSpPr>
        <p:spPr>
          <a:xfrm>
            <a:off x="9656064" y="3639312"/>
            <a:ext cx="1719072" cy="566928"/>
          </a:xfrm>
          <a:prstGeom prst="roundRect">
            <a:avLst>
              <a:gd name="adj" fmla="val 11290"/>
            </a:avLst>
          </a:prstGeom>
          <a:solidFill>
            <a:srgbClr val="9AA5D6"/>
          </a:solidFill>
          <a:ln/>
        </p:spPr>
      </p:sp>
      <p:sp>
        <p:nvSpPr>
          <p:cNvPr id="45" name="Text 43"/>
          <p:cNvSpPr/>
          <p:nvPr/>
        </p:nvSpPr>
        <p:spPr>
          <a:xfrm>
            <a:off x="9656064" y="3639312"/>
            <a:ext cx="1719072" cy="566928"/>
          </a:xfrm>
          <a:prstGeom prst="rect">
            <a:avLst/>
          </a:prstGeom>
          <a:noFill/>
          <a:ln/>
        </p:spPr>
        <p:txBody>
          <a:bodyPr wrap="square" lIns="0" tIns="0" rIns="0" bIns="0" rtlCol="0" anchor="ctr"/>
          <a:lstStyle/>
          <a:p>
            <a:pPr algn="ctr" indent="0" marL="0">
              <a:buNone/>
            </a:pPr>
            <a:r>
              <a:rPr lang="en-US" sz="1200" dirty="0">
                <a:solidFill>
                  <a:srgbClr val="14204A"/>
                </a:solidFill>
                <a:latin typeface="Arial" pitchFamily="34" charset="0"/>
                <a:ea typeface="Arial" pitchFamily="34" charset="-122"/>
                <a:cs typeface="Arial" pitchFamily="34" charset="-120"/>
              </a:rPr>
              <a:t>12.6%</a:t>
            </a:r>
            <a:endParaRPr lang="en-US" sz="1200" dirty="0"/>
          </a:p>
        </p:txBody>
      </p:sp>
      <p:sp>
        <p:nvSpPr>
          <p:cNvPr id="46" name="Text 44"/>
          <p:cNvSpPr/>
          <p:nvPr/>
        </p:nvSpPr>
        <p:spPr>
          <a:xfrm>
            <a:off x="502920" y="4315968"/>
            <a:ext cx="1645920" cy="566928"/>
          </a:xfrm>
          <a:prstGeom prst="rect">
            <a:avLst/>
          </a:prstGeom>
          <a:noFill/>
          <a:ln/>
        </p:spPr>
        <p:txBody>
          <a:bodyPr wrap="square" lIns="0" tIns="0" rIns="0" bIns="0" rtlCol="0" anchor="ctr"/>
          <a:lstStyle/>
          <a:p>
            <a:pPr indent="0" marL="0">
              <a:buNone/>
            </a:pPr>
            <a:r>
              <a:rPr lang="en-US" sz="1300" b="1" dirty="0">
                <a:solidFill>
                  <a:srgbClr val="F0245E"/>
                </a:solidFill>
                <a:latin typeface="Arial" pitchFamily="34" charset="0"/>
                <a:ea typeface="Arial" pitchFamily="34" charset="-122"/>
                <a:cs typeface="Arial" pitchFamily="34" charset="-120"/>
              </a:rPr>
              <a:t>DBP C2</a:t>
            </a:r>
            <a:endParaRPr lang="en-US" sz="1300" dirty="0"/>
          </a:p>
        </p:txBody>
      </p:sp>
      <p:sp>
        <p:nvSpPr>
          <p:cNvPr id="47" name="Shape 45"/>
          <p:cNvSpPr/>
          <p:nvPr/>
        </p:nvSpPr>
        <p:spPr>
          <a:xfrm>
            <a:off x="2340864" y="4315968"/>
            <a:ext cx="1719072" cy="566928"/>
          </a:xfrm>
          <a:prstGeom prst="roundRect">
            <a:avLst>
              <a:gd name="adj" fmla="val 11290"/>
            </a:avLst>
          </a:prstGeom>
          <a:solidFill>
            <a:srgbClr val="1B2D8A"/>
          </a:solidFill>
          <a:ln/>
        </p:spPr>
      </p:sp>
      <p:sp>
        <p:nvSpPr>
          <p:cNvPr id="48" name="Text 46"/>
          <p:cNvSpPr/>
          <p:nvPr/>
        </p:nvSpPr>
        <p:spPr>
          <a:xfrm>
            <a:off x="2340864" y="4315968"/>
            <a:ext cx="1719072"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37.5%</a:t>
            </a:r>
            <a:endParaRPr lang="en-US" sz="1200" dirty="0"/>
          </a:p>
        </p:txBody>
      </p:sp>
      <p:sp>
        <p:nvSpPr>
          <p:cNvPr id="49" name="Shape 47"/>
          <p:cNvSpPr/>
          <p:nvPr/>
        </p:nvSpPr>
        <p:spPr>
          <a:xfrm>
            <a:off x="4169664" y="4315968"/>
            <a:ext cx="1719072" cy="566928"/>
          </a:xfrm>
          <a:prstGeom prst="roundRect">
            <a:avLst>
              <a:gd name="adj" fmla="val 11290"/>
            </a:avLst>
          </a:prstGeom>
          <a:solidFill>
            <a:srgbClr val="DDE2F2"/>
          </a:solidFill>
          <a:ln/>
        </p:spPr>
      </p:sp>
      <p:sp>
        <p:nvSpPr>
          <p:cNvPr id="50" name="Text 48"/>
          <p:cNvSpPr/>
          <p:nvPr/>
        </p:nvSpPr>
        <p:spPr>
          <a:xfrm>
            <a:off x="4169664" y="4315968"/>
            <a:ext cx="1719072" cy="566928"/>
          </a:xfrm>
          <a:prstGeom prst="rect">
            <a:avLst/>
          </a:prstGeom>
          <a:noFill/>
          <a:ln/>
        </p:spPr>
        <p:txBody>
          <a:bodyPr wrap="square" lIns="0" tIns="0" rIns="0" bIns="0" rtlCol="0" anchor="ctr"/>
          <a:lstStyle/>
          <a:p>
            <a:pPr algn="ctr" indent="0" marL="0">
              <a:buNone/>
            </a:pPr>
            <a:r>
              <a:rPr lang="en-US" sz="1200" dirty="0">
                <a:solidFill>
                  <a:srgbClr val="14204A"/>
                </a:solidFill>
                <a:latin typeface="Arial" pitchFamily="34" charset="0"/>
                <a:ea typeface="Arial" pitchFamily="34" charset="-122"/>
                <a:cs typeface="Arial" pitchFamily="34" charset="-120"/>
              </a:rPr>
              <a:t>11.7%</a:t>
            </a:r>
            <a:endParaRPr lang="en-US" sz="1200" dirty="0"/>
          </a:p>
        </p:txBody>
      </p:sp>
      <p:sp>
        <p:nvSpPr>
          <p:cNvPr id="51" name="Shape 49"/>
          <p:cNvSpPr/>
          <p:nvPr/>
        </p:nvSpPr>
        <p:spPr>
          <a:xfrm>
            <a:off x="5998464" y="4315968"/>
            <a:ext cx="1719072" cy="566928"/>
          </a:xfrm>
          <a:prstGeom prst="roundRect">
            <a:avLst>
              <a:gd name="adj" fmla="val 11290"/>
            </a:avLst>
          </a:prstGeom>
          <a:solidFill>
            <a:srgbClr val="FFFFFF"/>
          </a:solidFill>
          <a:ln w="19050">
            <a:solidFill>
              <a:srgbClr val="F0245E"/>
            </a:solidFill>
            <a:prstDash val="dash"/>
          </a:ln>
        </p:spPr>
      </p:sp>
      <p:sp>
        <p:nvSpPr>
          <p:cNvPr id="52" name="Text 50"/>
          <p:cNvSpPr/>
          <p:nvPr/>
        </p:nvSpPr>
        <p:spPr>
          <a:xfrm>
            <a:off x="5998464" y="4315968"/>
            <a:ext cx="1719072" cy="566928"/>
          </a:xfrm>
          <a:prstGeom prst="rect">
            <a:avLst/>
          </a:prstGeom>
          <a:noFill/>
          <a:ln/>
        </p:spPr>
        <p:txBody>
          <a:bodyPr wrap="square" lIns="0" tIns="0" rIns="0" bIns="0" rtlCol="0" anchor="ctr"/>
          <a:lstStyle/>
          <a:p>
            <a:pPr algn="ctr" indent="0" marL="0">
              <a:buNone/>
            </a:pPr>
            <a:r>
              <a:rPr lang="en-US" sz="1200" b="1" dirty="0">
                <a:solidFill>
                  <a:srgbClr val="F0245E"/>
                </a:solidFill>
                <a:latin typeface="Arial" pitchFamily="34" charset="0"/>
                <a:ea typeface="Arial" pitchFamily="34" charset="-122"/>
                <a:cs typeface="Arial" pitchFamily="34" charset="-120"/>
              </a:rPr>
              <a:t>0.3%</a:t>
            </a:r>
            <a:endParaRPr lang="en-US" sz="1200" dirty="0"/>
          </a:p>
        </p:txBody>
      </p:sp>
      <p:sp>
        <p:nvSpPr>
          <p:cNvPr id="53" name="Shape 51"/>
          <p:cNvSpPr/>
          <p:nvPr/>
        </p:nvSpPr>
        <p:spPr>
          <a:xfrm>
            <a:off x="7827264" y="4315968"/>
            <a:ext cx="1719072" cy="566928"/>
          </a:xfrm>
          <a:prstGeom prst="roundRect">
            <a:avLst>
              <a:gd name="adj" fmla="val 11290"/>
            </a:avLst>
          </a:prstGeom>
          <a:solidFill>
            <a:srgbClr val="1B2D8A"/>
          </a:solidFill>
          <a:ln/>
        </p:spPr>
      </p:sp>
      <p:sp>
        <p:nvSpPr>
          <p:cNvPr id="54" name="Text 52"/>
          <p:cNvSpPr/>
          <p:nvPr/>
        </p:nvSpPr>
        <p:spPr>
          <a:xfrm>
            <a:off x="7827264" y="4315968"/>
            <a:ext cx="1719072"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36.0%</a:t>
            </a:r>
            <a:endParaRPr lang="en-US" sz="1200" dirty="0"/>
          </a:p>
        </p:txBody>
      </p:sp>
      <p:sp>
        <p:nvSpPr>
          <p:cNvPr id="55" name="Shape 53"/>
          <p:cNvSpPr/>
          <p:nvPr/>
        </p:nvSpPr>
        <p:spPr>
          <a:xfrm>
            <a:off x="9656064" y="4315968"/>
            <a:ext cx="1719072" cy="566928"/>
          </a:xfrm>
          <a:prstGeom prst="roundRect">
            <a:avLst>
              <a:gd name="adj" fmla="val 11290"/>
            </a:avLst>
          </a:prstGeom>
          <a:solidFill>
            <a:srgbClr val="9AA5D6"/>
          </a:solidFill>
          <a:ln/>
        </p:spPr>
      </p:sp>
      <p:sp>
        <p:nvSpPr>
          <p:cNvPr id="56" name="Text 54"/>
          <p:cNvSpPr/>
          <p:nvPr/>
        </p:nvSpPr>
        <p:spPr>
          <a:xfrm>
            <a:off x="9656064" y="4315968"/>
            <a:ext cx="1719072" cy="566928"/>
          </a:xfrm>
          <a:prstGeom prst="rect">
            <a:avLst/>
          </a:prstGeom>
          <a:noFill/>
          <a:ln/>
        </p:spPr>
        <p:txBody>
          <a:bodyPr wrap="square" lIns="0" tIns="0" rIns="0" bIns="0" rtlCol="0" anchor="ctr"/>
          <a:lstStyle/>
          <a:p>
            <a:pPr algn="ctr" indent="0" marL="0">
              <a:buNone/>
            </a:pPr>
            <a:r>
              <a:rPr lang="en-US" sz="1200" dirty="0">
                <a:solidFill>
                  <a:srgbClr val="14204A"/>
                </a:solidFill>
                <a:latin typeface="Arial" pitchFamily="34" charset="0"/>
                <a:ea typeface="Arial" pitchFamily="34" charset="-122"/>
                <a:cs typeface="Arial" pitchFamily="34" charset="-120"/>
              </a:rPr>
              <a:t>14.6%</a:t>
            </a:r>
            <a:endParaRPr lang="en-US" sz="1200" dirty="0"/>
          </a:p>
        </p:txBody>
      </p:sp>
      <p:sp>
        <p:nvSpPr>
          <p:cNvPr id="57" name="Shape 55"/>
          <p:cNvSpPr/>
          <p:nvPr/>
        </p:nvSpPr>
        <p:spPr>
          <a:xfrm>
            <a:off x="502920" y="5047488"/>
            <a:ext cx="11183112" cy="868680"/>
          </a:xfrm>
          <a:prstGeom prst="roundRect">
            <a:avLst>
              <a:gd name="adj" fmla="val 9474"/>
            </a:avLst>
          </a:prstGeom>
          <a:solidFill>
            <a:srgbClr val="FDF0F4"/>
          </a:solidFill>
          <a:ln w="12700">
            <a:solidFill>
              <a:srgbClr val="F0245E"/>
            </a:solidFill>
            <a:prstDash val="solid"/>
          </a:ln>
        </p:spPr>
      </p:sp>
      <p:sp>
        <p:nvSpPr>
          <p:cNvPr id="58" name="Text 56"/>
          <p:cNvSpPr/>
          <p:nvPr/>
        </p:nvSpPr>
        <p:spPr>
          <a:xfrm>
            <a:off x="795528" y="5175504"/>
            <a:ext cx="10607040" cy="621792"/>
          </a:xfrm>
          <a:prstGeom prst="rect">
            <a:avLst/>
          </a:prstGeom>
          <a:noFill/>
          <a:ln/>
        </p:spPr>
        <p:txBody>
          <a:bodyPr wrap="square" lIns="0" tIns="0" rIns="0" bIns="0" rtlCol="0" anchor="ctr"/>
          <a:lstStyle/>
          <a:p>
            <a:pPr indent="0" marL="0">
              <a:buNone/>
            </a:pPr>
            <a:r>
              <a:rPr lang="en-US" sz="1200" dirty="0">
                <a:solidFill>
                  <a:srgbClr val="1B2D8A"/>
                </a:solidFill>
                <a:latin typeface="Arial" pitchFamily="34" charset="0"/>
                <a:ea typeface="Arial" pitchFamily="34" charset="-122"/>
                <a:cs typeface="Arial" pitchFamily="34" charset="-120"/>
              </a:rPr>
              <a:t>DBP C2 touches 28 planning areas, more than any other package, and carries the heaviest North-East weight of the four at 36.0%. But the North Region is 0.3% — effectively nothing in Woodlands, Sembawang or Yishun.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1448410" cy="310896"/>
          </a:xfrm>
          <a:prstGeom prst="roundRect">
            <a:avLst>
              <a:gd name="adj" fmla="val 50000"/>
            </a:avLst>
          </a:prstGeom>
          <a:solidFill>
            <a:srgbClr val="F0245E"/>
          </a:solidFill>
          <a:ln/>
        </p:spPr>
      </p:sp>
      <p:sp>
        <p:nvSpPr>
          <p:cNvPr id="3" name="Text 1"/>
          <p:cNvSpPr/>
          <p:nvPr/>
        </p:nvSpPr>
        <p:spPr>
          <a:xfrm>
            <a:off x="502920" y="329184"/>
            <a:ext cx="1448410" cy="310896"/>
          </a:xfrm>
          <a:prstGeom prst="rect">
            <a:avLst/>
          </a:prstGeom>
          <a:noFill/>
          <a:ln/>
        </p:spPr>
        <p:txBody>
          <a:bodyPr wrap="square" lIns="0" tIns="0" rIns="0" bIns="0" rtlCol="0" anchor="ctr"/>
          <a:lstStyle/>
          <a:p>
            <a:pPr algn="ctr" indent="0" marL="0">
              <a:buNone/>
            </a:pPr>
            <a:r>
              <a:rPr lang="en-US" sz="950" b="1" spc="130" kern="0" dirty="0">
                <a:solidFill>
                  <a:srgbClr val="FFFFFF"/>
                </a:solidFill>
                <a:latin typeface="Arial" pitchFamily="34" charset="0"/>
                <a:ea typeface="Arial" pitchFamily="34" charset="-122"/>
                <a:cs typeface="Arial" pitchFamily="34" charset="-120"/>
              </a:rPr>
              <a:t>DBP C2 · DCO</a:t>
            </a:r>
            <a:endParaRPr lang="en-US" sz="950" dirty="0"/>
          </a:p>
        </p:txBody>
      </p:sp>
      <p:sp>
        <p:nvSpPr>
          <p:cNvPr id="4" name="Text 2"/>
          <p:cNvSpPr/>
          <p:nvPr/>
        </p:nvSpPr>
        <p:spPr>
          <a:xfrm>
            <a:off x="484632" y="749808"/>
            <a:ext cx="10607040" cy="566928"/>
          </a:xfrm>
          <a:prstGeom prst="rect">
            <a:avLst/>
          </a:prstGeom>
          <a:noFill/>
          <a:ln/>
        </p:spPr>
        <p:txBody>
          <a:bodyPr wrap="square" lIns="0" tIns="0" rIns="0" bIns="0" rtlCol="0" anchor="ctr"/>
          <a:lstStyle/>
          <a:p>
            <a:pPr indent="0" marL="0">
              <a:buNone/>
            </a:pPr>
            <a:r>
              <a:rPr lang="en-US" sz="3000" b="1" dirty="0">
                <a:solidFill>
                  <a:srgbClr val="1B2D8A"/>
                </a:solidFill>
                <a:latin typeface="Arial" pitchFamily="34" charset="0"/>
                <a:ea typeface="Arial" pitchFamily="34" charset="-122"/>
                <a:cs typeface="Arial" pitchFamily="34" charset="-120"/>
              </a:rPr>
              <a:t>One buy, five conversations</a:t>
            </a:r>
            <a:endParaRPr lang="en-US" sz="3000" dirty="0"/>
          </a:p>
        </p:txBody>
      </p:sp>
      <p:sp>
        <p:nvSpPr>
          <p:cNvPr id="5" name="Text 3"/>
          <p:cNvSpPr/>
          <p:nvPr/>
        </p:nvSpPr>
        <p:spPr>
          <a:xfrm>
            <a:off x="484632" y="1316736"/>
            <a:ext cx="10424160" cy="365760"/>
          </a:xfrm>
          <a:prstGeom prst="rect">
            <a:avLst/>
          </a:prstGeom>
          <a:noFill/>
          <a:ln/>
        </p:spPr>
        <p:txBody>
          <a:bodyPr wrap="square" lIns="0" tIns="0" rIns="0" bIns="0" rtlCol="0" anchor="t"/>
          <a:lstStyle/>
          <a:p>
            <a:pPr indent="0" marL="0">
              <a:buNone/>
            </a:pPr>
            <a:r>
              <a:rPr lang="en-US" sz="1250" dirty="0">
                <a:solidFill>
                  <a:srgbClr val="5A6484"/>
                </a:solidFill>
                <a:latin typeface="Arial" pitchFamily="34" charset="0"/>
                <a:ea typeface="Arial" pitchFamily="34" charset="-122"/>
                <a:cs typeface="Arial" pitchFamily="34" charset="-120"/>
              </a:rPr>
              <a:t>The same five buses carry a different message depending on where they are and what hour it is.</a:t>
            </a:r>
            <a:endParaRPr lang="en-US" sz="1250" dirty="0"/>
          </a:p>
        </p:txBody>
      </p:sp>
      <p:sp>
        <p:nvSpPr>
          <p:cNvPr id="6" name="Text 4"/>
          <p:cNvSpPr/>
          <p:nvPr/>
        </p:nvSpPr>
        <p:spPr>
          <a:xfrm>
            <a:off x="9464040" y="6428232"/>
            <a:ext cx="2221992" cy="310896"/>
          </a:xfrm>
          <a:prstGeom prst="rect">
            <a:avLst/>
          </a:prstGeom>
          <a:noFill/>
          <a:ln/>
        </p:spPr>
        <p:txBody>
          <a:bodyPr wrap="square" lIns="0" tIns="0" rIns="0" bIns="0" rtlCol="0" anchor="ctr"/>
          <a:lstStyle/>
          <a:p>
            <a:pPr algn="r" indent="0" marL="0">
              <a:buNone/>
            </a:pPr>
            <a:r>
              <a:rPr lang="en-US" sz="1150" b="1" i="1" spc="100" kern="0" dirty="0">
                <a:solidFill>
                  <a:srgbClr val="1B2D8A"/>
                </a:solidFill>
                <a:latin typeface="Arial" pitchFamily="34" charset="0"/>
                <a:ea typeface="Arial" pitchFamily="34" charset="-122"/>
                <a:cs typeface="Arial" pitchFamily="34" charset="-120"/>
              </a:rPr>
              <a:t>MOOVE MEDIA</a:t>
            </a:r>
            <a:endParaRPr lang="en-US" sz="1150" dirty="0"/>
          </a:p>
        </p:txBody>
      </p:sp>
      <p:sp>
        <p:nvSpPr>
          <p:cNvPr id="7" name="Text 5"/>
          <p:cNvSpPr/>
          <p:nvPr/>
        </p:nvSpPr>
        <p:spPr>
          <a:xfrm>
            <a:off x="484632" y="6428232"/>
            <a:ext cx="548640" cy="310896"/>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9</a:t>
            </a:r>
            <a:endParaRPr lang="en-US" sz="1000" dirty="0"/>
          </a:p>
        </p:txBody>
      </p:sp>
      <p:sp>
        <p:nvSpPr>
          <p:cNvPr id="8" name="Shape 6"/>
          <p:cNvSpPr/>
          <p:nvPr/>
        </p:nvSpPr>
        <p:spPr>
          <a:xfrm>
            <a:off x="502920" y="2011680"/>
            <a:ext cx="3602736" cy="2514600"/>
          </a:xfrm>
          <a:prstGeom prst="roundRect">
            <a:avLst>
              <a:gd name="adj" fmla="val 3273"/>
            </a:avLst>
          </a:prstGeom>
          <a:solidFill>
            <a:srgbClr val="FFFFFF"/>
          </a:solidFill>
          <a:ln w="12700">
            <a:solidFill>
              <a:srgbClr val="D8DDE9"/>
            </a:solidFill>
            <a:prstDash val="solid"/>
          </a:ln>
        </p:spPr>
      </p:sp>
      <p:sp>
        <p:nvSpPr>
          <p:cNvPr id="9" name="Shape 7"/>
          <p:cNvSpPr/>
          <p:nvPr/>
        </p:nvSpPr>
        <p:spPr>
          <a:xfrm>
            <a:off x="777240" y="2267712"/>
            <a:ext cx="420624" cy="420624"/>
          </a:xfrm>
          <a:prstGeom prst="roundRect">
            <a:avLst>
              <a:gd name="adj" fmla="val 50000"/>
            </a:avLst>
          </a:prstGeom>
          <a:solidFill>
            <a:srgbClr val="F0245E"/>
          </a:solidFill>
          <a:ln/>
        </p:spPr>
      </p:sp>
      <p:sp>
        <p:nvSpPr>
          <p:cNvPr id="10" name="Text 8"/>
          <p:cNvSpPr/>
          <p:nvPr/>
        </p:nvSpPr>
        <p:spPr>
          <a:xfrm>
            <a:off x="777240" y="22677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1" name="Text 9"/>
          <p:cNvSpPr/>
          <p:nvPr/>
        </p:nvSpPr>
        <p:spPr>
          <a:xfrm>
            <a:off x="1344168" y="2286000"/>
            <a:ext cx="2194560" cy="256032"/>
          </a:xfrm>
          <a:prstGeom prst="rect">
            <a:avLst/>
          </a:prstGeom>
          <a:noFill/>
          <a:ln/>
        </p:spPr>
        <p:txBody>
          <a:bodyPr wrap="square" lIns="0" tIns="0" rIns="0" bIns="0" rtlCol="0" anchor="ctr"/>
          <a:lstStyle/>
          <a:p>
            <a:pPr indent="0" marL="0">
              <a:buNone/>
            </a:pPr>
            <a:r>
              <a:rPr lang="en-US" sz="1100" b="1" spc="120" kern="0" dirty="0">
                <a:solidFill>
                  <a:srgbClr val="F0245E"/>
                </a:solidFill>
                <a:latin typeface="Arial" pitchFamily="34" charset="0"/>
                <a:ea typeface="Arial" pitchFamily="34" charset="-122"/>
                <a:cs typeface="Arial" pitchFamily="34" charset="-120"/>
              </a:rPr>
              <a:t>GEOFENCE</a:t>
            </a:r>
            <a:endParaRPr lang="en-US" sz="1100" dirty="0"/>
          </a:p>
        </p:txBody>
      </p:sp>
      <p:sp>
        <p:nvSpPr>
          <p:cNvPr id="12" name="Text 10"/>
          <p:cNvSpPr/>
          <p:nvPr/>
        </p:nvSpPr>
        <p:spPr>
          <a:xfrm>
            <a:off x="1344168" y="2523744"/>
            <a:ext cx="2194560" cy="256032"/>
          </a:xfrm>
          <a:prstGeom prst="rect">
            <a:avLst/>
          </a:prstGeom>
          <a:noFill/>
          <a:ln/>
        </p:spPr>
        <p:txBody>
          <a:bodyPr wrap="square" lIns="0" tIns="0" rIns="0" bIns="0" rtlCol="0" anchor="ctr"/>
          <a:lstStyle/>
          <a:p>
            <a:pPr indent="0" marL="0">
              <a:buNone/>
            </a:pPr>
            <a:r>
              <a:rPr lang="en-US" sz="1500" b="1" dirty="0">
                <a:solidFill>
                  <a:srgbClr val="1B2D8A"/>
                </a:solidFill>
                <a:latin typeface="Arial" pitchFamily="34" charset="0"/>
                <a:ea typeface="Arial" pitchFamily="34" charset="-122"/>
                <a:cs typeface="Arial" pitchFamily="34" charset="-120"/>
              </a:rPr>
              <a:t>Where</a:t>
            </a:r>
            <a:endParaRPr lang="en-US" sz="1500" dirty="0"/>
          </a:p>
        </p:txBody>
      </p:sp>
      <p:sp>
        <p:nvSpPr>
          <p:cNvPr id="13" name="Text 11"/>
          <p:cNvSpPr/>
          <p:nvPr/>
        </p:nvSpPr>
        <p:spPr>
          <a:xfrm>
            <a:off x="777240" y="2971800"/>
            <a:ext cx="3054096" cy="1371600"/>
          </a:xfrm>
          <a:prstGeom prst="rect">
            <a:avLst/>
          </a:prstGeom>
          <a:noFill/>
          <a:ln/>
        </p:spPr>
        <p:txBody>
          <a:bodyPr wrap="square" lIns="0" tIns="0" rIns="0" bIns="0" rtlCol="0" anchor="ctr"/>
          <a:lstStyle/>
          <a:p>
            <a:pPr indent="0" marL="0">
              <a:buNone/>
            </a:pPr>
            <a:r>
              <a:rPr lang="en-US" sz="1150" dirty="0">
                <a:solidFill>
                  <a:srgbClr val="5A6484"/>
                </a:solidFill>
                <a:latin typeface="Arial" pitchFamily="34" charset="0"/>
                <a:ea typeface="Arial" pitchFamily="34" charset="-122"/>
                <a:cs typeface="Arial" pitchFamily="34" charset="-120"/>
              </a:rPr>
              <a:t>Each audience has zones along the route where it actually concentrates. Derived from the place data, not drawn by hand — every zone is named and its anchors listed.</a:t>
            </a:r>
            <a:endParaRPr lang="en-US" sz="1150" dirty="0"/>
          </a:p>
        </p:txBody>
      </p:sp>
      <p:sp>
        <p:nvSpPr>
          <p:cNvPr id="14" name="Shape 12"/>
          <p:cNvSpPr/>
          <p:nvPr/>
        </p:nvSpPr>
        <p:spPr>
          <a:xfrm>
            <a:off x="4297680" y="2011680"/>
            <a:ext cx="3602736" cy="2514600"/>
          </a:xfrm>
          <a:prstGeom prst="roundRect">
            <a:avLst>
              <a:gd name="adj" fmla="val 3273"/>
            </a:avLst>
          </a:prstGeom>
          <a:solidFill>
            <a:srgbClr val="FFFFFF"/>
          </a:solidFill>
          <a:ln w="12700">
            <a:solidFill>
              <a:srgbClr val="D8DDE9"/>
            </a:solidFill>
            <a:prstDash val="solid"/>
          </a:ln>
        </p:spPr>
      </p:sp>
      <p:sp>
        <p:nvSpPr>
          <p:cNvPr id="15" name="Shape 13"/>
          <p:cNvSpPr/>
          <p:nvPr/>
        </p:nvSpPr>
        <p:spPr>
          <a:xfrm>
            <a:off x="4572000" y="2267712"/>
            <a:ext cx="420624" cy="420624"/>
          </a:xfrm>
          <a:prstGeom prst="roundRect">
            <a:avLst>
              <a:gd name="adj" fmla="val 50000"/>
            </a:avLst>
          </a:prstGeom>
          <a:solidFill>
            <a:srgbClr val="1B2D8A"/>
          </a:solidFill>
          <a:ln/>
        </p:spPr>
      </p:sp>
      <p:sp>
        <p:nvSpPr>
          <p:cNvPr id="16" name="Text 14"/>
          <p:cNvSpPr/>
          <p:nvPr/>
        </p:nvSpPr>
        <p:spPr>
          <a:xfrm>
            <a:off x="4572000" y="22677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7" name="Text 15"/>
          <p:cNvSpPr/>
          <p:nvPr/>
        </p:nvSpPr>
        <p:spPr>
          <a:xfrm>
            <a:off x="5138928" y="2286000"/>
            <a:ext cx="2194560" cy="256032"/>
          </a:xfrm>
          <a:prstGeom prst="rect">
            <a:avLst/>
          </a:prstGeom>
          <a:noFill/>
          <a:ln/>
        </p:spPr>
        <p:txBody>
          <a:bodyPr wrap="square" lIns="0" tIns="0" rIns="0" bIns="0" rtlCol="0" anchor="ctr"/>
          <a:lstStyle/>
          <a:p>
            <a:pPr indent="0" marL="0">
              <a:buNone/>
            </a:pPr>
            <a:r>
              <a:rPr lang="en-US" sz="1100" b="1" spc="120" kern="0" dirty="0">
                <a:solidFill>
                  <a:srgbClr val="F0245E"/>
                </a:solidFill>
                <a:latin typeface="Arial" pitchFamily="34" charset="0"/>
                <a:ea typeface="Arial" pitchFamily="34" charset="-122"/>
                <a:cs typeface="Arial" pitchFamily="34" charset="-120"/>
              </a:rPr>
              <a:t>DAYPART</a:t>
            </a:r>
            <a:endParaRPr lang="en-US" sz="1100" dirty="0"/>
          </a:p>
        </p:txBody>
      </p:sp>
      <p:sp>
        <p:nvSpPr>
          <p:cNvPr id="18" name="Text 16"/>
          <p:cNvSpPr/>
          <p:nvPr/>
        </p:nvSpPr>
        <p:spPr>
          <a:xfrm>
            <a:off x="5138928" y="2523744"/>
            <a:ext cx="2194560" cy="256032"/>
          </a:xfrm>
          <a:prstGeom prst="rect">
            <a:avLst/>
          </a:prstGeom>
          <a:noFill/>
          <a:ln/>
        </p:spPr>
        <p:txBody>
          <a:bodyPr wrap="square" lIns="0" tIns="0" rIns="0" bIns="0" rtlCol="0" anchor="ctr"/>
          <a:lstStyle/>
          <a:p>
            <a:pPr indent="0" marL="0">
              <a:buNone/>
            </a:pPr>
            <a:r>
              <a:rPr lang="en-US" sz="1500" b="1" dirty="0">
                <a:solidFill>
                  <a:srgbClr val="1B2D8A"/>
                </a:solidFill>
                <a:latin typeface="Arial" pitchFamily="34" charset="0"/>
                <a:ea typeface="Arial" pitchFamily="34" charset="-122"/>
                <a:cs typeface="Arial" pitchFamily="34" charset="-120"/>
              </a:rPr>
              <a:t>When</a:t>
            </a:r>
            <a:endParaRPr lang="en-US" sz="1500" dirty="0"/>
          </a:p>
        </p:txBody>
      </p:sp>
      <p:sp>
        <p:nvSpPr>
          <p:cNvPr id="19" name="Text 17"/>
          <p:cNvSpPr/>
          <p:nvPr/>
        </p:nvSpPr>
        <p:spPr>
          <a:xfrm>
            <a:off x="4572000" y="2971800"/>
            <a:ext cx="3054096" cy="1371600"/>
          </a:xfrm>
          <a:prstGeom prst="rect">
            <a:avLst/>
          </a:prstGeom>
          <a:noFill/>
          <a:ln/>
        </p:spPr>
        <p:txBody>
          <a:bodyPr wrap="square" lIns="0" tIns="0" rIns="0" bIns="0" rtlCol="0" anchor="ctr"/>
          <a:lstStyle/>
          <a:p>
            <a:pPr indent="0" marL="0">
              <a:buNone/>
            </a:pPr>
            <a:r>
              <a:rPr lang="en-US" sz="1150" dirty="0">
                <a:solidFill>
                  <a:srgbClr val="5A6484"/>
                </a:solidFill>
                <a:latin typeface="Arial" pitchFamily="34" charset="0"/>
                <a:ea typeface="Arial" pitchFamily="34" charset="-122"/>
                <a:cs typeface="Arial" pitchFamily="34" charset="-120"/>
              </a:rPr>
              <a:t>Each audience is reachable in a different window, set by when the institutions around it are open — school dismissal, polyclinic mornings, commute peaks.</a:t>
            </a:r>
            <a:endParaRPr lang="en-US" sz="1150" dirty="0"/>
          </a:p>
        </p:txBody>
      </p:sp>
      <p:sp>
        <p:nvSpPr>
          <p:cNvPr id="20" name="Shape 18"/>
          <p:cNvSpPr/>
          <p:nvPr/>
        </p:nvSpPr>
        <p:spPr>
          <a:xfrm>
            <a:off x="8092440" y="2011680"/>
            <a:ext cx="3602736" cy="2514600"/>
          </a:xfrm>
          <a:prstGeom prst="roundRect">
            <a:avLst>
              <a:gd name="adj" fmla="val 3273"/>
            </a:avLst>
          </a:prstGeom>
          <a:solidFill>
            <a:srgbClr val="FFFFFF"/>
          </a:solidFill>
          <a:ln w="12700">
            <a:solidFill>
              <a:srgbClr val="D8DDE9"/>
            </a:solidFill>
            <a:prstDash val="solid"/>
          </a:ln>
        </p:spPr>
      </p:sp>
      <p:sp>
        <p:nvSpPr>
          <p:cNvPr id="21" name="Shape 19"/>
          <p:cNvSpPr/>
          <p:nvPr/>
        </p:nvSpPr>
        <p:spPr>
          <a:xfrm>
            <a:off x="8366760" y="2267712"/>
            <a:ext cx="420624" cy="420624"/>
          </a:xfrm>
          <a:prstGeom prst="roundRect">
            <a:avLst>
              <a:gd name="adj" fmla="val 50000"/>
            </a:avLst>
          </a:prstGeom>
          <a:solidFill>
            <a:srgbClr val="F0245E"/>
          </a:solidFill>
          <a:ln/>
        </p:spPr>
      </p:sp>
      <p:sp>
        <p:nvSpPr>
          <p:cNvPr id="22" name="Text 20"/>
          <p:cNvSpPr/>
          <p:nvPr/>
        </p:nvSpPr>
        <p:spPr>
          <a:xfrm>
            <a:off x="8366760" y="22677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3" name="Text 21"/>
          <p:cNvSpPr/>
          <p:nvPr/>
        </p:nvSpPr>
        <p:spPr>
          <a:xfrm>
            <a:off x="8933688" y="2286000"/>
            <a:ext cx="2194560" cy="256032"/>
          </a:xfrm>
          <a:prstGeom prst="rect">
            <a:avLst/>
          </a:prstGeom>
          <a:noFill/>
          <a:ln/>
        </p:spPr>
        <p:txBody>
          <a:bodyPr wrap="square" lIns="0" tIns="0" rIns="0" bIns="0" rtlCol="0" anchor="ctr"/>
          <a:lstStyle/>
          <a:p>
            <a:pPr indent="0" marL="0">
              <a:buNone/>
            </a:pPr>
            <a:r>
              <a:rPr lang="en-US" sz="1100" b="1" spc="120" kern="0" dirty="0">
                <a:solidFill>
                  <a:srgbClr val="F0245E"/>
                </a:solidFill>
                <a:latin typeface="Arial" pitchFamily="34" charset="0"/>
                <a:ea typeface="Arial" pitchFamily="34" charset="-122"/>
                <a:cs typeface="Arial" pitchFamily="34" charset="-120"/>
              </a:rPr>
              <a:t>CREATIVE</a:t>
            </a:r>
            <a:endParaRPr lang="en-US" sz="1100" dirty="0"/>
          </a:p>
        </p:txBody>
      </p:sp>
      <p:sp>
        <p:nvSpPr>
          <p:cNvPr id="24" name="Text 22"/>
          <p:cNvSpPr/>
          <p:nvPr/>
        </p:nvSpPr>
        <p:spPr>
          <a:xfrm>
            <a:off x="8933688" y="2523744"/>
            <a:ext cx="2194560" cy="256032"/>
          </a:xfrm>
          <a:prstGeom prst="rect">
            <a:avLst/>
          </a:prstGeom>
          <a:noFill/>
          <a:ln/>
        </p:spPr>
        <p:txBody>
          <a:bodyPr wrap="square" lIns="0" tIns="0" rIns="0" bIns="0" rtlCol="0" anchor="ctr"/>
          <a:lstStyle/>
          <a:p>
            <a:pPr indent="0" marL="0">
              <a:buNone/>
            </a:pPr>
            <a:r>
              <a:rPr lang="en-US" sz="1500" b="1" dirty="0">
                <a:solidFill>
                  <a:srgbClr val="1B2D8A"/>
                </a:solidFill>
                <a:latin typeface="Arial" pitchFamily="34" charset="0"/>
                <a:ea typeface="Arial" pitchFamily="34" charset="-122"/>
                <a:cs typeface="Arial" pitchFamily="34" charset="-120"/>
              </a:rPr>
              <a:t>What</a:t>
            </a:r>
            <a:endParaRPr lang="en-US" sz="1500" dirty="0"/>
          </a:p>
        </p:txBody>
      </p:sp>
      <p:sp>
        <p:nvSpPr>
          <p:cNvPr id="25" name="Text 23"/>
          <p:cNvSpPr/>
          <p:nvPr/>
        </p:nvSpPr>
        <p:spPr>
          <a:xfrm>
            <a:off x="8366760" y="2971800"/>
            <a:ext cx="3054096" cy="1371600"/>
          </a:xfrm>
          <a:prstGeom prst="rect">
            <a:avLst/>
          </a:prstGeom>
          <a:noFill/>
          <a:ln/>
        </p:spPr>
        <p:txBody>
          <a:bodyPr wrap="square" lIns="0" tIns="0" rIns="0" bIns="0" rtlCol="0" anchor="ctr"/>
          <a:lstStyle/>
          <a:p>
            <a:pPr indent="0" marL="0">
              <a:buNone/>
            </a:pPr>
            <a:r>
              <a:rPr lang="en-US" sz="1150" dirty="0">
                <a:solidFill>
                  <a:srgbClr val="5A6484"/>
                </a:solidFill>
                <a:latin typeface="Arial" pitchFamily="34" charset="0"/>
                <a:ea typeface="Arial" pitchFamily="34" charset="-122"/>
                <a:cs typeface="Arial" pitchFamily="34" charset="-120"/>
              </a:rPr>
              <a:t>A different line and call-to-action per audience. Seniors get large type and a phone number; youth get a QR to chat.</a:t>
            </a:r>
            <a:endParaRPr lang="en-US" sz="1150" dirty="0"/>
          </a:p>
        </p:txBody>
      </p:sp>
      <p:sp>
        <p:nvSpPr>
          <p:cNvPr id="26" name="Shape 24"/>
          <p:cNvSpPr/>
          <p:nvPr/>
        </p:nvSpPr>
        <p:spPr>
          <a:xfrm>
            <a:off x="502920" y="4754880"/>
            <a:ext cx="11183112" cy="1188720"/>
          </a:xfrm>
          <a:prstGeom prst="roundRect">
            <a:avLst>
              <a:gd name="adj" fmla="val 6923"/>
            </a:avLst>
          </a:prstGeom>
          <a:solidFill>
            <a:srgbClr val="F5F7FC"/>
          </a:solidFill>
          <a:ln w="12700">
            <a:solidFill>
              <a:srgbClr val="D8DDE9"/>
            </a:solidFill>
            <a:prstDash val="solid"/>
          </a:ln>
        </p:spPr>
      </p:sp>
      <p:sp>
        <p:nvSpPr>
          <p:cNvPr id="27" name="Text 25"/>
          <p:cNvSpPr/>
          <p:nvPr/>
        </p:nvSpPr>
        <p:spPr>
          <a:xfrm>
            <a:off x="795528" y="4882896"/>
            <a:ext cx="5486400" cy="292608"/>
          </a:xfrm>
          <a:prstGeom prst="rect">
            <a:avLst/>
          </a:prstGeom>
          <a:noFill/>
          <a:ln/>
        </p:spPr>
        <p:txBody>
          <a:bodyPr wrap="square" lIns="0" tIns="0" rIns="0" bIns="0" rtlCol="0" anchor="ctr"/>
          <a:lstStyle/>
          <a:p>
            <a:pPr indent="0" marL="0">
              <a:buNone/>
            </a:pPr>
            <a:r>
              <a:rPr lang="en-US" sz="1250" b="1" dirty="0">
                <a:solidFill>
                  <a:srgbClr val="1B2D8A"/>
                </a:solidFill>
                <a:latin typeface="Arial" pitchFamily="34" charset="0"/>
                <a:ea typeface="Arial" pitchFamily="34" charset="-122"/>
                <a:cs typeface="Arial" pitchFamily="34" charset="-120"/>
              </a:rPr>
              <a:t>What is measured, and what is assumed</a:t>
            </a:r>
            <a:endParaRPr lang="en-US" sz="1250" dirty="0"/>
          </a:p>
        </p:txBody>
      </p:sp>
      <p:sp>
        <p:nvSpPr>
          <p:cNvPr id="28" name="Text 26"/>
          <p:cNvSpPr/>
          <p:nvPr/>
        </p:nvSpPr>
        <p:spPr>
          <a:xfrm>
            <a:off x="795528" y="5193792"/>
            <a:ext cx="10607040" cy="640080"/>
          </a:xfrm>
          <a:prstGeom prst="rect">
            <a:avLst/>
          </a:prstGeom>
          <a:noFill/>
          <a:ln/>
        </p:spPr>
        <p:txBody>
          <a:bodyPr wrap="square" lIns="0" tIns="0" rIns="0" bIns="0" rtlCol="0" anchor="ctr"/>
          <a:lstStyle/>
          <a:p>
            <a:pPr indent="0" marL="0">
              <a:buNone/>
            </a:pPr>
            <a:r>
              <a:rPr lang="en-US" sz="1150" dirty="0">
                <a:solidFill>
                  <a:srgbClr val="5A6484"/>
                </a:solidFill>
                <a:latin typeface="Arial" pitchFamily="34" charset="0"/>
                <a:ea typeface="Arial" pitchFamily="34" charset="-122"/>
                <a:cs typeface="Arial" pitchFamily="34" charset="-120"/>
              </a:rPr>
              <a:t>Geofence zones are measured — they come straight from the stop and place data. Dayparts are planning assumptions: this dataset carries weekday and weekend boarding totals, not an hourly curve, so the windows are set from when the institutions in each zone are open. Every daypart slide is marked accordingly.</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1914754" cy="310896"/>
          </a:xfrm>
          <a:prstGeom prst="roundRect">
            <a:avLst>
              <a:gd name="adj" fmla="val 50000"/>
            </a:avLst>
          </a:prstGeom>
          <a:solidFill>
            <a:srgbClr val="F0245E"/>
          </a:solidFill>
          <a:ln/>
        </p:spPr>
      </p:sp>
      <p:sp>
        <p:nvSpPr>
          <p:cNvPr id="3" name="Text 1"/>
          <p:cNvSpPr/>
          <p:nvPr/>
        </p:nvSpPr>
        <p:spPr>
          <a:xfrm>
            <a:off x="502920" y="329184"/>
            <a:ext cx="1914754" cy="310896"/>
          </a:xfrm>
          <a:prstGeom prst="rect">
            <a:avLst/>
          </a:prstGeom>
          <a:noFill/>
          <a:ln/>
        </p:spPr>
        <p:txBody>
          <a:bodyPr wrap="square" lIns="0" tIns="0" rIns="0" bIns="0" rtlCol="0" anchor="ctr"/>
          <a:lstStyle/>
          <a:p>
            <a:pPr algn="ctr" indent="0" marL="0">
              <a:buNone/>
            </a:pPr>
            <a:r>
              <a:rPr lang="en-US" sz="950" b="1" spc="130" kern="0" dirty="0">
                <a:solidFill>
                  <a:srgbClr val="FFFFFF"/>
                </a:solidFill>
                <a:latin typeface="Arial" pitchFamily="34" charset="0"/>
                <a:ea typeface="Arial" pitchFamily="34" charset="-122"/>
                <a:cs typeface="Arial" pitchFamily="34" charset="-120"/>
              </a:rPr>
              <a:t>DBP C2 · GEOFENCE</a:t>
            </a:r>
            <a:endParaRPr lang="en-US" sz="950" dirty="0"/>
          </a:p>
        </p:txBody>
      </p:sp>
      <p:sp>
        <p:nvSpPr>
          <p:cNvPr id="4" name="Text 2"/>
          <p:cNvSpPr/>
          <p:nvPr/>
        </p:nvSpPr>
        <p:spPr>
          <a:xfrm>
            <a:off x="484632" y="749808"/>
            <a:ext cx="10607040" cy="566928"/>
          </a:xfrm>
          <a:prstGeom prst="rect">
            <a:avLst/>
          </a:prstGeom>
          <a:noFill/>
          <a:ln/>
        </p:spPr>
        <p:txBody>
          <a:bodyPr wrap="square" lIns="0" tIns="0" rIns="0" bIns="0" rtlCol="0" anchor="ctr"/>
          <a:lstStyle/>
          <a:p>
            <a:pPr indent="0" marL="0">
              <a:buNone/>
            </a:pPr>
            <a:r>
              <a:rPr lang="en-US" sz="3000" b="1" dirty="0">
                <a:solidFill>
                  <a:srgbClr val="1B2D8A"/>
                </a:solidFill>
                <a:latin typeface="Arial" pitchFamily="34" charset="0"/>
                <a:ea typeface="Arial" pitchFamily="34" charset="-122"/>
                <a:cs typeface="Arial" pitchFamily="34" charset="-120"/>
              </a:rPr>
              <a:t>Where each audience concentrates</a:t>
            </a:r>
            <a:endParaRPr lang="en-US" sz="3000" dirty="0"/>
          </a:p>
        </p:txBody>
      </p:sp>
      <p:sp>
        <p:nvSpPr>
          <p:cNvPr id="5" name="Text 3"/>
          <p:cNvSpPr/>
          <p:nvPr/>
        </p:nvSpPr>
        <p:spPr>
          <a:xfrm>
            <a:off x="484632" y="1316736"/>
            <a:ext cx="10424160" cy="365760"/>
          </a:xfrm>
          <a:prstGeom prst="rect">
            <a:avLst/>
          </a:prstGeom>
          <a:noFill/>
          <a:ln/>
        </p:spPr>
        <p:txBody>
          <a:bodyPr wrap="square" lIns="0" tIns="0" rIns="0" bIns="0" rtlCol="0" anchor="t"/>
          <a:lstStyle/>
          <a:p>
            <a:pPr indent="0" marL="0">
              <a:buNone/>
            </a:pPr>
            <a:r>
              <a:rPr lang="en-US" sz="1250" dirty="0">
                <a:solidFill>
                  <a:srgbClr val="5A6484"/>
                </a:solidFill>
                <a:latin typeface="Arial" pitchFamily="34" charset="0"/>
                <a:ea typeface="Arial" pitchFamily="34" charset="-122"/>
                <a:cs typeface="Arial" pitchFamily="34" charset="-120"/>
              </a:rPr>
              <a:t>Top zones per audience along DBP C2, derived from the place data. Anchors are the actual sites inside them.</a:t>
            </a:r>
            <a:endParaRPr lang="en-US" sz="1250" dirty="0"/>
          </a:p>
        </p:txBody>
      </p:sp>
      <p:sp>
        <p:nvSpPr>
          <p:cNvPr id="6" name="Text 4"/>
          <p:cNvSpPr/>
          <p:nvPr/>
        </p:nvSpPr>
        <p:spPr>
          <a:xfrm>
            <a:off x="9464040" y="6428232"/>
            <a:ext cx="2221992" cy="310896"/>
          </a:xfrm>
          <a:prstGeom prst="rect">
            <a:avLst/>
          </a:prstGeom>
          <a:noFill/>
          <a:ln/>
        </p:spPr>
        <p:txBody>
          <a:bodyPr wrap="square" lIns="0" tIns="0" rIns="0" bIns="0" rtlCol="0" anchor="ctr"/>
          <a:lstStyle/>
          <a:p>
            <a:pPr algn="r" indent="0" marL="0">
              <a:buNone/>
            </a:pPr>
            <a:r>
              <a:rPr lang="en-US" sz="1150" b="1" i="1" spc="100" kern="0" dirty="0">
                <a:solidFill>
                  <a:srgbClr val="1B2D8A"/>
                </a:solidFill>
                <a:latin typeface="Arial" pitchFamily="34" charset="0"/>
                <a:ea typeface="Arial" pitchFamily="34" charset="-122"/>
                <a:cs typeface="Arial" pitchFamily="34" charset="-120"/>
              </a:rPr>
              <a:t>MOOVE MEDIA</a:t>
            </a:r>
            <a:endParaRPr lang="en-US" sz="1150" dirty="0"/>
          </a:p>
        </p:txBody>
      </p:sp>
      <p:sp>
        <p:nvSpPr>
          <p:cNvPr id="7" name="Text 5"/>
          <p:cNvSpPr/>
          <p:nvPr/>
        </p:nvSpPr>
        <p:spPr>
          <a:xfrm>
            <a:off x="484632" y="6428232"/>
            <a:ext cx="548640" cy="310896"/>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10</a:t>
            </a:r>
            <a:endParaRPr lang="en-US" sz="1000" dirty="0"/>
          </a:p>
        </p:txBody>
      </p:sp>
      <p:sp>
        <p:nvSpPr>
          <p:cNvPr id="8" name="Shape 6"/>
          <p:cNvSpPr/>
          <p:nvPr/>
        </p:nvSpPr>
        <p:spPr>
          <a:xfrm>
            <a:off x="10378440" y="329184"/>
            <a:ext cx="1075334" cy="310896"/>
          </a:xfrm>
          <a:prstGeom prst="roundRect">
            <a:avLst>
              <a:gd name="adj" fmla="val 50000"/>
            </a:avLst>
          </a:prstGeom>
          <a:solidFill>
            <a:srgbClr val="1B2D8A"/>
          </a:solidFill>
          <a:ln/>
        </p:spPr>
      </p:sp>
      <p:sp>
        <p:nvSpPr>
          <p:cNvPr id="9" name="Text 7"/>
          <p:cNvSpPr/>
          <p:nvPr/>
        </p:nvSpPr>
        <p:spPr>
          <a:xfrm>
            <a:off x="10378440" y="329184"/>
            <a:ext cx="1075334" cy="310896"/>
          </a:xfrm>
          <a:prstGeom prst="rect">
            <a:avLst/>
          </a:prstGeom>
          <a:noFill/>
          <a:ln/>
        </p:spPr>
        <p:txBody>
          <a:bodyPr wrap="square" lIns="0" tIns="0" rIns="0" bIns="0" rtlCol="0" anchor="ctr"/>
          <a:lstStyle/>
          <a:p>
            <a:pPr algn="ctr" indent="0" marL="0">
              <a:buNone/>
            </a:pPr>
            <a:r>
              <a:rPr lang="en-US" sz="900" b="1" spc="130" kern="0" dirty="0">
                <a:solidFill>
                  <a:srgbClr val="FFFFFF"/>
                </a:solidFill>
                <a:latin typeface="Arial" pitchFamily="34" charset="0"/>
                <a:ea typeface="Arial" pitchFamily="34" charset="-122"/>
                <a:cs typeface="Arial" pitchFamily="34" charset="-120"/>
              </a:rPr>
              <a:t>MEASURED</a:t>
            </a:r>
            <a:endParaRPr lang="en-US" sz="900" dirty="0"/>
          </a:p>
        </p:txBody>
      </p:sp>
      <p:sp>
        <p:nvSpPr>
          <p:cNvPr id="10" name="Shape 8"/>
          <p:cNvSpPr/>
          <p:nvPr/>
        </p:nvSpPr>
        <p:spPr>
          <a:xfrm>
            <a:off x="502920" y="1874520"/>
            <a:ext cx="11183112" cy="749808"/>
          </a:xfrm>
          <a:prstGeom prst="roundRect">
            <a:avLst>
              <a:gd name="adj" fmla="val 10976"/>
            </a:avLst>
          </a:prstGeom>
          <a:solidFill>
            <a:srgbClr val="FFFFFF"/>
          </a:solidFill>
          <a:ln w="12700">
            <a:solidFill>
              <a:srgbClr val="D8DDE9"/>
            </a:solidFill>
            <a:prstDash val="solid"/>
          </a:ln>
        </p:spPr>
      </p:sp>
      <p:sp>
        <p:nvSpPr>
          <p:cNvPr id="11" name="Text 9"/>
          <p:cNvSpPr/>
          <p:nvPr/>
        </p:nvSpPr>
        <p:spPr>
          <a:xfrm>
            <a:off x="758952" y="1947672"/>
            <a:ext cx="2286000" cy="310896"/>
          </a:xfrm>
          <a:prstGeom prst="rect">
            <a:avLst/>
          </a:prstGeom>
          <a:noFill/>
          <a:ln/>
        </p:spPr>
        <p:txBody>
          <a:bodyPr wrap="square" lIns="0" tIns="0" rIns="0" bIns="0" rtlCol="0" anchor="ctr"/>
          <a:lstStyle/>
          <a:p>
            <a:pPr indent="0" marL="0">
              <a:buNone/>
            </a:pPr>
            <a:r>
              <a:rPr lang="en-US" sz="1250" b="1" dirty="0">
                <a:solidFill>
                  <a:srgbClr val="1B2D8A"/>
                </a:solidFill>
                <a:latin typeface="Arial" pitchFamily="34" charset="0"/>
                <a:ea typeface="Arial" pitchFamily="34" charset="-122"/>
                <a:cs typeface="Arial" pitchFamily="34" charset="-120"/>
              </a:rPr>
              <a:t>Young children</a:t>
            </a:r>
            <a:endParaRPr lang="en-US" sz="1250" dirty="0"/>
          </a:p>
        </p:txBody>
      </p:sp>
      <p:sp>
        <p:nvSpPr>
          <p:cNvPr id="12" name="Text 10"/>
          <p:cNvSpPr/>
          <p:nvPr/>
        </p:nvSpPr>
        <p:spPr>
          <a:xfrm>
            <a:off x="758952" y="2258568"/>
            <a:ext cx="4846320" cy="292608"/>
          </a:xfrm>
          <a:prstGeom prst="rect">
            <a:avLst/>
          </a:prstGeom>
          <a:noFill/>
          <a:ln/>
        </p:spPr>
        <p:txBody>
          <a:bodyPr wrap="square" lIns="0" tIns="0" rIns="0" bIns="0" rtlCol="0" anchor="ctr"/>
          <a:lstStyle/>
          <a:p>
            <a:pPr indent="0" marL="0">
              <a:buNone/>
            </a:pPr>
            <a:r>
              <a:rPr lang="en-US" sz="1050" dirty="0">
                <a:solidFill>
                  <a:srgbClr val="14204A"/>
                </a:solidFill>
                <a:latin typeface="Arial" pitchFamily="34" charset="0"/>
                <a:ea typeface="Arial" pitchFamily="34" charset="-122"/>
                <a:cs typeface="Arial" pitchFamily="34" charset="-120"/>
              </a:rPr>
              <a:t>Sengkang (20)   ·   Bukit Panjang (17)   ·   Hougang (14)   ·   Pasir Ris (13)</a:t>
            </a:r>
            <a:endParaRPr lang="en-US" sz="1050" dirty="0"/>
          </a:p>
        </p:txBody>
      </p:sp>
      <p:sp>
        <p:nvSpPr>
          <p:cNvPr id="13" name="Text 11"/>
          <p:cNvSpPr/>
          <p:nvPr/>
        </p:nvSpPr>
        <p:spPr>
          <a:xfrm>
            <a:off x="5760720" y="2057400"/>
            <a:ext cx="5852160" cy="384048"/>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Anchors — Compassvale Primary School · Mee Toh School · Nan Chiau Primary School</a:t>
            </a:r>
            <a:endParaRPr lang="en-US" sz="1000" dirty="0"/>
          </a:p>
        </p:txBody>
      </p:sp>
      <p:sp>
        <p:nvSpPr>
          <p:cNvPr id="14" name="Shape 12"/>
          <p:cNvSpPr/>
          <p:nvPr/>
        </p:nvSpPr>
        <p:spPr>
          <a:xfrm>
            <a:off x="502920" y="2715768"/>
            <a:ext cx="11183112" cy="749808"/>
          </a:xfrm>
          <a:prstGeom prst="roundRect">
            <a:avLst>
              <a:gd name="adj" fmla="val 10976"/>
            </a:avLst>
          </a:prstGeom>
          <a:solidFill>
            <a:srgbClr val="FFFFFF"/>
          </a:solidFill>
          <a:ln w="12700">
            <a:solidFill>
              <a:srgbClr val="D8DDE9"/>
            </a:solidFill>
            <a:prstDash val="solid"/>
          </a:ln>
        </p:spPr>
      </p:sp>
      <p:sp>
        <p:nvSpPr>
          <p:cNvPr id="15" name="Text 13"/>
          <p:cNvSpPr/>
          <p:nvPr/>
        </p:nvSpPr>
        <p:spPr>
          <a:xfrm>
            <a:off x="758952" y="2788920"/>
            <a:ext cx="2286000" cy="310896"/>
          </a:xfrm>
          <a:prstGeom prst="rect">
            <a:avLst/>
          </a:prstGeom>
          <a:noFill/>
          <a:ln/>
        </p:spPr>
        <p:txBody>
          <a:bodyPr wrap="square" lIns="0" tIns="0" rIns="0" bIns="0" rtlCol="0" anchor="ctr"/>
          <a:lstStyle/>
          <a:p>
            <a:pPr indent="0" marL="0">
              <a:buNone/>
            </a:pPr>
            <a:r>
              <a:rPr lang="en-US" sz="1250" b="1" dirty="0">
                <a:solidFill>
                  <a:srgbClr val="1B2D8A"/>
                </a:solidFill>
                <a:latin typeface="Arial" pitchFamily="34" charset="0"/>
                <a:ea typeface="Arial" pitchFamily="34" charset="-122"/>
                <a:cs typeface="Arial" pitchFamily="34" charset="-120"/>
              </a:rPr>
              <a:t>Seniors</a:t>
            </a:r>
            <a:endParaRPr lang="en-US" sz="1250" dirty="0"/>
          </a:p>
        </p:txBody>
      </p:sp>
      <p:sp>
        <p:nvSpPr>
          <p:cNvPr id="16" name="Text 14"/>
          <p:cNvSpPr/>
          <p:nvPr/>
        </p:nvSpPr>
        <p:spPr>
          <a:xfrm>
            <a:off x="758952" y="3099816"/>
            <a:ext cx="4846320" cy="292608"/>
          </a:xfrm>
          <a:prstGeom prst="rect">
            <a:avLst/>
          </a:prstGeom>
          <a:noFill/>
          <a:ln/>
        </p:spPr>
        <p:txBody>
          <a:bodyPr wrap="square" lIns="0" tIns="0" rIns="0" bIns="0" rtlCol="0" anchor="ctr"/>
          <a:lstStyle/>
          <a:p>
            <a:pPr indent="0" marL="0">
              <a:buNone/>
            </a:pPr>
            <a:r>
              <a:rPr lang="en-US" sz="1050" dirty="0">
                <a:solidFill>
                  <a:srgbClr val="14204A"/>
                </a:solidFill>
                <a:latin typeface="Arial" pitchFamily="34" charset="0"/>
                <a:ea typeface="Arial" pitchFamily="34" charset="-122"/>
                <a:cs typeface="Arial" pitchFamily="34" charset="-120"/>
              </a:rPr>
              <a:t>Ang Mo Kio (6)   ·   Sengkang (6)   ·   Kallang (6)   ·   Hougang (4)</a:t>
            </a:r>
            <a:endParaRPr lang="en-US" sz="1050" dirty="0"/>
          </a:p>
        </p:txBody>
      </p:sp>
      <p:sp>
        <p:nvSpPr>
          <p:cNvPr id="17" name="Text 15"/>
          <p:cNvSpPr/>
          <p:nvPr/>
        </p:nvSpPr>
        <p:spPr>
          <a:xfrm>
            <a:off x="5760720" y="2898648"/>
            <a:ext cx="5852160" cy="384048"/>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Anchors — AWWA Community Home for Senior Citizens · AWWA Senior Activity Centre · Lions Befrienders (Ang Mo Kio 318) Senior Activity Centre</a:t>
            </a:r>
            <a:endParaRPr lang="en-US" sz="1000" dirty="0"/>
          </a:p>
        </p:txBody>
      </p:sp>
      <p:sp>
        <p:nvSpPr>
          <p:cNvPr id="18" name="Shape 16"/>
          <p:cNvSpPr/>
          <p:nvPr/>
        </p:nvSpPr>
        <p:spPr>
          <a:xfrm>
            <a:off x="502920" y="3557016"/>
            <a:ext cx="11183112" cy="749808"/>
          </a:xfrm>
          <a:prstGeom prst="roundRect">
            <a:avLst>
              <a:gd name="adj" fmla="val 10976"/>
            </a:avLst>
          </a:prstGeom>
          <a:solidFill>
            <a:srgbClr val="FFFFFF"/>
          </a:solidFill>
          <a:ln w="12700">
            <a:solidFill>
              <a:srgbClr val="D8DDE9"/>
            </a:solidFill>
            <a:prstDash val="solid"/>
          </a:ln>
        </p:spPr>
      </p:sp>
      <p:sp>
        <p:nvSpPr>
          <p:cNvPr id="19" name="Text 17"/>
          <p:cNvSpPr/>
          <p:nvPr/>
        </p:nvSpPr>
        <p:spPr>
          <a:xfrm>
            <a:off x="758952" y="3630168"/>
            <a:ext cx="2286000" cy="310896"/>
          </a:xfrm>
          <a:prstGeom prst="rect">
            <a:avLst/>
          </a:prstGeom>
          <a:noFill/>
          <a:ln/>
        </p:spPr>
        <p:txBody>
          <a:bodyPr wrap="square" lIns="0" tIns="0" rIns="0" bIns="0" rtlCol="0" anchor="ctr"/>
          <a:lstStyle/>
          <a:p>
            <a:pPr indent="0" marL="0">
              <a:buNone/>
            </a:pPr>
            <a:r>
              <a:rPr lang="en-US" sz="1250" b="1" dirty="0">
                <a:solidFill>
                  <a:srgbClr val="1B2D8A"/>
                </a:solidFill>
                <a:latin typeface="Arial" pitchFamily="34" charset="0"/>
                <a:ea typeface="Arial" pitchFamily="34" charset="-122"/>
                <a:cs typeface="Arial" pitchFamily="34" charset="-120"/>
              </a:rPr>
              <a:t>Working adults</a:t>
            </a:r>
            <a:endParaRPr lang="en-US" sz="1250" dirty="0"/>
          </a:p>
        </p:txBody>
      </p:sp>
      <p:sp>
        <p:nvSpPr>
          <p:cNvPr id="20" name="Text 18"/>
          <p:cNvSpPr/>
          <p:nvPr/>
        </p:nvSpPr>
        <p:spPr>
          <a:xfrm>
            <a:off x="758952" y="3941064"/>
            <a:ext cx="4846320" cy="292608"/>
          </a:xfrm>
          <a:prstGeom prst="rect">
            <a:avLst/>
          </a:prstGeom>
          <a:noFill/>
          <a:ln/>
        </p:spPr>
        <p:txBody>
          <a:bodyPr wrap="square" lIns="0" tIns="0" rIns="0" bIns="0" rtlCol="0" anchor="ctr"/>
          <a:lstStyle/>
          <a:p>
            <a:pPr indent="0" marL="0">
              <a:buNone/>
            </a:pPr>
            <a:r>
              <a:rPr lang="en-US" sz="1050" dirty="0">
                <a:solidFill>
                  <a:srgbClr val="14204A"/>
                </a:solidFill>
                <a:latin typeface="Arial" pitchFamily="34" charset="0"/>
                <a:ea typeface="Arial" pitchFamily="34" charset="-122"/>
                <a:cs typeface="Arial" pitchFamily="34" charset="-120"/>
              </a:rPr>
              <a:t>Downtown Core (38)   ·   Orchard (32)   ·   Museum (12)   ·   Marine Parade (11)</a:t>
            </a:r>
            <a:endParaRPr lang="en-US" sz="1050" dirty="0"/>
          </a:p>
        </p:txBody>
      </p:sp>
      <p:sp>
        <p:nvSpPr>
          <p:cNvPr id="21" name="Text 19"/>
          <p:cNvSpPr/>
          <p:nvPr/>
        </p:nvSpPr>
        <p:spPr>
          <a:xfrm>
            <a:off x="5760720" y="3739896"/>
            <a:ext cx="5852160" cy="384048"/>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Anchors — Bayfront · Bugis · City Hall</a:t>
            </a:r>
            <a:endParaRPr lang="en-US" sz="1000" dirty="0"/>
          </a:p>
        </p:txBody>
      </p:sp>
      <p:sp>
        <p:nvSpPr>
          <p:cNvPr id="22" name="Shape 20"/>
          <p:cNvSpPr/>
          <p:nvPr/>
        </p:nvSpPr>
        <p:spPr>
          <a:xfrm>
            <a:off x="502920" y="4398264"/>
            <a:ext cx="11183112" cy="749808"/>
          </a:xfrm>
          <a:prstGeom prst="roundRect">
            <a:avLst>
              <a:gd name="adj" fmla="val 10976"/>
            </a:avLst>
          </a:prstGeom>
          <a:solidFill>
            <a:srgbClr val="FDF0F4"/>
          </a:solidFill>
          <a:ln w="12700">
            <a:solidFill>
              <a:srgbClr val="F0245E"/>
            </a:solidFill>
            <a:prstDash val="solid"/>
          </a:ln>
        </p:spPr>
      </p:sp>
      <p:sp>
        <p:nvSpPr>
          <p:cNvPr id="23" name="Text 21"/>
          <p:cNvSpPr/>
          <p:nvPr/>
        </p:nvSpPr>
        <p:spPr>
          <a:xfrm>
            <a:off x="758952" y="4471416"/>
            <a:ext cx="2286000" cy="310896"/>
          </a:xfrm>
          <a:prstGeom prst="rect">
            <a:avLst/>
          </a:prstGeom>
          <a:noFill/>
          <a:ln/>
        </p:spPr>
        <p:txBody>
          <a:bodyPr wrap="square" lIns="0" tIns="0" rIns="0" bIns="0" rtlCol="0" anchor="ctr"/>
          <a:lstStyle/>
          <a:p>
            <a:pPr indent="0" marL="0">
              <a:buNone/>
            </a:pPr>
            <a:r>
              <a:rPr lang="en-US" sz="1250" b="1" dirty="0">
                <a:solidFill>
                  <a:srgbClr val="F0245E"/>
                </a:solidFill>
                <a:latin typeface="Arial" pitchFamily="34" charset="0"/>
                <a:ea typeface="Arial" pitchFamily="34" charset="-122"/>
                <a:cs typeface="Arial" pitchFamily="34" charset="-120"/>
              </a:rPr>
              <a:t>Sandwich generation</a:t>
            </a:r>
            <a:endParaRPr lang="en-US" sz="1250" dirty="0"/>
          </a:p>
        </p:txBody>
      </p:sp>
      <p:sp>
        <p:nvSpPr>
          <p:cNvPr id="24" name="Text 22"/>
          <p:cNvSpPr/>
          <p:nvPr/>
        </p:nvSpPr>
        <p:spPr>
          <a:xfrm>
            <a:off x="758952" y="4782312"/>
            <a:ext cx="4846320" cy="292608"/>
          </a:xfrm>
          <a:prstGeom prst="rect">
            <a:avLst/>
          </a:prstGeom>
          <a:noFill/>
          <a:ln/>
        </p:spPr>
        <p:txBody>
          <a:bodyPr wrap="square" lIns="0" tIns="0" rIns="0" bIns="0" rtlCol="0" anchor="ctr"/>
          <a:lstStyle/>
          <a:p>
            <a:pPr indent="0" marL="0">
              <a:buNone/>
            </a:pPr>
            <a:r>
              <a:rPr lang="en-US" sz="1050" dirty="0">
                <a:solidFill>
                  <a:srgbClr val="14204A"/>
                </a:solidFill>
                <a:latin typeface="Arial" pitchFamily="34" charset="0"/>
                <a:ea typeface="Arial" pitchFamily="34" charset="-122"/>
                <a:cs typeface="Arial" pitchFamily="34" charset="-120"/>
              </a:rPr>
              <a:t>Hougang (16)   ·   Sengkang (10)   ·   Bukit Panjang (8)   ·   Punggol (8)</a:t>
            </a:r>
            <a:endParaRPr lang="en-US" sz="1050" dirty="0"/>
          </a:p>
        </p:txBody>
      </p:sp>
      <p:sp>
        <p:nvSpPr>
          <p:cNvPr id="25" name="Text 23"/>
          <p:cNvSpPr/>
          <p:nvPr/>
        </p:nvSpPr>
        <p:spPr>
          <a:xfrm>
            <a:off x="5760720" y="4581144"/>
            <a:ext cx="5852160" cy="384048"/>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Anchors — CHIJ Our Lady of the Nativity · Hougang Polyclinic · Holy Innocents' Primary School</a:t>
            </a:r>
            <a:endParaRPr lang="en-US" sz="1000" dirty="0"/>
          </a:p>
        </p:txBody>
      </p:sp>
      <p:sp>
        <p:nvSpPr>
          <p:cNvPr id="26" name="Shape 24"/>
          <p:cNvSpPr/>
          <p:nvPr/>
        </p:nvSpPr>
        <p:spPr>
          <a:xfrm>
            <a:off x="502920" y="5239512"/>
            <a:ext cx="11183112" cy="749808"/>
          </a:xfrm>
          <a:prstGeom prst="roundRect">
            <a:avLst>
              <a:gd name="adj" fmla="val 10976"/>
            </a:avLst>
          </a:prstGeom>
          <a:solidFill>
            <a:srgbClr val="FFFFFF"/>
          </a:solidFill>
          <a:ln w="12700">
            <a:solidFill>
              <a:srgbClr val="D8DDE9"/>
            </a:solidFill>
            <a:prstDash val="solid"/>
          </a:ln>
        </p:spPr>
      </p:sp>
      <p:sp>
        <p:nvSpPr>
          <p:cNvPr id="27" name="Text 25"/>
          <p:cNvSpPr/>
          <p:nvPr/>
        </p:nvSpPr>
        <p:spPr>
          <a:xfrm>
            <a:off x="758952" y="5312664"/>
            <a:ext cx="2286000" cy="310896"/>
          </a:xfrm>
          <a:prstGeom prst="rect">
            <a:avLst/>
          </a:prstGeom>
          <a:noFill/>
          <a:ln/>
        </p:spPr>
        <p:txBody>
          <a:bodyPr wrap="square" lIns="0" tIns="0" rIns="0" bIns="0" rtlCol="0" anchor="ctr"/>
          <a:lstStyle/>
          <a:p>
            <a:pPr indent="0" marL="0">
              <a:buNone/>
            </a:pPr>
            <a:r>
              <a:rPr lang="en-US" sz="1250" b="1" dirty="0">
                <a:solidFill>
                  <a:srgbClr val="1B2D8A"/>
                </a:solidFill>
                <a:latin typeface="Arial" pitchFamily="34" charset="0"/>
                <a:ea typeface="Arial" pitchFamily="34" charset="-122"/>
                <a:cs typeface="Arial" pitchFamily="34" charset="-120"/>
              </a:rPr>
              <a:t>Youth</a:t>
            </a:r>
            <a:endParaRPr lang="en-US" sz="1250" dirty="0"/>
          </a:p>
        </p:txBody>
      </p:sp>
      <p:sp>
        <p:nvSpPr>
          <p:cNvPr id="28" name="Text 26"/>
          <p:cNvSpPr/>
          <p:nvPr/>
        </p:nvSpPr>
        <p:spPr>
          <a:xfrm>
            <a:off x="758952" y="5623560"/>
            <a:ext cx="4846320" cy="292608"/>
          </a:xfrm>
          <a:prstGeom prst="rect">
            <a:avLst/>
          </a:prstGeom>
          <a:noFill/>
          <a:ln/>
        </p:spPr>
        <p:txBody>
          <a:bodyPr wrap="square" lIns="0" tIns="0" rIns="0" bIns="0" rtlCol="0" anchor="ctr"/>
          <a:lstStyle/>
          <a:p>
            <a:pPr indent="0" marL="0">
              <a:buNone/>
            </a:pPr>
            <a:r>
              <a:rPr lang="en-US" sz="1050" dirty="0">
                <a:solidFill>
                  <a:srgbClr val="14204A"/>
                </a:solidFill>
                <a:latin typeface="Arial" pitchFamily="34" charset="0"/>
                <a:ea typeface="Arial" pitchFamily="34" charset="-122"/>
                <a:cs typeface="Arial" pitchFamily="34" charset="-120"/>
              </a:rPr>
              <a:t>Serangoon (8)   ·   Downtown Core (8)   ·   Sengkang (7)   ·   Marine Parade (7)</a:t>
            </a:r>
            <a:endParaRPr lang="en-US" sz="1050" dirty="0"/>
          </a:p>
        </p:txBody>
      </p:sp>
      <p:sp>
        <p:nvSpPr>
          <p:cNvPr id="29" name="Text 27"/>
          <p:cNvSpPr/>
          <p:nvPr/>
        </p:nvSpPr>
        <p:spPr>
          <a:xfrm>
            <a:off x="5760720" y="5422392"/>
            <a:ext cx="5852160" cy="384048"/>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Anchors — Bowen Secondary School · Peicai Secondary School · St. Gabriel's Secondary School</a:t>
            </a:r>
            <a:endParaRPr lang="en-US" sz="1000" dirty="0"/>
          </a:p>
        </p:txBody>
      </p:sp>
      <p:sp>
        <p:nvSpPr>
          <p:cNvPr id="30" name="Text 28"/>
          <p:cNvSpPr/>
          <p:nvPr/>
        </p:nvSpPr>
        <p:spPr>
          <a:xfrm>
            <a:off x="502920" y="6035040"/>
            <a:ext cx="7680960" cy="310896"/>
          </a:xfrm>
          <a:prstGeom prst="rect">
            <a:avLst/>
          </a:prstGeom>
          <a:noFill/>
          <a:ln/>
        </p:spPr>
        <p:txBody>
          <a:bodyPr wrap="square" lIns="0" tIns="0" rIns="0" bIns="0" rtlCol="0" anchor="ctr"/>
          <a:lstStyle/>
          <a:p>
            <a:pPr indent="0" marL="0">
              <a:buNone/>
            </a:pPr>
            <a:r>
              <a:rPr lang="en-US" sz="950" i="1" dirty="0">
                <a:solidFill>
                  <a:srgbClr val="5A6484"/>
                </a:solidFill>
                <a:latin typeface="Arial" pitchFamily="34" charset="0"/>
                <a:ea typeface="Arial" pitchFamily="34" charset="-122"/>
                <a:cs typeface="Arial" pitchFamily="34" charset="-120"/>
              </a:rPr>
              <a:t>Number in brackets = places of that audience within 400 m of a DBP C2 stop in that planning area.</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2101291" cy="310896"/>
          </a:xfrm>
          <a:prstGeom prst="roundRect">
            <a:avLst>
              <a:gd name="adj" fmla="val 50000"/>
            </a:avLst>
          </a:prstGeom>
          <a:solidFill>
            <a:srgbClr val="F0245E"/>
          </a:solidFill>
          <a:ln/>
        </p:spPr>
      </p:sp>
      <p:sp>
        <p:nvSpPr>
          <p:cNvPr id="3" name="Text 1"/>
          <p:cNvSpPr/>
          <p:nvPr/>
        </p:nvSpPr>
        <p:spPr>
          <a:xfrm>
            <a:off x="502920" y="329184"/>
            <a:ext cx="2101291" cy="310896"/>
          </a:xfrm>
          <a:prstGeom prst="rect">
            <a:avLst/>
          </a:prstGeom>
          <a:noFill/>
          <a:ln/>
        </p:spPr>
        <p:txBody>
          <a:bodyPr wrap="square" lIns="0" tIns="0" rIns="0" bIns="0" rtlCol="0" anchor="ctr"/>
          <a:lstStyle/>
          <a:p>
            <a:pPr algn="ctr" indent="0" marL="0">
              <a:buNone/>
            </a:pPr>
            <a:r>
              <a:rPr lang="en-US" sz="950" b="1" spc="130" kern="0" dirty="0">
                <a:solidFill>
                  <a:srgbClr val="FFFFFF"/>
                </a:solidFill>
                <a:latin typeface="Arial" pitchFamily="34" charset="0"/>
                <a:ea typeface="Arial" pitchFamily="34" charset="-122"/>
                <a:cs typeface="Arial" pitchFamily="34" charset="-120"/>
              </a:rPr>
              <a:t>DBP C2 · DAYPARTING</a:t>
            </a:r>
            <a:endParaRPr lang="en-US" sz="950" dirty="0"/>
          </a:p>
        </p:txBody>
      </p:sp>
      <p:sp>
        <p:nvSpPr>
          <p:cNvPr id="4" name="Text 2"/>
          <p:cNvSpPr/>
          <p:nvPr/>
        </p:nvSpPr>
        <p:spPr>
          <a:xfrm>
            <a:off x="484632" y="749808"/>
            <a:ext cx="10607040" cy="566928"/>
          </a:xfrm>
          <a:prstGeom prst="rect">
            <a:avLst/>
          </a:prstGeom>
          <a:noFill/>
          <a:ln/>
        </p:spPr>
        <p:txBody>
          <a:bodyPr wrap="square" lIns="0" tIns="0" rIns="0" bIns="0" rtlCol="0" anchor="ctr"/>
          <a:lstStyle/>
          <a:p>
            <a:pPr indent="0" marL="0">
              <a:buNone/>
            </a:pPr>
            <a:r>
              <a:rPr lang="en-US" sz="3000" b="1" dirty="0">
                <a:solidFill>
                  <a:srgbClr val="1B2D8A"/>
                </a:solidFill>
                <a:latin typeface="Arial" pitchFamily="34" charset="0"/>
                <a:ea typeface="Arial" pitchFamily="34" charset="-122"/>
                <a:cs typeface="Arial" pitchFamily="34" charset="-120"/>
              </a:rPr>
              <a:t>What runs, and when</a:t>
            </a:r>
            <a:endParaRPr lang="en-US" sz="3000" dirty="0"/>
          </a:p>
        </p:txBody>
      </p:sp>
      <p:sp>
        <p:nvSpPr>
          <p:cNvPr id="5" name="Text 3"/>
          <p:cNvSpPr/>
          <p:nvPr/>
        </p:nvSpPr>
        <p:spPr>
          <a:xfrm>
            <a:off x="484632" y="1316736"/>
            <a:ext cx="10424160" cy="365760"/>
          </a:xfrm>
          <a:prstGeom prst="rect">
            <a:avLst/>
          </a:prstGeom>
          <a:noFill/>
          <a:ln/>
        </p:spPr>
        <p:txBody>
          <a:bodyPr wrap="square" lIns="0" tIns="0" rIns="0" bIns="0" rtlCol="0" anchor="t"/>
          <a:lstStyle/>
          <a:p>
            <a:pPr indent="0" marL="0">
              <a:buNone/>
            </a:pPr>
            <a:r>
              <a:rPr lang="en-US" sz="1250" dirty="0">
                <a:solidFill>
                  <a:srgbClr val="5A6484"/>
                </a:solidFill>
                <a:latin typeface="Arial" pitchFamily="34" charset="0"/>
                <a:ea typeface="Arial" pitchFamily="34" charset="-122"/>
                <a:cs typeface="Arial" pitchFamily="34" charset="-120"/>
              </a:rPr>
              <a:t>One creative rotation per audience, set by when the places around the stop are actually open.</a:t>
            </a:r>
            <a:endParaRPr lang="en-US" sz="1250" dirty="0"/>
          </a:p>
        </p:txBody>
      </p:sp>
      <p:sp>
        <p:nvSpPr>
          <p:cNvPr id="6" name="Text 4"/>
          <p:cNvSpPr/>
          <p:nvPr/>
        </p:nvSpPr>
        <p:spPr>
          <a:xfrm>
            <a:off x="9464040" y="6428232"/>
            <a:ext cx="2221992" cy="310896"/>
          </a:xfrm>
          <a:prstGeom prst="rect">
            <a:avLst/>
          </a:prstGeom>
          <a:noFill/>
          <a:ln/>
        </p:spPr>
        <p:txBody>
          <a:bodyPr wrap="square" lIns="0" tIns="0" rIns="0" bIns="0" rtlCol="0" anchor="ctr"/>
          <a:lstStyle/>
          <a:p>
            <a:pPr algn="r" indent="0" marL="0">
              <a:buNone/>
            </a:pPr>
            <a:r>
              <a:rPr lang="en-US" sz="1150" b="1" i="1" spc="100" kern="0" dirty="0">
                <a:solidFill>
                  <a:srgbClr val="1B2D8A"/>
                </a:solidFill>
                <a:latin typeface="Arial" pitchFamily="34" charset="0"/>
                <a:ea typeface="Arial" pitchFamily="34" charset="-122"/>
                <a:cs typeface="Arial" pitchFamily="34" charset="-120"/>
              </a:rPr>
              <a:t>MOOVE MEDIA</a:t>
            </a:r>
            <a:endParaRPr lang="en-US" sz="1150" dirty="0"/>
          </a:p>
        </p:txBody>
      </p:sp>
      <p:sp>
        <p:nvSpPr>
          <p:cNvPr id="7" name="Text 5"/>
          <p:cNvSpPr/>
          <p:nvPr/>
        </p:nvSpPr>
        <p:spPr>
          <a:xfrm>
            <a:off x="484632" y="6428232"/>
            <a:ext cx="548640" cy="310896"/>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11</a:t>
            </a:r>
            <a:endParaRPr lang="en-US" sz="1000" dirty="0"/>
          </a:p>
        </p:txBody>
      </p:sp>
      <p:sp>
        <p:nvSpPr>
          <p:cNvPr id="8" name="Shape 6"/>
          <p:cNvSpPr/>
          <p:nvPr/>
        </p:nvSpPr>
        <p:spPr>
          <a:xfrm>
            <a:off x="9528048" y="329184"/>
            <a:ext cx="2101291" cy="310896"/>
          </a:xfrm>
          <a:prstGeom prst="roundRect">
            <a:avLst>
              <a:gd name="adj" fmla="val 50000"/>
            </a:avLst>
          </a:prstGeom>
          <a:solidFill>
            <a:srgbClr val="FFFFFF"/>
          </a:solidFill>
          <a:ln w="12700">
            <a:solidFill>
              <a:srgbClr val="5A6484"/>
            </a:solidFill>
            <a:prstDash val="solid"/>
          </a:ln>
        </p:spPr>
      </p:sp>
      <p:sp>
        <p:nvSpPr>
          <p:cNvPr id="9" name="Text 7"/>
          <p:cNvSpPr/>
          <p:nvPr/>
        </p:nvSpPr>
        <p:spPr>
          <a:xfrm>
            <a:off x="9528048" y="329184"/>
            <a:ext cx="2101291" cy="310896"/>
          </a:xfrm>
          <a:prstGeom prst="rect">
            <a:avLst/>
          </a:prstGeom>
          <a:noFill/>
          <a:ln/>
        </p:spPr>
        <p:txBody>
          <a:bodyPr wrap="square" lIns="0" tIns="0" rIns="0" bIns="0" rtlCol="0" anchor="ctr"/>
          <a:lstStyle/>
          <a:p>
            <a:pPr algn="ctr" indent="0" marL="0">
              <a:buNone/>
            </a:pPr>
            <a:r>
              <a:rPr lang="en-US" sz="900" b="1" spc="130" kern="0" dirty="0">
                <a:solidFill>
                  <a:srgbClr val="5A6484"/>
                </a:solidFill>
                <a:latin typeface="Arial" pitchFamily="34" charset="0"/>
                <a:ea typeface="Arial" pitchFamily="34" charset="-122"/>
                <a:cs typeface="Arial" pitchFamily="34" charset="-120"/>
              </a:rPr>
              <a:t>PLANNING ASSUMPTION</a:t>
            </a:r>
            <a:endParaRPr lang="en-US" sz="900" dirty="0"/>
          </a:p>
        </p:txBody>
      </p:sp>
      <p:sp>
        <p:nvSpPr>
          <p:cNvPr id="10" name="Text 8"/>
          <p:cNvSpPr/>
          <p:nvPr/>
        </p:nvSpPr>
        <p:spPr>
          <a:xfrm>
            <a:off x="758952" y="1874520"/>
            <a:ext cx="2103120" cy="274320"/>
          </a:xfrm>
          <a:prstGeom prst="rect">
            <a:avLst/>
          </a:prstGeom>
          <a:noFill/>
          <a:ln/>
        </p:spPr>
        <p:txBody>
          <a:bodyPr wrap="square" lIns="0" tIns="0" rIns="0" bIns="0" rtlCol="0" anchor="ctr"/>
          <a:lstStyle/>
          <a:p>
            <a:pPr indent="0" marL="0">
              <a:buNone/>
            </a:pPr>
            <a:r>
              <a:rPr lang="en-US" sz="950" b="1" spc="80" kern="0" dirty="0">
                <a:solidFill>
                  <a:srgbClr val="5A6484"/>
                </a:solidFill>
                <a:latin typeface="Arial" pitchFamily="34" charset="0"/>
                <a:ea typeface="Arial" pitchFamily="34" charset="-122"/>
                <a:cs typeface="Arial" pitchFamily="34" charset="-120"/>
              </a:rPr>
              <a:t>Audience</a:t>
            </a:r>
            <a:endParaRPr lang="en-US" sz="950" dirty="0"/>
          </a:p>
        </p:txBody>
      </p:sp>
      <p:sp>
        <p:nvSpPr>
          <p:cNvPr id="11" name="Text 9"/>
          <p:cNvSpPr/>
          <p:nvPr/>
        </p:nvSpPr>
        <p:spPr>
          <a:xfrm>
            <a:off x="3063240" y="1874520"/>
            <a:ext cx="2743200" cy="274320"/>
          </a:xfrm>
          <a:prstGeom prst="rect">
            <a:avLst/>
          </a:prstGeom>
          <a:noFill/>
          <a:ln/>
        </p:spPr>
        <p:txBody>
          <a:bodyPr wrap="square" lIns="0" tIns="0" rIns="0" bIns="0" rtlCol="0" anchor="ctr"/>
          <a:lstStyle/>
          <a:p>
            <a:pPr indent="0" marL="0">
              <a:buNone/>
            </a:pPr>
            <a:r>
              <a:rPr lang="en-US" sz="950" b="1" spc="80" kern="0" dirty="0">
                <a:solidFill>
                  <a:srgbClr val="5A6484"/>
                </a:solidFill>
                <a:latin typeface="Arial" pitchFamily="34" charset="0"/>
                <a:ea typeface="Arial" pitchFamily="34" charset="-122"/>
                <a:cs typeface="Arial" pitchFamily="34" charset="-120"/>
              </a:rPr>
              <a:t>Window</a:t>
            </a:r>
            <a:endParaRPr lang="en-US" sz="950" dirty="0"/>
          </a:p>
        </p:txBody>
      </p:sp>
      <p:sp>
        <p:nvSpPr>
          <p:cNvPr id="12" name="Text 10"/>
          <p:cNvSpPr/>
          <p:nvPr/>
        </p:nvSpPr>
        <p:spPr>
          <a:xfrm>
            <a:off x="6035040" y="1874520"/>
            <a:ext cx="5577840" cy="274320"/>
          </a:xfrm>
          <a:prstGeom prst="rect">
            <a:avLst/>
          </a:prstGeom>
          <a:noFill/>
          <a:ln/>
        </p:spPr>
        <p:txBody>
          <a:bodyPr wrap="square" lIns="0" tIns="0" rIns="0" bIns="0" rtlCol="0" anchor="ctr"/>
          <a:lstStyle/>
          <a:p>
            <a:pPr indent="0" marL="0">
              <a:buNone/>
            </a:pPr>
            <a:r>
              <a:rPr lang="en-US" sz="950" b="1" spc="80" kern="0" dirty="0">
                <a:solidFill>
                  <a:srgbClr val="5A6484"/>
                </a:solidFill>
                <a:latin typeface="Arial" pitchFamily="34" charset="0"/>
                <a:ea typeface="Arial" pitchFamily="34" charset="-122"/>
                <a:cs typeface="Arial" pitchFamily="34" charset="-120"/>
              </a:rPr>
              <a:t>Creative</a:t>
            </a:r>
            <a:endParaRPr lang="en-US" sz="950" dirty="0"/>
          </a:p>
        </p:txBody>
      </p:sp>
      <p:sp>
        <p:nvSpPr>
          <p:cNvPr id="13" name="Shape 11"/>
          <p:cNvSpPr/>
          <p:nvPr/>
        </p:nvSpPr>
        <p:spPr>
          <a:xfrm>
            <a:off x="502920" y="2185416"/>
            <a:ext cx="11183112" cy="658368"/>
          </a:xfrm>
          <a:prstGeom prst="roundRect">
            <a:avLst>
              <a:gd name="adj" fmla="val 12500"/>
            </a:avLst>
          </a:prstGeom>
          <a:solidFill>
            <a:srgbClr val="FFFFFF"/>
          </a:solidFill>
          <a:ln w="12700">
            <a:solidFill>
              <a:srgbClr val="D8DDE9"/>
            </a:solidFill>
            <a:prstDash val="solid"/>
          </a:ln>
        </p:spPr>
      </p:sp>
      <p:sp>
        <p:nvSpPr>
          <p:cNvPr id="14" name="Text 12"/>
          <p:cNvSpPr/>
          <p:nvPr/>
        </p:nvSpPr>
        <p:spPr>
          <a:xfrm>
            <a:off x="758952" y="2340864"/>
            <a:ext cx="2377440" cy="347472"/>
          </a:xfrm>
          <a:prstGeom prst="rect">
            <a:avLst/>
          </a:prstGeom>
          <a:noFill/>
          <a:ln/>
        </p:spPr>
        <p:txBody>
          <a:bodyPr wrap="square" lIns="0" tIns="0" rIns="0" bIns="0" rtlCol="0" anchor="ctr"/>
          <a:lstStyle/>
          <a:p>
            <a:pPr indent="0" marL="0">
              <a:buNone/>
            </a:pPr>
            <a:r>
              <a:rPr lang="en-US" sz="1200" b="1" dirty="0">
                <a:solidFill>
                  <a:srgbClr val="1B2D8A"/>
                </a:solidFill>
                <a:latin typeface="Arial" pitchFamily="34" charset="0"/>
                <a:ea typeface="Arial" pitchFamily="34" charset="-122"/>
                <a:cs typeface="Arial" pitchFamily="34" charset="-120"/>
              </a:rPr>
              <a:t>Seniors</a:t>
            </a:r>
            <a:endParaRPr lang="en-US" sz="1200" dirty="0"/>
          </a:p>
        </p:txBody>
      </p:sp>
      <p:sp>
        <p:nvSpPr>
          <p:cNvPr id="15" name="Text 13"/>
          <p:cNvSpPr/>
          <p:nvPr/>
        </p:nvSpPr>
        <p:spPr>
          <a:xfrm>
            <a:off x="3063240" y="2240280"/>
            <a:ext cx="2880360" cy="274320"/>
          </a:xfrm>
          <a:prstGeom prst="rect">
            <a:avLst/>
          </a:prstGeom>
          <a:noFill/>
          <a:ln/>
        </p:spPr>
        <p:txBody>
          <a:bodyPr wrap="square" lIns="0" tIns="0" rIns="0" bIns="0" rtlCol="0" anchor="ctr"/>
          <a:lstStyle/>
          <a:p>
            <a:pPr indent="0" marL="0">
              <a:buNone/>
            </a:pPr>
            <a:r>
              <a:rPr lang="en-US" sz="1050" b="1" dirty="0">
                <a:solidFill>
                  <a:srgbClr val="14204A"/>
                </a:solidFill>
                <a:latin typeface="Arial" pitchFamily="34" charset="0"/>
                <a:ea typeface="Arial" pitchFamily="34" charset="-122"/>
                <a:cs typeface="Arial" pitchFamily="34" charset="-120"/>
              </a:rPr>
              <a:t>Weekday 08:00–11:00</a:t>
            </a:r>
            <a:endParaRPr lang="en-US" sz="1050" dirty="0"/>
          </a:p>
        </p:txBody>
      </p:sp>
      <p:sp>
        <p:nvSpPr>
          <p:cNvPr id="16" name="Text 14"/>
          <p:cNvSpPr/>
          <p:nvPr/>
        </p:nvSpPr>
        <p:spPr>
          <a:xfrm>
            <a:off x="3063240" y="2514600"/>
            <a:ext cx="2880360" cy="274320"/>
          </a:xfrm>
          <a:prstGeom prst="rect">
            <a:avLst/>
          </a:prstGeom>
          <a:noFill/>
          <a:ln/>
        </p:spPr>
        <p:txBody>
          <a:bodyPr wrap="square" lIns="0" tIns="0" rIns="0" bIns="0" rtlCol="0" anchor="ctr"/>
          <a:lstStyle/>
          <a:p>
            <a:pPr indent="0" marL="0">
              <a:buNone/>
            </a:pPr>
            <a:r>
              <a:rPr lang="en-US" sz="900" dirty="0">
                <a:solidFill>
                  <a:srgbClr val="5A6484"/>
                </a:solidFill>
                <a:latin typeface="Arial" pitchFamily="34" charset="0"/>
                <a:ea typeface="Arial" pitchFamily="34" charset="-122"/>
                <a:cs typeface="Arial" pitchFamily="34" charset="-120"/>
              </a:rPr>
              <a:t>Polyclinic and senior-activity morning peak</a:t>
            </a:r>
            <a:endParaRPr lang="en-US" sz="900" dirty="0"/>
          </a:p>
        </p:txBody>
      </p:sp>
      <p:sp>
        <p:nvSpPr>
          <p:cNvPr id="17" name="Text 15"/>
          <p:cNvSpPr/>
          <p:nvPr/>
        </p:nvSpPr>
        <p:spPr>
          <a:xfrm>
            <a:off x="6035040" y="2340864"/>
            <a:ext cx="5577840" cy="347472"/>
          </a:xfrm>
          <a:prstGeom prst="rect">
            <a:avLst/>
          </a:prstGeom>
          <a:noFill/>
          <a:ln/>
        </p:spPr>
        <p:txBody>
          <a:bodyPr wrap="square" lIns="0" tIns="0" rIns="0" bIns="0" rtlCol="0" anchor="ctr"/>
          <a:lstStyle/>
          <a:p>
            <a:pPr indent="0" marL="0">
              <a:buNone/>
            </a:pPr>
            <a:r>
              <a:rPr lang="en-US" sz="1100" dirty="0">
                <a:solidFill>
                  <a:srgbClr val="14204A"/>
                </a:solidFill>
                <a:latin typeface="Arial" pitchFamily="34" charset="0"/>
                <a:ea typeface="Arial" pitchFamily="34" charset="-122"/>
                <a:cs typeface="Arial" pitchFamily="34" charset="-120"/>
              </a:rPr>
              <a:t>Large type, dialect-friendly: the number, and that it is free.</a:t>
            </a:r>
            <a:endParaRPr lang="en-US" sz="1100" dirty="0"/>
          </a:p>
        </p:txBody>
      </p:sp>
      <p:sp>
        <p:nvSpPr>
          <p:cNvPr id="18" name="Shape 16"/>
          <p:cNvSpPr/>
          <p:nvPr/>
        </p:nvSpPr>
        <p:spPr>
          <a:xfrm>
            <a:off x="502920" y="2898648"/>
            <a:ext cx="11183112" cy="658368"/>
          </a:xfrm>
          <a:prstGeom prst="roundRect">
            <a:avLst>
              <a:gd name="adj" fmla="val 12500"/>
            </a:avLst>
          </a:prstGeom>
          <a:solidFill>
            <a:srgbClr val="FFFFFF"/>
          </a:solidFill>
          <a:ln w="12700">
            <a:solidFill>
              <a:srgbClr val="D8DDE9"/>
            </a:solidFill>
            <a:prstDash val="solid"/>
          </a:ln>
        </p:spPr>
      </p:sp>
      <p:sp>
        <p:nvSpPr>
          <p:cNvPr id="19" name="Text 17"/>
          <p:cNvSpPr/>
          <p:nvPr/>
        </p:nvSpPr>
        <p:spPr>
          <a:xfrm>
            <a:off x="758952" y="3054096"/>
            <a:ext cx="2377440" cy="347472"/>
          </a:xfrm>
          <a:prstGeom prst="rect">
            <a:avLst/>
          </a:prstGeom>
          <a:noFill/>
          <a:ln/>
        </p:spPr>
        <p:txBody>
          <a:bodyPr wrap="square" lIns="0" tIns="0" rIns="0" bIns="0" rtlCol="0" anchor="ctr"/>
          <a:lstStyle/>
          <a:p>
            <a:pPr indent="0" marL="0">
              <a:buNone/>
            </a:pPr>
            <a:r>
              <a:rPr lang="en-US" sz="1200" b="1" dirty="0">
                <a:solidFill>
                  <a:srgbClr val="1B2D8A"/>
                </a:solidFill>
                <a:latin typeface="Arial" pitchFamily="34" charset="0"/>
                <a:ea typeface="Arial" pitchFamily="34" charset="-122"/>
                <a:cs typeface="Arial" pitchFamily="34" charset="-120"/>
              </a:rPr>
              <a:t>Young children</a:t>
            </a:r>
            <a:endParaRPr lang="en-US" sz="1200" dirty="0"/>
          </a:p>
        </p:txBody>
      </p:sp>
      <p:sp>
        <p:nvSpPr>
          <p:cNvPr id="20" name="Text 18"/>
          <p:cNvSpPr/>
          <p:nvPr/>
        </p:nvSpPr>
        <p:spPr>
          <a:xfrm>
            <a:off x="3063240" y="2953512"/>
            <a:ext cx="2880360" cy="274320"/>
          </a:xfrm>
          <a:prstGeom prst="rect">
            <a:avLst/>
          </a:prstGeom>
          <a:noFill/>
          <a:ln/>
        </p:spPr>
        <p:txBody>
          <a:bodyPr wrap="square" lIns="0" tIns="0" rIns="0" bIns="0" rtlCol="0" anchor="ctr"/>
          <a:lstStyle/>
          <a:p>
            <a:pPr indent="0" marL="0">
              <a:buNone/>
            </a:pPr>
            <a:r>
              <a:rPr lang="en-US" sz="1050" b="1" dirty="0">
                <a:solidFill>
                  <a:srgbClr val="14204A"/>
                </a:solidFill>
                <a:latin typeface="Arial" pitchFamily="34" charset="0"/>
                <a:ea typeface="Arial" pitchFamily="34" charset="-122"/>
                <a:cs typeface="Arial" pitchFamily="34" charset="-120"/>
              </a:rPr>
              <a:t>Weekday 06:30–07:45 &amp; 13:00–15:30</a:t>
            </a:r>
            <a:endParaRPr lang="en-US" sz="1050" dirty="0"/>
          </a:p>
        </p:txBody>
      </p:sp>
      <p:sp>
        <p:nvSpPr>
          <p:cNvPr id="21" name="Text 19"/>
          <p:cNvSpPr/>
          <p:nvPr/>
        </p:nvSpPr>
        <p:spPr>
          <a:xfrm>
            <a:off x="3063240" y="3227832"/>
            <a:ext cx="2880360" cy="274320"/>
          </a:xfrm>
          <a:prstGeom prst="rect">
            <a:avLst/>
          </a:prstGeom>
          <a:noFill/>
          <a:ln/>
        </p:spPr>
        <p:txBody>
          <a:bodyPr wrap="square" lIns="0" tIns="0" rIns="0" bIns="0" rtlCol="0" anchor="ctr"/>
          <a:lstStyle/>
          <a:p>
            <a:pPr indent="0" marL="0">
              <a:buNone/>
            </a:pPr>
            <a:r>
              <a:rPr lang="en-US" sz="900" dirty="0">
                <a:solidFill>
                  <a:srgbClr val="5A6484"/>
                </a:solidFill>
                <a:latin typeface="Arial" pitchFamily="34" charset="0"/>
                <a:ea typeface="Arial" pitchFamily="34" charset="-122"/>
                <a:cs typeface="Arial" pitchFamily="34" charset="-120"/>
              </a:rPr>
              <a:t>The school run, both directions</a:t>
            </a:r>
            <a:endParaRPr lang="en-US" sz="900" dirty="0"/>
          </a:p>
        </p:txBody>
      </p:sp>
      <p:sp>
        <p:nvSpPr>
          <p:cNvPr id="22" name="Text 20"/>
          <p:cNvSpPr/>
          <p:nvPr/>
        </p:nvSpPr>
        <p:spPr>
          <a:xfrm>
            <a:off x="6035040" y="3054096"/>
            <a:ext cx="5577840" cy="347472"/>
          </a:xfrm>
          <a:prstGeom prst="rect">
            <a:avLst/>
          </a:prstGeom>
          <a:noFill/>
          <a:ln/>
        </p:spPr>
        <p:txBody>
          <a:bodyPr wrap="square" lIns="0" tIns="0" rIns="0" bIns="0" rtlCol="0" anchor="ctr"/>
          <a:lstStyle/>
          <a:p>
            <a:pPr indent="0" marL="0">
              <a:buNone/>
            </a:pPr>
            <a:r>
              <a:rPr lang="en-US" sz="1100" dirty="0">
                <a:solidFill>
                  <a:srgbClr val="14204A"/>
                </a:solidFill>
                <a:latin typeface="Arial" pitchFamily="34" charset="0"/>
                <a:ea typeface="Arial" pitchFamily="34" charset="-122"/>
                <a:cs typeface="Arial" pitchFamily="34" charset="-120"/>
              </a:rPr>
              <a:t>Child-facing: "Mind feeling under the weather?"</a:t>
            </a:r>
            <a:endParaRPr lang="en-US" sz="1100" dirty="0"/>
          </a:p>
        </p:txBody>
      </p:sp>
      <p:sp>
        <p:nvSpPr>
          <p:cNvPr id="23" name="Shape 21"/>
          <p:cNvSpPr/>
          <p:nvPr/>
        </p:nvSpPr>
        <p:spPr>
          <a:xfrm>
            <a:off x="502920" y="3611880"/>
            <a:ext cx="11183112" cy="658368"/>
          </a:xfrm>
          <a:prstGeom prst="roundRect">
            <a:avLst>
              <a:gd name="adj" fmla="val 12500"/>
            </a:avLst>
          </a:prstGeom>
          <a:solidFill>
            <a:srgbClr val="FFFFFF"/>
          </a:solidFill>
          <a:ln w="12700">
            <a:solidFill>
              <a:srgbClr val="D8DDE9"/>
            </a:solidFill>
            <a:prstDash val="solid"/>
          </a:ln>
        </p:spPr>
      </p:sp>
      <p:sp>
        <p:nvSpPr>
          <p:cNvPr id="24" name="Text 22"/>
          <p:cNvSpPr/>
          <p:nvPr/>
        </p:nvSpPr>
        <p:spPr>
          <a:xfrm>
            <a:off x="758952" y="3767328"/>
            <a:ext cx="2377440" cy="347472"/>
          </a:xfrm>
          <a:prstGeom prst="rect">
            <a:avLst/>
          </a:prstGeom>
          <a:noFill/>
          <a:ln/>
        </p:spPr>
        <p:txBody>
          <a:bodyPr wrap="square" lIns="0" tIns="0" rIns="0" bIns="0" rtlCol="0" anchor="ctr"/>
          <a:lstStyle/>
          <a:p>
            <a:pPr indent="0" marL="0">
              <a:buNone/>
            </a:pPr>
            <a:r>
              <a:rPr lang="en-US" sz="1200" b="1" dirty="0">
                <a:solidFill>
                  <a:srgbClr val="1B2D8A"/>
                </a:solidFill>
                <a:latin typeface="Arial" pitchFamily="34" charset="0"/>
                <a:ea typeface="Arial" pitchFamily="34" charset="-122"/>
                <a:cs typeface="Arial" pitchFamily="34" charset="-120"/>
              </a:rPr>
              <a:t>Youth</a:t>
            </a:r>
            <a:endParaRPr lang="en-US" sz="1200" dirty="0"/>
          </a:p>
        </p:txBody>
      </p:sp>
      <p:sp>
        <p:nvSpPr>
          <p:cNvPr id="25" name="Text 23"/>
          <p:cNvSpPr/>
          <p:nvPr/>
        </p:nvSpPr>
        <p:spPr>
          <a:xfrm>
            <a:off x="3063240" y="3666744"/>
            <a:ext cx="2880360" cy="274320"/>
          </a:xfrm>
          <a:prstGeom prst="rect">
            <a:avLst/>
          </a:prstGeom>
          <a:noFill/>
          <a:ln/>
        </p:spPr>
        <p:txBody>
          <a:bodyPr wrap="square" lIns="0" tIns="0" rIns="0" bIns="0" rtlCol="0" anchor="ctr"/>
          <a:lstStyle/>
          <a:p>
            <a:pPr indent="0" marL="0">
              <a:buNone/>
            </a:pPr>
            <a:r>
              <a:rPr lang="en-US" sz="1050" b="1" dirty="0">
                <a:solidFill>
                  <a:srgbClr val="14204A"/>
                </a:solidFill>
                <a:latin typeface="Arial" pitchFamily="34" charset="0"/>
                <a:ea typeface="Arial" pitchFamily="34" charset="-122"/>
                <a:cs typeface="Arial" pitchFamily="34" charset="-120"/>
              </a:rPr>
              <a:t>Weekday 15:00–18:00 + weekend 12:00–20:00</a:t>
            </a:r>
            <a:endParaRPr lang="en-US" sz="1050" dirty="0"/>
          </a:p>
        </p:txBody>
      </p:sp>
      <p:sp>
        <p:nvSpPr>
          <p:cNvPr id="26" name="Text 24"/>
          <p:cNvSpPr/>
          <p:nvPr/>
        </p:nvSpPr>
        <p:spPr>
          <a:xfrm>
            <a:off x="3063240" y="3941064"/>
            <a:ext cx="2880360" cy="274320"/>
          </a:xfrm>
          <a:prstGeom prst="rect">
            <a:avLst/>
          </a:prstGeom>
          <a:noFill/>
          <a:ln/>
        </p:spPr>
        <p:txBody>
          <a:bodyPr wrap="square" lIns="0" tIns="0" rIns="0" bIns="0" rtlCol="0" anchor="ctr"/>
          <a:lstStyle/>
          <a:p>
            <a:pPr indent="0" marL="0">
              <a:buNone/>
            </a:pPr>
            <a:r>
              <a:rPr lang="en-US" sz="900" dirty="0">
                <a:solidFill>
                  <a:srgbClr val="5A6484"/>
                </a:solidFill>
                <a:latin typeface="Arial" pitchFamily="34" charset="0"/>
                <a:ea typeface="Arial" pitchFamily="34" charset="-122"/>
                <a:cs typeface="Arial" pitchFamily="34" charset="-120"/>
              </a:rPr>
              <a:t>Secondary/IHL dismissal and third-place dwell</a:t>
            </a:r>
            <a:endParaRPr lang="en-US" sz="900" dirty="0"/>
          </a:p>
        </p:txBody>
      </p:sp>
      <p:sp>
        <p:nvSpPr>
          <p:cNvPr id="27" name="Text 25"/>
          <p:cNvSpPr/>
          <p:nvPr/>
        </p:nvSpPr>
        <p:spPr>
          <a:xfrm>
            <a:off x="6035040" y="3767328"/>
            <a:ext cx="5577840" cy="347472"/>
          </a:xfrm>
          <a:prstGeom prst="rect">
            <a:avLst/>
          </a:prstGeom>
          <a:noFill/>
          <a:ln/>
        </p:spPr>
        <p:txBody>
          <a:bodyPr wrap="square" lIns="0" tIns="0" rIns="0" bIns="0" rtlCol="0" anchor="ctr"/>
          <a:lstStyle/>
          <a:p>
            <a:pPr indent="0" marL="0">
              <a:buNone/>
            </a:pPr>
            <a:r>
              <a:rPr lang="en-US" sz="1100" dirty="0">
                <a:solidFill>
                  <a:srgbClr val="14204A"/>
                </a:solidFill>
                <a:latin typeface="Arial" pitchFamily="34" charset="0"/>
                <a:ea typeface="Arial" pitchFamily="34" charset="-122"/>
                <a:cs typeface="Arial" pitchFamily="34" charset="-120"/>
              </a:rPr>
              <a:t>Peer-voice, QR to chat rather than phone.</a:t>
            </a:r>
            <a:endParaRPr lang="en-US" sz="1100" dirty="0"/>
          </a:p>
        </p:txBody>
      </p:sp>
      <p:sp>
        <p:nvSpPr>
          <p:cNvPr id="28" name="Shape 26"/>
          <p:cNvSpPr/>
          <p:nvPr/>
        </p:nvSpPr>
        <p:spPr>
          <a:xfrm>
            <a:off x="502920" y="4325112"/>
            <a:ext cx="11183112" cy="658368"/>
          </a:xfrm>
          <a:prstGeom prst="roundRect">
            <a:avLst>
              <a:gd name="adj" fmla="val 12500"/>
            </a:avLst>
          </a:prstGeom>
          <a:solidFill>
            <a:srgbClr val="FFFFFF"/>
          </a:solidFill>
          <a:ln w="12700">
            <a:solidFill>
              <a:srgbClr val="D8DDE9"/>
            </a:solidFill>
            <a:prstDash val="solid"/>
          </a:ln>
        </p:spPr>
      </p:sp>
      <p:sp>
        <p:nvSpPr>
          <p:cNvPr id="29" name="Text 27"/>
          <p:cNvSpPr/>
          <p:nvPr/>
        </p:nvSpPr>
        <p:spPr>
          <a:xfrm>
            <a:off x="758952" y="4480560"/>
            <a:ext cx="2377440" cy="347472"/>
          </a:xfrm>
          <a:prstGeom prst="rect">
            <a:avLst/>
          </a:prstGeom>
          <a:noFill/>
          <a:ln/>
        </p:spPr>
        <p:txBody>
          <a:bodyPr wrap="square" lIns="0" tIns="0" rIns="0" bIns="0" rtlCol="0" anchor="ctr"/>
          <a:lstStyle/>
          <a:p>
            <a:pPr indent="0" marL="0">
              <a:buNone/>
            </a:pPr>
            <a:r>
              <a:rPr lang="en-US" sz="1200" b="1" dirty="0">
                <a:solidFill>
                  <a:srgbClr val="1B2D8A"/>
                </a:solidFill>
                <a:latin typeface="Arial" pitchFamily="34" charset="0"/>
                <a:ea typeface="Arial" pitchFamily="34" charset="-122"/>
                <a:cs typeface="Arial" pitchFamily="34" charset="-120"/>
              </a:rPr>
              <a:t>Working adults</a:t>
            </a:r>
            <a:endParaRPr lang="en-US" sz="1200" dirty="0"/>
          </a:p>
        </p:txBody>
      </p:sp>
      <p:sp>
        <p:nvSpPr>
          <p:cNvPr id="30" name="Text 28"/>
          <p:cNvSpPr/>
          <p:nvPr/>
        </p:nvSpPr>
        <p:spPr>
          <a:xfrm>
            <a:off x="3063240" y="4379976"/>
            <a:ext cx="2880360" cy="274320"/>
          </a:xfrm>
          <a:prstGeom prst="rect">
            <a:avLst/>
          </a:prstGeom>
          <a:noFill/>
          <a:ln/>
        </p:spPr>
        <p:txBody>
          <a:bodyPr wrap="square" lIns="0" tIns="0" rIns="0" bIns="0" rtlCol="0" anchor="ctr"/>
          <a:lstStyle/>
          <a:p>
            <a:pPr indent="0" marL="0">
              <a:buNone/>
            </a:pPr>
            <a:r>
              <a:rPr lang="en-US" sz="1050" b="1" dirty="0">
                <a:solidFill>
                  <a:srgbClr val="14204A"/>
                </a:solidFill>
                <a:latin typeface="Arial" pitchFamily="34" charset="0"/>
                <a:ea typeface="Arial" pitchFamily="34" charset="-122"/>
                <a:cs typeface="Arial" pitchFamily="34" charset="-120"/>
              </a:rPr>
              <a:t>Weekday 07:30–09:30 &amp; 17:30–19:30</a:t>
            </a:r>
            <a:endParaRPr lang="en-US" sz="1050" dirty="0"/>
          </a:p>
        </p:txBody>
      </p:sp>
      <p:sp>
        <p:nvSpPr>
          <p:cNvPr id="31" name="Text 29"/>
          <p:cNvSpPr/>
          <p:nvPr/>
        </p:nvSpPr>
        <p:spPr>
          <a:xfrm>
            <a:off x="3063240" y="4654296"/>
            <a:ext cx="2880360" cy="274320"/>
          </a:xfrm>
          <a:prstGeom prst="rect">
            <a:avLst/>
          </a:prstGeom>
          <a:noFill/>
          <a:ln/>
        </p:spPr>
        <p:txBody>
          <a:bodyPr wrap="square" lIns="0" tIns="0" rIns="0" bIns="0" rtlCol="0" anchor="ctr"/>
          <a:lstStyle/>
          <a:p>
            <a:pPr indent="0" marL="0">
              <a:buNone/>
            </a:pPr>
            <a:r>
              <a:rPr lang="en-US" sz="900" dirty="0">
                <a:solidFill>
                  <a:srgbClr val="5A6484"/>
                </a:solidFill>
                <a:latin typeface="Arial" pitchFamily="34" charset="0"/>
                <a:ea typeface="Arial" pitchFamily="34" charset="-122"/>
                <a:cs typeface="Arial" pitchFamily="34" charset="-120"/>
              </a:rPr>
              <a:t>Interchange and CBD commute peaks</a:t>
            </a:r>
            <a:endParaRPr lang="en-US" sz="900" dirty="0"/>
          </a:p>
        </p:txBody>
      </p:sp>
      <p:sp>
        <p:nvSpPr>
          <p:cNvPr id="32" name="Text 30"/>
          <p:cNvSpPr/>
          <p:nvPr/>
        </p:nvSpPr>
        <p:spPr>
          <a:xfrm>
            <a:off x="6035040" y="4480560"/>
            <a:ext cx="5577840" cy="347472"/>
          </a:xfrm>
          <a:prstGeom prst="rect">
            <a:avLst/>
          </a:prstGeom>
          <a:noFill/>
          <a:ln/>
        </p:spPr>
        <p:txBody>
          <a:bodyPr wrap="square" lIns="0" tIns="0" rIns="0" bIns="0" rtlCol="0" anchor="ctr"/>
          <a:lstStyle/>
          <a:p>
            <a:pPr indent="0" marL="0">
              <a:buNone/>
            </a:pPr>
            <a:r>
              <a:rPr lang="en-US" sz="1100" dirty="0">
                <a:solidFill>
                  <a:srgbClr val="14204A"/>
                </a:solidFill>
                <a:latin typeface="Arial" pitchFamily="34" charset="0"/>
                <a:ea typeface="Arial" pitchFamily="34" charset="-122"/>
                <a:cs typeface="Arial" pitchFamily="34" charset="-120"/>
              </a:rPr>
              <a:t>Low-dwell, high-frequency: one line and the number.</a:t>
            </a:r>
            <a:endParaRPr lang="en-US" sz="1100" dirty="0"/>
          </a:p>
        </p:txBody>
      </p:sp>
      <p:sp>
        <p:nvSpPr>
          <p:cNvPr id="33" name="Shape 31"/>
          <p:cNvSpPr/>
          <p:nvPr/>
        </p:nvSpPr>
        <p:spPr>
          <a:xfrm>
            <a:off x="502920" y="5038344"/>
            <a:ext cx="11183112" cy="658368"/>
          </a:xfrm>
          <a:prstGeom prst="roundRect">
            <a:avLst>
              <a:gd name="adj" fmla="val 12500"/>
            </a:avLst>
          </a:prstGeom>
          <a:solidFill>
            <a:srgbClr val="FDF0F4"/>
          </a:solidFill>
          <a:ln w="12700">
            <a:solidFill>
              <a:srgbClr val="F0245E"/>
            </a:solidFill>
            <a:prstDash val="solid"/>
          </a:ln>
        </p:spPr>
      </p:sp>
      <p:sp>
        <p:nvSpPr>
          <p:cNvPr id="34" name="Text 32"/>
          <p:cNvSpPr/>
          <p:nvPr/>
        </p:nvSpPr>
        <p:spPr>
          <a:xfrm>
            <a:off x="758952" y="5193792"/>
            <a:ext cx="2377440" cy="347472"/>
          </a:xfrm>
          <a:prstGeom prst="rect">
            <a:avLst/>
          </a:prstGeom>
          <a:noFill/>
          <a:ln/>
        </p:spPr>
        <p:txBody>
          <a:bodyPr wrap="square" lIns="0" tIns="0" rIns="0" bIns="0" rtlCol="0" anchor="ctr"/>
          <a:lstStyle/>
          <a:p>
            <a:pPr indent="0" marL="0">
              <a:buNone/>
            </a:pPr>
            <a:r>
              <a:rPr lang="en-US" sz="1200" b="1" dirty="0">
                <a:solidFill>
                  <a:srgbClr val="F0245E"/>
                </a:solidFill>
                <a:latin typeface="Arial" pitchFamily="34" charset="0"/>
                <a:ea typeface="Arial" pitchFamily="34" charset="-122"/>
                <a:cs typeface="Arial" pitchFamily="34" charset="-120"/>
              </a:rPr>
              <a:t>Sandwich generation</a:t>
            </a:r>
            <a:endParaRPr lang="en-US" sz="1200" dirty="0"/>
          </a:p>
        </p:txBody>
      </p:sp>
      <p:sp>
        <p:nvSpPr>
          <p:cNvPr id="35" name="Text 33"/>
          <p:cNvSpPr/>
          <p:nvPr/>
        </p:nvSpPr>
        <p:spPr>
          <a:xfrm>
            <a:off x="3063240" y="5093208"/>
            <a:ext cx="2880360" cy="274320"/>
          </a:xfrm>
          <a:prstGeom prst="rect">
            <a:avLst/>
          </a:prstGeom>
          <a:noFill/>
          <a:ln/>
        </p:spPr>
        <p:txBody>
          <a:bodyPr wrap="square" lIns="0" tIns="0" rIns="0" bIns="0" rtlCol="0" anchor="ctr"/>
          <a:lstStyle/>
          <a:p>
            <a:pPr indent="0" marL="0">
              <a:buNone/>
            </a:pPr>
            <a:r>
              <a:rPr lang="en-US" sz="1050" b="1" dirty="0">
                <a:solidFill>
                  <a:srgbClr val="14204A"/>
                </a:solidFill>
                <a:latin typeface="Arial" pitchFamily="34" charset="0"/>
                <a:ea typeface="Arial" pitchFamily="34" charset="-122"/>
                <a:cs typeface="Arial" pitchFamily="34" charset="-120"/>
              </a:rPr>
              <a:t>Weekday 17:30–20:00 + weekend all-day</a:t>
            </a:r>
            <a:endParaRPr lang="en-US" sz="1050" dirty="0"/>
          </a:p>
        </p:txBody>
      </p:sp>
      <p:sp>
        <p:nvSpPr>
          <p:cNvPr id="36" name="Text 34"/>
          <p:cNvSpPr/>
          <p:nvPr/>
        </p:nvSpPr>
        <p:spPr>
          <a:xfrm>
            <a:off x="3063240" y="5367528"/>
            <a:ext cx="2880360" cy="274320"/>
          </a:xfrm>
          <a:prstGeom prst="rect">
            <a:avLst/>
          </a:prstGeom>
          <a:noFill/>
          <a:ln/>
        </p:spPr>
        <p:txBody>
          <a:bodyPr wrap="square" lIns="0" tIns="0" rIns="0" bIns="0" rtlCol="0" anchor="ctr"/>
          <a:lstStyle/>
          <a:p>
            <a:pPr indent="0" marL="0">
              <a:buNone/>
            </a:pPr>
            <a:r>
              <a:rPr lang="en-US" sz="900" dirty="0">
                <a:solidFill>
                  <a:srgbClr val="5A6484"/>
                </a:solidFill>
                <a:latin typeface="Arial" pitchFamily="34" charset="0"/>
                <a:ea typeface="Arial" pitchFamily="34" charset="-122"/>
                <a:cs typeface="Arial" pitchFamily="34" charset="-120"/>
              </a:rPr>
              <a:t>After work, and the weekend errand run</a:t>
            </a:r>
            <a:endParaRPr lang="en-US" sz="900" dirty="0"/>
          </a:p>
        </p:txBody>
      </p:sp>
      <p:sp>
        <p:nvSpPr>
          <p:cNvPr id="37" name="Text 35"/>
          <p:cNvSpPr/>
          <p:nvPr/>
        </p:nvSpPr>
        <p:spPr>
          <a:xfrm>
            <a:off x="6035040" y="5193792"/>
            <a:ext cx="5577840" cy="347472"/>
          </a:xfrm>
          <a:prstGeom prst="rect">
            <a:avLst/>
          </a:prstGeom>
          <a:noFill/>
          <a:ln/>
        </p:spPr>
        <p:txBody>
          <a:bodyPr wrap="square" lIns="0" tIns="0" rIns="0" bIns="0" rtlCol="0" anchor="ctr"/>
          <a:lstStyle/>
          <a:p>
            <a:pPr indent="0" marL="0">
              <a:buNone/>
            </a:pPr>
            <a:r>
              <a:rPr lang="en-US" sz="1100" dirty="0">
                <a:solidFill>
                  <a:srgbClr val="14204A"/>
                </a:solidFill>
                <a:latin typeface="Arial" pitchFamily="34" charset="0"/>
                <a:ea typeface="Arial" pitchFamily="34" charset="-122"/>
                <a:cs typeface="Arial" pitchFamily="34" charset="-120"/>
              </a:rPr>
              <a:t>"Caring for both? You can call for yourself too."</a:t>
            </a:r>
            <a:endParaRPr lang="en-US" sz="1100" dirty="0"/>
          </a:p>
        </p:txBody>
      </p:sp>
      <p:sp>
        <p:nvSpPr>
          <p:cNvPr id="38" name="Shape 36"/>
          <p:cNvSpPr/>
          <p:nvPr/>
        </p:nvSpPr>
        <p:spPr>
          <a:xfrm>
            <a:off x="502920" y="5797296"/>
            <a:ext cx="11183112" cy="512064"/>
          </a:xfrm>
          <a:prstGeom prst="roundRect">
            <a:avLst>
              <a:gd name="adj" fmla="val 16071"/>
            </a:avLst>
          </a:prstGeom>
          <a:solidFill>
            <a:srgbClr val="F5F7FC"/>
          </a:solidFill>
          <a:ln w="12700">
            <a:solidFill>
              <a:srgbClr val="D8DDE9"/>
            </a:solidFill>
            <a:prstDash val="solid"/>
          </a:ln>
        </p:spPr>
      </p:sp>
      <p:sp>
        <p:nvSpPr>
          <p:cNvPr id="39" name="Text 37"/>
          <p:cNvSpPr/>
          <p:nvPr/>
        </p:nvSpPr>
        <p:spPr>
          <a:xfrm>
            <a:off x="795528" y="5870448"/>
            <a:ext cx="10607040" cy="365760"/>
          </a:xfrm>
          <a:prstGeom prst="rect">
            <a:avLst/>
          </a:prstGeom>
          <a:noFill/>
          <a:ln/>
        </p:spPr>
        <p:txBody>
          <a:bodyPr wrap="square" lIns="0" tIns="0" rIns="0" bIns="0" rtlCol="0" anchor="ctr"/>
          <a:lstStyle/>
          <a:p>
            <a:pPr indent="0" marL="0">
              <a:buNone/>
            </a:pPr>
            <a:r>
              <a:rPr lang="en-US" sz="1100" dirty="0">
                <a:solidFill>
                  <a:srgbClr val="1B2D8A"/>
                </a:solidFill>
                <a:latin typeface="Arial" pitchFamily="34" charset="0"/>
                <a:ea typeface="Arial" pitchFamily="34" charset="-122"/>
                <a:cs typeface="Arial" pitchFamily="34" charset="-120"/>
              </a:rPr>
              <a:t>Weekend is not a throwaway: DBP C2 carries 1.01M weekend boardings against 1.02M weekday — 99% of the weekday figure.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2101291" cy="310896"/>
          </a:xfrm>
          <a:prstGeom prst="roundRect">
            <a:avLst>
              <a:gd name="adj" fmla="val 50000"/>
            </a:avLst>
          </a:prstGeom>
          <a:solidFill>
            <a:srgbClr val="F0245E"/>
          </a:solidFill>
          <a:ln/>
        </p:spPr>
      </p:sp>
      <p:sp>
        <p:nvSpPr>
          <p:cNvPr id="3" name="Text 1"/>
          <p:cNvSpPr/>
          <p:nvPr/>
        </p:nvSpPr>
        <p:spPr>
          <a:xfrm>
            <a:off x="502920" y="329184"/>
            <a:ext cx="2101291" cy="310896"/>
          </a:xfrm>
          <a:prstGeom prst="rect">
            <a:avLst/>
          </a:prstGeom>
          <a:noFill/>
          <a:ln/>
        </p:spPr>
        <p:txBody>
          <a:bodyPr wrap="square" lIns="0" tIns="0" rIns="0" bIns="0" rtlCol="0" anchor="ctr"/>
          <a:lstStyle/>
          <a:p>
            <a:pPr algn="ctr" indent="0" marL="0">
              <a:buNone/>
            </a:pPr>
            <a:r>
              <a:rPr lang="en-US" sz="950" b="1" spc="130" kern="0" dirty="0">
                <a:solidFill>
                  <a:srgbClr val="FFFFFF"/>
                </a:solidFill>
                <a:latin typeface="Arial" pitchFamily="34" charset="0"/>
                <a:ea typeface="Arial" pitchFamily="34" charset="-122"/>
                <a:cs typeface="Arial" pitchFamily="34" charset="-120"/>
              </a:rPr>
              <a:t>DBP C2 · BY VEHICLE</a:t>
            </a:r>
            <a:endParaRPr lang="en-US" sz="950" dirty="0"/>
          </a:p>
        </p:txBody>
      </p:sp>
      <p:sp>
        <p:nvSpPr>
          <p:cNvPr id="4" name="Text 2"/>
          <p:cNvSpPr/>
          <p:nvPr/>
        </p:nvSpPr>
        <p:spPr>
          <a:xfrm>
            <a:off x="484632" y="749808"/>
            <a:ext cx="10607040" cy="566928"/>
          </a:xfrm>
          <a:prstGeom prst="rect">
            <a:avLst/>
          </a:prstGeom>
          <a:noFill/>
          <a:ln/>
        </p:spPr>
        <p:txBody>
          <a:bodyPr wrap="square" lIns="0" tIns="0" rIns="0" bIns="0" rtlCol="0" anchor="ctr"/>
          <a:lstStyle/>
          <a:p>
            <a:pPr indent="0" marL="0">
              <a:buNone/>
            </a:pPr>
            <a:r>
              <a:rPr lang="en-US" sz="3000" b="1" dirty="0">
                <a:solidFill>
                  <a:srgbClr val="1B2D8A"/>
                </a:solidFill>
                <a:latin typeface="Arial" pitchFamily="34" charset="0"/>
                <a:ea typeface="Arial" pitchFamily="34" charset="-122"/>
                <a:cs typeface="Arial" pitchFamily="34" charset="-120"/>
              </a:rPr>
              <a:t>Each bus already leans to an audience</a:t>
            </a:r>
            <a:endParaRPr lang="en-US" sz="3000" dirty="0"/>
          </a:p>
        </p:txBody>
      </p:sp>
      <p:sp>
        <p:nvSpPr>
          <p:cNvPr id="5" name="Text 3"/>
          <p:cNvSpPr/>
          <p:nvPr/>
        </p:nvSpPr>
        <p:spPr>
          <a:xfrm>
            <a:off x="484632" y="1316736"/>
            <a:ext cx="10424160" cy="365760"/>
          </a:xfrm>
          <a:prstGeom prst="rect">
            <a:avLst/>
          </a:prstGeom>
          <a:noFill/>
          <a:ln/>
        </p:spPr>
        <p:txBody>
          <a:bodyPr wrap="square" lIns="0" tIns="0" rIns="0" bIns="0" rtlCol="0" anchor="t"/>
          <a:lstStyle/>
          <a:p>
            <a:pPr indent="0" marL="0">
              <a:buNone/>
            </a:pPr>
            <a:r>
              <a:rPr lang="en-US" sz="1250" dirty="0">
                <a:solidFill>
                  <a:srgbClr val="5A6484"/>
                </a:solidFill>
                <a:latin typeface="Arial" pitchFamily="34" charset="0"/>
                <a:ea typeface="Arial" pitchFamily="34" charset="-122"/>
                <a:cs typeface="Arial" pitchFamily="34" charset="-120"/>
              </a:rPr>
              <a:t>One audience per vehicle, assigned to the bus that carries the largest share of it — so all five are briefed.</a:t>
            </a:r>
            <a:endParaRPr lang="en-US" sz="1250" dirty="0"/>
          </a:p>
        </p:txBody>
      </p:sp>
      <p:sp>
        <p:nvSpPr>
          <p:cNvPr id="6" name="Text 4"/>
          <p:cNvSpPr/>
          <p:nvPr/>
        </p:nvSpPr>
        <p:spPr>
          <a:xfrm>
            <a:off x="9464040" y="6428232"/>
            <a:ext cx="2221992" cy="310896"/>
          </a:xfrm>
          <a:prstGeom prst="rect">
            <a:avLst/>
          </a:prstGeom>
          <a:noFill/>
          <a:ln/>
        </p:spPr>
        <p:txBody>
          <a:bodyPr wrap="square" lIns="0" tIns="0" rIns="0" bIns="0" rtlCol="0" anchor="ctr"/>
          <a:lstStyle/>
          <a:p>
            <a:pPr algn="r" indent="0" marL="0">
              <a:buNone/>
            </a:pPr>
            <a:r>
              <a:rPr lang="en-US" sz="1150" b="1" i="1" spc="100" kern="0" dirty="0">
                <a:solidFill>
                  <a:srgbClr val="1B2D8A"/>
                </a:solidFill>
                <a:latin typeface="Arial" pitchFamily="34" charset="0"/>
                <a:ea typeface="Arial" pitchFamily="34" charset="-122"/>
                <a:cs typeface="Arial" pitchFamily="34" charset="-120"/>
              </a:rPr>
              <a:t>MOOVE MEDIA</a:t>
            </a:r>
            <a:endParaRPr lang="en-US" sz="1150" dirty="0"/>
          </a:p>
        </p:txBody>
      </p:sp>
      <p:sp>
        <p:nvSpPr>
          <p:cNvPr id="7" name="Text 5"/>
          <p:cNvSpPr/>
          <p:nvPr/>
        </p:nvSpPr>
        <p:spPr>
          <a:xfrm>
            <a:off x="484632" y="6428232"/>
            <a:ext cx="548640" cy="310896"/>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12</a:t>
            </a:r>
            <a:endParaRPr lang="en-US" sz="1000" dirty="0"/>
          </a:p>
        </p:txBody>
      </p:sp>
      <p:sp>
        <p:nvSpPr>
          <p:cNvPr id="8" name="Shape 6"/>
          <p:cNvSpPr/>
          <p:nvPr/>
        </p:nvSpPr>
        <p:spPr>
          <a:xfrm>
            <a:off x="502920" y="1965960"/>
            <a:ext cx="11183112" cy="731520"/>
          </a:xfrm>
          <a:prstGeom prst="roundRect">
            <a:avLst>
              <a:gd name="adj" fmla="val 11250"/>
            </a:avLst>
          </a:prstGeom>
          <a:solidFill>
            <a:srgbClr val="FFFFFF"/>
          </a:solidFill>
          <a:ln w="12700">
            <a:solidFill>
              <a:srgbClr val="D8DDE9"/>
            </a:solidFill>
            <a:prstDash val="solid"/>
          </a:ln>
        </p:spPr>
      </p:sp>
      <p:sp>
        <p:nvSpPr>
          <p:cNvPr id="9" name="Shape 7"/>
          <p:cNvSpPr/>
          <p:nvPr/>
        </p:nvSpPr>
        <p:spPr>
          <a:xfrm>
            <a:off x="740664" y="2130552"/>
            <a:ext cx="786384" cy="402336"/>
          </a:xfrm>
          <a:prstGeom prst="roundRect">
            <a:avLst>
              <a:gd name="adj" fmla="val 15909"/>
            </a:avLst>
          </a:prstGeom>
          <a:solidFill>
            <a:srgbClr val="FFFFFF"/>
          </a:solidFill>
          <a:ln w="15875">
            <a:solidFill>
              <a:srgbClr val="F0245E"/>
            </a:solidFill>
            <a:prstDash val="solid"/>
          </a:ln>
        </p:spPr>
      </p:sp>
      <p:sp>
        <p:nvSpPr>
          <p:cNvPr id="10" name="Text 8"/>
          <p:cNvSpPr/>
          <p:nvPr/>
        </p:nvSpPr>
        <p:spPr>
          <a:xfrm>
            <a:off x="740664" y="2130552"/>
            <a:ext cx="786384" cy="402336"/>
          </a:xfrm>
          <a:prstGeom prst="rect">
            <a:avLst/>
          </a:prstGeom>
          <a:noFill/>
          <a:ln/>
        </p:spPr>
        <p:txBody>
          <a:bodyPr wrap="square" lIns="0" tIns="0" rIns="0" bIns="0" rtlCol="0" anchor="ctr"/>
          <a:lstStyle/>
          <a:p>
            <a:pPr algn="ctr" indent="0" marL="0">
              <a:buNone/>
            </a:pPr>
            <a:r>
              <a:rPr lang="en-US" sz="1500" b="1" dirty="0">
                <a:solidFill>
                  <a:srgbClr val="F0245E"/>
                </a:solidFill>
                <a:latin typeface="Arial" pitchFamily="34" charset="0"/>
                <a:ea typeface="Arial" pitchFamily="34" charset="-122"/>
                <a:cs typeface="Arial" pitchFamily="34" charset="-120"/>
              </a:rPr>
              <a:t>972</a:t>
            </a:r>
            <a:endParaRPr lang="en-US" sz="1500" dirty="0"/>
          </a:p>
        </p:txBody>
      </p:sp>
      <p:sp>
        <p:nvSpPr>
          <p:cNvPr id="11" name="Text 9"/>
          <p:cNvSpPr/>
          <p:nvPr/>
        </p:nvSpPr>
        <p:spPr>
          <a:xfrm>
            <a:off x="1655064" y="2039112"/>
            <a:ext cx="3931920" cy="274320"/>
          </a:xfrm>
          <a:prstGeom prst="rect">
            <a:avLst/>
          </a:prstGeom>
          <a:noFill/>
          <a:ln/>
        </p:spPr>
        <p:txBody>
          <a:bodyPr wrap="square" lIns="0" tIns="0" rIns="0" bIns="0" rtlCol="0" anchor="ctr"/>
          <a:lstStyle/>
          <a:p>
            <a:pPr indent="0" marL="0">
              <a:buNone/>
            </a:pPr>
            <a:r>
              <a:rPr lang="en-US" sz="1050" dirty="0">
                <a:solidFill>
                  <a:srgbClr val="5A6484"/>
                </a:solidFill>
                <a:latin typeface="Arial" pitchFamily="34" charset="0"/>
                <a:ea typeface="Arial" pitchFamily="34" charset="-122"/>
                <a:cs typeface="Arial" pitchFamily="34" charset="-120"/>
              </a:rPr>
              <a:t>Bt Panjang Int ⟲ YMCA</a:t>
            </a:r>
            <a:endParaRPr lang="en-US" sz="1050" dirty="0"/>
          </a:p>
        </p:txBody>
      </p:sp>
      <p:sp>
        <p:nvSpPr>
          <p:cNvPr id="12" name="Text 10"/>
          <p:cNvSpPr/>
          <p:nvPr/>
        </p:nvSpPr>
        <p:spPr>
          <a:xfrm>
            <a:off x="1655064" y="2331720"/>
            <a:ext cx="2194560" cy="292608"/>
          </a:xfrm>
          <a:prstGeom prst="rect">
            <a:avLst/>
          </a:prstGeom>
          <a:noFill/>
          <a:ln/>
        </p:spPr>
        <p:txBody>
          <a:bodyPr wrap="square" lIns="0" tIns="0" rIns="0" bIns="0" rtlCol="0" anchor="ctr"/>
          <a:lstStyle/>
          <a:p>
            <a:pPr indent="0" marL="0">
              <a:buNone/>
            </a:pPr>
            <a:r>
              <a:rPr lang="en-US" sz="1250" b="1" dirty="0">
                <a:solidFill>
                  <a:srgbClr val="F0245E"/>
                </a:solidFill>
                <a:latin typeface="Arial" pitchFamily="34" charset="0"/>
                <a:ea typeface="Arial" pitchFamily="34" charset="-122"/>
                <a:cs typeface="Arial" pitchFamily="34" charset="-120"/>
              </a:rPr>
              <a:t>Working adults</a:t>
            </a:r>
            <a:endParaRPr lang="en-US" sz="1250" dirty="0"/>
          </a:p>
        </p:txBody>
      </p:sp>
      <p:sp>
        <p:nvSpPr>
          <p:cNvPr id="13" name="Text 11"/>
          <p:cNvSpPr/>
          <p:nvPr/>
        </p:nvSpPr>
        <p:spPr>
          <a:xfrm>
            <a:off x="3886200" y="2331720"/>
            <a:ext cx="2834640" cy="292608"/>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49 places · 26% of the package</a:t>
            </a:r>
            <a:endParaRPr lang="en-US" sz="1000" dirty="0"/>
          </a:p>
        </p:txBody>
      </p:sp>
      <p:sp>
        <p:nvSpPr>
          <p:cNvPr id="14" name="Shape 12"/>
          <p:cNvSpPr/>
          <p:nvPr/>
        </p:nvSpPr>
        <p:spPr>
          <a:xfrm>
            <a:off x="6858000" y="2339035"/>
            <a:ext cx="384048" cy="138989"/>
          </a:xfrm>
          <a:prstGeom prst="rect">
            <a:avLst/>
          </a:prstGeom>
          <a:solidFill>
            <a:srgbClr val="1B2D8A"/>
          </a:solidFill>
          <a:ln/>
        </p:spPr>
      </p:sp>
      <p:sp>
        <p:nvSpPr>
          <p:cNvPr id="15" name="Text 13"/>
          <p:cNvSpPr/>
          <p:nvPr/>
        </p:nvSpPr>
        <p:spPr>
          <a:xfrm>
            <a:off x="6775704" y="2487168"/>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19</a:t>
            </a:r>
            <a:endParaRPr lang="en-US" sz="800" dirty="0"/>
          </a:p>
        </p:txBody>
      </p:sp>
      <p:sp>
        <p:nvSpPr>
          <p:cNvPr id="16" name="Text 14"/>
          <p:cNvSpPr/>
          <p:nvPr/>
        </p:nvSpPr>
        <p:spPr>
          <a:xfrm>
            <a:off x="6775704" y="1975104"/>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Chld</a:t>
            </a:r>
            <a:endParaRPr lang="en-US" sz="700" dirty="0"/>
          </a:p>
        </p:txBody>
      </p:sp>
      <p:sp>
        <p:nvSpPr>
          <p:cNvPr id="17" name="Shape 15"/>
          <p:cNvSpPr/>
          <p:nvPr/>
        </p:nvSpPr>
        <p:spPr>
          <a:xfrm>
            <a:off x="7424928" y="2432304"/>
            <a:ext cx="384048" cy="45720"/>
          </a:xfrm>
          <a:prstGeom prst="rect">
            <a:avLst/>
          </a:prstGeom>
          <a:solidFill>
            <a:srgbClr val="1B2D8A"/>
          </a:solidFill>
          <a:ln/>
        </p:spPr>
      </p:sp>
      <p:sp>
        <p:nvSpPr>
          <p:cNvPr id="18" name="Text 16"/>
          <p:cNvSpPr/>
          <p:nvPr/>
        </p:nvSpPr>
        <p:spPr>
          <a:xfrm>
            <a:off x="7342632" y="2487168"/>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5</a:t>
            </a:r>
            <a:endParaRPr lang="en-US" sz="800" dirty="0"/>
          </a:p>
        </p:txBody>
      </p:sp>
      <p:sp>
        <p:nvSpPr>
          <p:cNvPr id="19" name="Text 17"/>
          <p:cNvSpPr/>
          <p:nvPr/>
        </p:nvSpPr>
        <p:spPr>
          <a:xfrm>
            <a:off x="7342632" y="1975104"/>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Snr</a:t>
            </a:r>
            <a:endParaRPr lang="en-US" sz="700" dirty="0"/>
          </a:p>
        </p:txBody>
      </p:sp>
      <p:sp>
        <p:nvSpPr>
          <p:cNvPr id="20" name="Shape 18"/>
          <p:cNvSpPr/>
          <p:nvPr/>
        </p:nvSpPr>
        <p:spPr>
          <a:xfrm>
            <a:off x="7991856" y="2119579"/>
            <a:ext cx="384048" cy="358445"/>
          </a:xfrm>
          <a:prstGeom prst="rect">
            <a:avLst/>
          </a:prstGeom>
          <a:solidFill>
            <a:srgbClr val="F0245E"/>
          </a:solidFill>
          <a:ln/>
        </p:spPr>
      </p:sp>
      <p:sp>
        <p:nvSpPr>
          <p:cNvPr id="21" name="Text 19"/>
          <p:cNvSpPr/>
          <p:nvPr/>
        </p:nvSpPr>
        <p:spPr>
          <a:xfrm>
            <a:off x="7909560" y="2487168"/>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49</a:t>
            </a:r>
            <a:endParaRPr lang="en-US" sz="800" dirty="0"/>
          </a:p>
        </p:txBody>
      </p:sp>
      <p:sp>
        <p:nvSpPr>
          <p:cNvPr id="22" name="Text 20"/>
          <p:cNvSpPr/>
          <p:nvPr/>
        </p:nvSpPr>
        <p:spPr>
          <a:xfrm>
            <a:off x="7909560" y="1975104"/>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Wrk</a:t>
            </a:r>
            <a:endParaRPr lang="en-US" sz="700" dirty="0"/>
          </a:p>
        </p:txBody>
      </p:sp>
      <p:sp>
        <p:nvSpPr>
          <p:cNvPr id="23" name="Shape 21"/>
          <p:cNvSpPr/>
          <p:nvPr/>
        </p:nvSpPr>
        <p:spPr>
          <a:xfrm>
            <a:off x="8558784" y="2375611"/>
            <a:ext cx="384048" cy="102413"/>
          </a:xfrm>
          <a:prstGeom prst="rect">
            <a:avLst/>
          </a:prstGeom>
          <a:solidFill>
            <a:srgbClr val="1B2D8A"/>
          </a:solidFill>
          <a:ln/>
        </p:spPr>
      </p:sp>
      <p:sp>
        <p:nvSpPr>
          <p:cNvPr id="24" name="Text 22"/>
          <p:cNvSpPr/>
          <p:nvPr/>
        </p:nvSpPr>
        <p:spPr>
          <a:xfrm>
            <a:off x="8476488" y="2487168"/>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14</a:t>
            </a:r>
            <a:endParaRPr lang="en-US" sz="800" dirty="0"/>
          </a:p>
        </p:txBody>
      </p:sp>
      <p:sp>
        <p:nvSpPr>
          <p:cNvPr id="25" name="Text 23"/>
          <p:cNvSpPr/>
          <p:nvPr/>
        </p:nvSpPr>
        <p:spPr>
          <a:xfrm>
            <a:off x="8476488" y="1975104"/>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Yth</a:t>
            </a:r>
            <a:endParaRPr lang="en-US" sz="700" dirty="0"/>
          </a:p>
        </p:txBody>
      </p:sp>
      <p:sp>
        <p:nvSpPr>
          <p:cNvPr id="26" name="Shape 24"/>
          <p:cNvSpPr/>
          <p:nvPr/>
        </p:nvSpPr>
        <p:spPr>
          <a:xfrm>
            <a:off x="9125712" y="2404872"/>
            <a:ext cx="384048" cy="73152"/>
          </a:xfrm>
          <a:prstGeom prst="rect">
            <a:avLst/>
          </a:prstGeom>
          <a:solidFill>
            <a:srgbClr val="1B2D8A"/>
          </a:solidFill>
          <a:ln/>
        </p:spPr>
      </p:sp>
      <p:sp>
        <p:nvSpPr>
          <p:cNvPr id="27" name="Text 25"/>
          <p:cNvSpPr/>
          <p:nvPr/>
        </p:nvSpPr>
        <p:spPr>
          <a:xfrm>
            <a:off x="9043416" y="2487168"/>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10</a:t>
            </a:r>
            <a:endParaRPr lang="en-US" sz="800" dirty="0"/>
          </a:p>
        </p:txBody>
      </p:sp>
      <p:sp>
        <p:nvSpPr>
          <p:cNvPr id="28" name="Text 26"/>
          <p:cNvSpPr/>
          <p:nvPr/>
        </p:nvSpPr>
        <p:spPr>
          <a:xfrm>
            <a:off x="9043416" y="1975104"/>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Sand</a:t>
            </a:r>
            <a:endParaRPr lang="en-US" sz="700" dirty="0"/>
          </a:p>
        </p:txBody>
      </p:sp>
      <p:sp>
        <p:nvSpPr>
          <p:cNvPr id="29" name="Text 27"/>
          <p:cNvSpPr/>
          <p:nvPr/>
        </p:nvSpPr>
        <p:spPr>
          <a:xfrm>
            <a:off x="10378440" y="2176272"/>
            <a:ext cx="1234440" cy="310896"/>
          </a:xfrm>
          <a:prstGeom prst="rect">
            <a:avLst/>
          </a:prstGeom>
          <a:noFill/>
          <a:ln/>
        </p:spPr>
        <p:txBody>
          <a:bodyPr wrap="square" lIns="0" tIns="0" rIns="0" bIns="0" rtlCol="0" anchor="ctr"/>
          <a:lstStyle/>
          <a:p>
            <a:pPr algn="r" indent="0" marL="0">
              <a:buNone/>
            </a:pPr>
            <a:r>
              <a:rPr lang="en-US" sz="1050" b="1" dirty="0">
                <a:solidFill>
                  <a:srgbClr val="14204A"/>
                </a:solidFill>
                <a:latin typeface="Arial" pitchFamily="34" charset="0"/>
                <a:ea typeface="Arial" pitchFamily="34" charset="-122"/>
                <a:cs typeface="Arial" pitchFamily="34" charset="-120"/>
              </a:rPr>
              <a:t>55 stops</a:t>
            </a:r>
            <a:endParaRPr lang="en-US" sz="1050" dirty="0"/>
          </a:p>
        </p:txBody>
      </p:sp>
      <p:sp>
        <p:nvSpPr>
          <p:cNvPr id="30" name="Shape 28"/>
          <p:cNvSpPr/>
          <p:nvPr/>
        </p:nvSpPr>
        <p:spPr>
          <a:xfrm>
            <a:off x="502920" y="2770632"/>
            <a:ext cx="11183112" cy="731520"/>
          </a:xfrm>
          <a:prstGeom prst="roundRect">
            <a:avLst>
              <a:gd name="adj" fmla="val 11250"/>
            </a:avLst>
          </a:prstGeom>
          <a:solidFill>
            <a:srgbClr val="FFFFFF"/>
          </a:solidFill>
          <a:ln w="12700">
            <a:solidFill>
              <a:srgbClr val="D8DDE9"/>
            </a:solidFill>
            <a:prstDash val="solid"/>
          </a:ln>
        </p:spPr>
      </p:sp>
      <p:sp>
        <p:nvSpPr>
          <p:cNvPr id="31" name="Shape 29"/>
          <p:cNvSpPr/>
          <p:nvPr/>
        </p:nvSpPr>
        <p:spPr>
          <a:xfrm>
            <a:off x="740664" y="2935224"/>
            <a:ext cx="786384" cy="402336"/>
          </a:xfrm>
          <a:prstGeom prst="roundRect">
            <a:avLst>
              <a:gd name="adj" fmla="val 15909"/>
            </a:avLst>
          </a:prstGeom>
          <a:solidFill>
            <a:srgbClr val="FFFFFF"/>
          </a:solidFill>
          <a:ln w="15875">
            <a:solidFill>
              <a:srgbClr val="F0245E"/>
            </a:solidFill>
            <a:prstDash val="solid"/>
          </a:ln>
        </p:spPr>
      </p:sp>
      <p:sp>
        <p:nvSpPr>
          <p:cNvPr id="32" name="Text 30"/>
          <p:cNvSpPr/>
          <p:nvPr/>
        </p:nvSpPr>
        <p:spPr>
          <a:xfrm>
            <a:off x="740664" y="2935224"/>
            <a:ext cx="786384" cy="402336"/>
          </a:xfrm>
          <a:prstGeom prst="rect">
            <a:avLst/>
          </a:prstGeom>
          <a:noFill/>
          <a:ln/>
        </p:spPr>
        <p:txBody>
          <a:bodyPr wrap="square" lIns="0" tIns="0" rIns="0" bIns="0" rtlCol="0" anchor="ctr"/>
          <a:lstStyle/>
          <a:p>
            <a:pPr algn="ctr" indent="0" marL="0">
              <a:buNone/>
            </a:pPr>
            <a:r>
              <a:rPr lang="en-US" sz="1500" b="1" dirty="0">
                <a:solidFill>
                  <a:srgbClr val="F0245E"/>
                </a:solidFill>
                <a:latin typeface="Arial" pitchFamily="34" charset="0"/>
                <a:ea typeface="Arial" pitchFamily="34" charset="-122"/>
                <a:cs typeface="Arial" pitchFamily="34" charset="-120"/>
              </a:rPr>
              <a:t>97</a:t>
            </a:r>
            <a:endParaRPr lang="en-US" sz="1500" dirty="0"/>
          </a:p>
        </p:txBody>
      </p:sp>
      <p:sp>
        <p:nvSpPr>
          <p:cNvPr id="33" name="Text 31"/>
          <p:cNvSpPr/>
          <p:nvPr/>
        </p:nvSpPr>
        <p:spPr>
          <a:xfrm>
            <a:off x="1655064" y="2843784"/>
            <a:ext cx="3931920" cy="274320"/>
          </a:xfrm>
          <a:prstGeom prst="rect">
            <a:avLst/>
          </a:prstGeom>
          <a:noFill/>
          <a:ln/>
        </p:spPr>
        <p:txBody>
          <a:bodyPr wrap="square" lIns="0" tIns="0" rIns="0" bIns="0" rtlCol="0" anchor="ctr"/>
          <a:lstStyle/>
          <a:p>
            <a:pPr indent="0" marL="0">
              <a:buNone/>
            </a:pPr>
            <a:r>
              <a:rPr lang="en-US" sz="1050" dirty="0">
                <a:solidFill>
                  <a:srgbClr val="5A6484"/>
                </a:solidFill>
                <a:latin typeface="Arial" pitchFamily="34" charset="0"/>
                <a:ea typeface="Arial" pitchFamily="34" charset="-122"/>
                <a:cs typeface="Arial" pitchFamily="34" charset="-120"/>
              </a:rPr>
              <a:t>Tengah Int ⇄ Promenade Stn/Pan Pacific / Aft S'pore Flyer</a:t>
            </a:r>
            <a:endParaRPr lang="en-US" sz="1050" dirty="0"/>
          </a:p>
        </p:txBody>
      </p:sp>
      <p:sp>
        <p:nvSpPr>
          <p:cNvPr id="34" name="Text 32"/>
          <p:cNvSpPr/>
          <p:nvPr/>
        </p:nvSpPr>
        <p:spPr>
          <a:xfrm>
            <a:off x="1655064" y="3136392"/>
            <a:ext cx="2194560" cy="292608"/>
          </a:xfrm>
          <a:prstGeom prst="rect">
            <a:avLst/>
          </a:prstGeom>
          <a:noFill/>
          <a:ln/>
        </p:spPr>
        <p:txBody>
          <a:bodyPr wrap="square" lIns="0" tIns="0" rIns="0" bIns="0" rtlCol="0" anchor="ctr"/>
          <a:lstStyle/>
          <a:p>
            <a:pPr indent="0" marL="0">
              <a:buNone/>
            </a:pPr>
            <a:r>
              <a:rPr lang="en-US" sz="1250" b="1" dirty="0">
                <a:solidFill>
                  <a:srgbClr val="F0245E"/>
                </a:solidFill>
                <a:latin typeface="Arial" pitchFamily="34" charset="0"/>
                <a:ea typeface="Arial" pitchFamily="34" charset="-122"/>
                <a:cs typeface="Arial" pitchFamily="34" charset="-120"/>
              </a:rPr>
              <a:t>Youth</a:t>
            </a:r>
            <a:endParaRPr lang="en-US" sz="1250" dirty="0"/>
          </a:p>
        </p:txBody>
      </p:sp>
      <p:sp>
        <p:nvSpPr>
          <p:cNvPr id="35" name="Text 33"/>
          <p:cNvSpPr/>
          <p:nvPr/>
        </p:nvSpPr>
        <p:spPr>
          <a:xfrm>
            <a:off x="3886200" y="3136392"/>
            <a:ext cx="2834640" cy="292608"/>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16 places · 17% of the package</a:t>
            </a:r>
            <a:endParaRPr lang="en-US" sz="1000" dirty="0"/>
          </a:p>
        </p:txBody>
      </p:sp>
      <p:sp>
        <p:nvSpPr>
          <p:cNvPr id="36" name="Shape 34"/>
          <p:cNvSpPr/>
          <p:nvPr/>
        </p:nvSpPr>
        <p:spPr>
          <a:xfrm>
            <a:off x="6858000" y="3151022"/>
            <a:ext cx="384048" cy="131674"/>
          </a:xfrm>
          <a:prstGeom prst="rect">
            <a:avLst/>
          </a:prstGeom>
          <a:solidFill>
            <a:srgbClr val="1B2D8A"/>
          </a:solidFill>
          <a:ln/>
        </p:spPr>
      </p:sp>
      <p:sp>
        <p:nvSpPr>
          <p:cNvPr id="37" name="Text 35"/>
          <p:cNvSpPr/>
          <p:nvPr/>
        </p:nvSpPr>
        <p:spPr>
          <a:xfrm>
            <a:off x="6775704" y="3291840"/>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18</a:t>
            </a:r>
            <a:endParaRPr lang="en-US" sz="800" dirty="0"/>
          </a:p>
        </p:txBody>
      </p:sp>
      <p:sp>
        <p:nvSpPr>
          <p:cNvPr id="38" name="Text 36"/>
          <p:cNvSpPr/>
          <p:nvPr/>
        </p:nvSpPr>
        <p:spPr>
          <a:xfrm>
            <a:off x="6775704" y="2779776"/>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Chld</a:t>
            </a:r>
            <a:endParaRPr lang="en-US" sz="700" dirty="0"/>
          </a:p>
        </p:txBody>
      </p:sp>
      <p:sp>
        <p:nvSpPr>
          <p:cNvPr id="39" name="Shape 37"/>
          <p:cNvSpPr/>
          <p:nvPr/>
        </p:nvSpPr>
        <p:spPr>
          <a:xfrm>
            <a:off x="7424928" y="3202229"/>
            <a:ext cx="384048" cy="80467"/>
          </a:xfrm>
          <a:prstGeom prst="rect">
            <a:avLst/>
          </a:prstGeom>
          <a:solidFill>
            <a:srgbClr val="1B2D8A"/>
          </a:solidFill>
          <a:ln/>
        </p:spPr>
      </p:sp>
      <p:sp>
        <p:nvSpPr>
          <p:cNvPr id="40" name="Text 38"/>
          <p:cNvSpPr/>
          <p:nvPr/>
        </p:nvSpPr>
        <p:spPr>
          <a:xfrm>
            <a:off x="7342632" y="3291840"/>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11</a:t>
            </a:r>
            <a:endParaRPr lang="en-US" sz="800" dirty="0"/>
          </a:p>
        </p:txBody>
      </p:sp>
      <p:sp>
        <p:nvSpPr>
          <p:cNvPr id="41" name="Text 39"/>
          <p:cNvSpPr/>
          <p:nvPr/>
        </p:nvSpPr>
        <p:spPr>
          <a:xfrm>
            <a:off x="7342632" y="2779776"/>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Snr</a:t>
            </a:r>
            <a:endParaRPr lang="en-US" sz="700" dirty="0"/>
          </a:p>
        </p:txBody>
      </p:sp>
      <p:sp>
        <p:nvSpPr>
          <p:cNvPr id="42" name="Shape 40"/>
          <p:cNvSpPr/>
          <p:nvPr/>
        </p:nvSpPr>
        <p:spPr>
          <a:xfrm>
            <a:off x="7991856" y="2953512"/>
            <a:ext cx="384048" cy="329184"/>
          </a:xfrm>
          <a:prstGeom prst="rect">
            <a:avLst/>
          </a:prstGeom>
          <a:solidFill>
            <a:srgbClr val="1B2D8A"/>
          </a:solidFill>
          <a:ln/>
        </p:spPr>
      </p:sp>
      <p:sp>
        <p:nvSpPr>
          <p:cNvPr id="43" name="Text 41"/>
          <p:cNvSpPr/>
          <p:nvPr/>
        </p:nvSpPr>
        <p:spPr>
          <a:xfrm>
            <a:off x="7909560" y="3291840"/>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45</a:t>
            </a:r>
            <a:endParaRPr lang="en-US" sz="800" dirty="0"/>
          </a:p>
        </p:txBody>
      </p:sp>
      <p:sp>
        <p:nvSpPr>
          <p:cNvPr id="44" name="Text 42"/>
          <p:cNvSpPr/>
          <p:nvPr/>
        </p:nvSpPr>
        <p:spPr>
          <a:xfrm>
            <a:off x="7909560" y="2779776"/>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Wrk</a:t>
            </a:r>
            <a:endParaRPr lang="en-US" sz="700" dirty="0"/>
          </a:p>
        </p:txBody>
      </p:sp>
      <p:sp>
        <p:nvSpPr>
          <p:cNvPr id="45" name="Shape 43"/>
          <p:cNvSpPr/>
          <p:nvPr/>
        </p:nvSpPr>
        <p:spPr>
          <a:xfrm>
            <a:off x="8558784" y="3165653"/>
            <a:ext cx="384048" cy="117043"/>
          </a:xfrm>
          <a:prstGeom prst="rect">
            <a:avLst/>
          </a:prstGeom>
          <a:solidFill>
            <a:srgbClr val="F0245E"/>
          </a:solidFill>
          <a:ln/>
        </p:spPr>
      </p:sp>
      <p:sp>
        <p:nvSpPr>
          <p:cNvPr id="46" name="Text 44"/>
          <p:cNvSpPr/>
          <p:nvPr/>
        </p:nvSpPr>
        <p:spPr>
          <a:xfrm>
            <a:off x="8476488" y="3291840"/>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16</a:t>
            </a:r>
            <a:endParaRPr lang="en-US" sz="800" dirty="0"/>
          </a:p>
        </p:txBody>
      </p:sp>
      <p:sp>
        <p:nvSpPr>
          <p:cNvPr id="47" name="Text 45"/>
          <p:cNvSpPr/>
          <p:nvPr/>
        </p:nvSpPr>
        <p:spPr>
          <a:xfrm>
            <a:off x="8476488" y="2779776"/>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Yth</a:t>
            </a:r>
            <a:endParaRPr lang="en-US" sz="700" dirty="0"/>
          </a:p>
        </p:txBody>
      </p:sp>
      <p:sp>
        <p:nvSpPr>
          <p:cNvPr id="48" name="Shape 46"/>
          <p:cNvSpPr/>
          <p:nvPr/>
        </p:nvSpPr>
        <p:spPr>
          <a:xfrm>
            <a:off x="9125712" y="3158338"/>
            <a:ext cx="384048" cy="124358"/>
          </a:xfrm>
          <a:prstGeom prst="rect">
            <a:avLst/>
          </a:prstGeom>
          <a:solidFill>
            <a:srgbClr val="1B2D8A"/>
          </a:solidFill>
          <a:ln/>
        </p:spPr>
      </p:sp>
      <p:sp>
        <p:nvSpPr>
          <p:cNvPr id="49" name="Text 47"/>
          <p:cNvSpPr/>
          <p:nvPr/>
        </p:nvSpPr>
        <p:spPr>
          <a:xfrm>
            <a:off x="9043416" y="3291840"/>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17</a:t>
            </a:r>
            <a:endParaRPr lang="en-US" sz="800" dirty="0"/>
          </a:p>
        </p:txBody>
      </p:sp>
      <p:sp>
        <p:nvSpPr>
          <p:cNvPr id="50" name="Text 48"/>
          <p:cNvSpPr/>
          <p:nvPr/>
        </p:nvSpPr>
        <p:spPr>
          <a:xfrm>
            <a:off x="9043416" y="2779776"/>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Sand</a:t>
            </a:r>
            <a:endParaRPr lang="en-US" sz="700" dirty="0"/>
          </a:p>
        </p:txBody>
      </p:sp>
      <p:sp>
        <p:nvSpPr>
          <p:cNvPr id="51" name="Text 49"/>
          <p:cNvSpPr/>
          <p:nvPr/>
        </p:nvSpPr>
        <p:spPr>
          <a:xfrm>
            <a:off x="10378440" y="2980944"/>
            <a:ext cx="1234440" cy="310896"/>
          </a:xfrm>
          <a:prstGeom prst="rect">
            <a:avLst/>
          </a:prstGeom>
          <a:noFill/>
          <a:ln/>
        </p:spPr>
        <p:txBody>
          <a:bodyPr wrap="square" lIns="0" tIns="0" rIns="0" bIns="0" rtlCol="0" anchor="ctr"/>
          <a:lstStyle/>
          <a:p>
            <a:pPr algn="r" indent="0" marL="0">
              <a:buNone/>
            </a:pPr>
            <a:r>
              <a:rPr lang="en-US" sz="1050" b="1" dirty="0">
                <a:solidFill>
                  <a:srgbClr val="14204A"/>
                </a:solidFill>
                <a:latin typeface="Arial" pitchFamily="34" charset="0"/>
                <a:ea typeface="Arial" pitchFamily="34" charset="-122"/>
                <a:cs typeface="Arial" pitchFamily="34" charset="-120"/>
              </a:rPr>
              <a:t>102 stops</a:t>
            </a:r>
            <a:endParaRPr lang="en-US" sz="1050" dirty="0"/>
          </a:p>
        </p:txBody>
      </p:sp>
      <p:sp>
        <p:nvSpPr>
          <p:cNvPr id="52" name="Shape 50"/>
          <p:cNvSpPr/>
          <p:nvPr/>
        </p:nvSpPr>
        <p:spPr>
          <a:xfrm>
            <a:off x="502920" y="3575304"/>
            <a:ext cx="11183112" cy="731520"/>
          </a:xfrm>
          <a:prstGeom prst="roundRect">
            <a:avLst>
              <a:gd name="adj" fmla="val 11250"/>
            </a:avLst>
          </a:prstGeom>
          <a:solidFill>
            <a:srgbClr val="FFFFFF"/>
          </a:solidFill>
          <a:ln w="12700">
            <a:solidFill>
              <a:srgbClr val="D8DDE9"/>
            </a:solidFill>
            <a:prstDash val="solid"/>
          </a:ln>
        </p:spPr>
      </p:sp>
      <p:sp>
        <p:nvSpPr>
          <p:cNvPr id="53" name="Shape 51"/>
          <p:cNvSpPr/>
          <p:nvPr/>
        </p:nvSpPr>
        <p:spPr>
          <a:xfrm>
            <a:off x="740664" y="3739896"/>
            <a:ext cx="786384" cy="402336"/>
          </a:xfrm>
          <a:prstGeom prst="roundRect">
            <a:avLst>
              <a:gd name="adj" fmla="val 15909"/>
            </a:avLst>
          </a:prstGeom>
          <a:solidFill>
            <a:srgbClr val="FFFFFF"/>
          </a:solidFill>
          <a:ln w="15875">
            <a:solidFill>
              <a:srgbClr val="F0245E"/>
            </a:solidFill>
            <a:prstDash val="solid"/>
          </a:ln>
        </p:spPr>
      </p:sp>
      <p:sp>
        <p:nvSpPr>
          <p:cNvPr id="54" name="Text 52"/>
          <p:cNvSpPr/>
          <p:nvPr/>
        </p:nvSpPr>
        <p:spPr>
          <a:xfrm>
            <a:off x="740664" y="3739896"/>
            <a:ext cx="786384" cy="402336"/>
          </a:xfrm>
          <a:prstGeom prst="rect">
            <a:avLst/>
          </a:prstGeom>
          <a:noFill/>
          <a:ln/>
        </p:spPr>
        <p:txBody>
          <a:bodyPr wrap="square" lIns="0" tIns="0" rIns="0" bIns="0" rtlCol="0" anchor="ctr"/>
          <a:lstStyle/>
          <a:p>
            <a:pPr algn="ctr" indent="0" marL="0">
              <a:buNone/>
            </a:pPr>
            <a:r>
              <a:rPr lang="en-US" sz="1500" b="1" dirty="0">
                <a:solidFill>
                  <a:srgbClr val="F0245E"/>
                </a:solidFill>
                <a:latin typeface="Arial" pitchFamily="34" charset="0"/>
                <a:ea typeface="Arial" pitchFamily="34" charset="-122"/>
                <a:cs typeface="Arial" pitchFamily="34" charset="-120"/>
              </a:rPr>
              <a:t>130</a:t>
            </a:r>
            <a:endParaRPr lang="en-US" sz="1500" dirty="0"/>
          </a:p>
        </p:txBody>
      </p:sp>
      <p:sp>
        <p:nvSpPr>
          <p:cNvPr id="55" name="Text 53"/>
          <p:cNvSpPr/>
          <p:nvPr/>
        </p:nvSpPr>
        <p:spPr>
          <a:xfrm>
            <a:off x="1655064" y="3648456"/>
            <a:ext cx="3931920" cy="274320"/>
          </a:xfrm>
          <a:prstGeom prst="rect">
            <a:avLst/>
          </a:prstGeom>
          <a:noFill/>
          <a:ln/>
        </p:spPr>
        <p:txBody>
          <a:bodyPr wrap="square" lIns="0" tIns="0" rIns="0" bIns="0" rtlCol="0" anchor="ctr"/>
          <a:lstStyle/>
          <a:p>
            <a:pPr indent="0" marL="0">
              <a:buNone/>
            </a:pPr>
            <a:r>
              <a:rPr lang="en-US" sz="1050" dirty="0">
                <a:solidFill>
                  <a:srgbClr val="5A6484"/>
                </a:solidFill>
                <a:latin typeface="Arial" pitchFamily="34" charset="0"/>
                <a:ea typeface="Arial" pitchFamily="34" charset="-122"/>
                <a:cs typeface="Arial" pitchFamily="34" charset="-120"/>
              </a:rPr>
              <a:t>Ang Mo Kio Int ⇄ Shenton Way Ter</a:t>
            </a:r>
            <a:endParaRPr lang="en-US" sz="1050" dirty="0"/>
          </a:p>
        </p:txBody>
      </p:sp>
      <p:sp>
        <p:nvSpPr>
          <p:cNvPr id="56" name="Text 54"/>
          <p:cNvSpPr/>
          <p:nvPr/>
        </p:nvSpPr>
        <p:spPr>
          <a:xfrm>
            <a:off x="1655064" y="3941064"/>
            <a:ext cx="2194560" cy="292608"/>
          </a:xfrm>
          <a:prstGeom prst="rect">
            <a:avLst/>
          </a:prstGeom>
          <a:noFill/>
          <a:ln/>
        </p:spPr>
        <p:txBody>
          <a:bodyPr wrap="square" lIns="0" tIns="0" rIns="0" bIns="0" rtlCol="0" anchor="ctr"/>
          <a:lstStyle/>
          <a:p>
            <a:pPr indent="0" marL="0">
              <a:buNone/>
            </a:pPr>
            <a:r>
              <a:rPr lang="en-US" sz="1250" b="1" dirty="0">
                <a:solidFill>
                  <a:srgbClr val="F0245E"/>
                </a:solidFill>
                <a:latin typeface="Arial" pitchFamily="34" charset="0"/>
                <a:ea typeface="Arial" pitchFamily="34" charset="-122"/>
                <a:cs typeface="Arial" pitchFamily="34" charset="-120"/>
              </a:rPr>
              <a:t>Seniors</a:t>
            </a:r>
            <a:endParaRPr lang="en-US" sz="1250" dirty="0"/>
          </a:p>
        </p:txBody>
      </p:sp>
      <p:sp>
        <p:nvSpPr>
          <p:cNvPr id="57" name="Text 55"/>
          <p:cNvSpPr/>
          <p:nvPr/>
        </p:nvSpPr>
        <p:spPr>
          <a:xfrm>
            <a:off x="3886200" y="3941064"/>
            <a:ext cx="2834640" cy="292608"/>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24 places · 36% of the package</a:t>
            </a:r>
            <a:endParaRPr lang="en-US" sz="1000" dirty="0"/>
          </a:p>
        </p:txBody>
      </p:sp>
      <p:sp>
        <p:nvSpPr>
          <p:cNvPr id="58" name="Shape 56"/>
          <p:cNvSpPr/>
          <p:nvPr/>
        </p:nvSpPr>
        <p:spPr>
          <a:xfrm>
            <a:off x="6858000" y="4014216"/>
            <a:ext cx="384048" cy="73152"/>
          </a:xfrm>
          <a:prstGeom prst="rect">
            <a:avLst/>
          </a:prstGeom>
          <a:solidFill>
            <a:srgbClr val="1B2D8A"/>
          </a:solidFill>
          <a:ln/>
        </p:spPr>
      </p:sp>
      <p:sp>
        <p:nvSpPr>
          <p:cNvPr id="59" name="Text 57"/>
          <p:cNvSpPr/>
          <p:nvPr/>
        </p:nvSpPr>
        <p:spPr>
          <a:xfrm>
            <a:off x="6775704" y="4096512"/>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10</a:t>
            </a:r>
            <a:endParaRPr lang="en-US" sz="800" dirty="0"/>
          </a:p>
        </p:txBody>
      </p:sp>
      <p:sp>
        <p:nvSpPr>
          <p:cNvPr id="60" name="Text 58"/>
          <p:cNvSpPr/>
          <p:nvPr/>
        </p:nvSpPr>
        <p:spPr>
          <a:xfrm>
            <a:off x="6775704" y="3584448"/>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Chld</a:t>
            </a:r>
            <a:endParaRPr lang="en-US" sz="700" dirty="0"/>
          </a:p>
        </p:txBody>
      </p:sp>
      <p:sp>
        <p:nvSpPr>
          <p:cNvPr id="61" name="Shape 59"/>
          <p:cNvSpPr/>
          <p:nvPr/>
        </p:nvSpPr>
        <p:spPr>
          <a:xfrm>
            <a:off x="7424928" y="3911803"/>
            <a:ext cx="384048" cy="175565"/>
          </a:xfrm>
          <a:prstGeom prst="rect">
            <a:avLst/>
          </a:prstGeom>
          <a:solidFill>
            <a:srgbClr val="F0245E"/>
          </a:solidFill>
          <a:ln/>
        </p:spPr>
      </p:sp>
      <p:sp>
        <p:nvSpPr>
          <p:cNvPr id="62" name="Text 60"/>
          <p:cNvSpPr/>
          <p:nvPr/>
        </p:nvSpPr>
        <p:spPr>
          <a:xfrm>
            <a:off x="7342632" y="4096512"/>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24</a:t>
            </a:r>
            <a:endParaRPr lang="en-US" sz="800" dirty="0"/>
          </a:p>
        </p:txBody>
      </p:sp>
      <p:sp>
        <p:nvSpPr>
          <p:cNvPr id="63" name="Text 61"/>
          <p:cNvSpPr/>
          <p:nvPr/>
        </p:nvSpPr>
        <p:spPr>
          <a:xfrm>
            <a:off x="7342632" y="3584448"/>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Snr</a:t>
            </a:r>
            <a:endParaRPr lang="en-US" sz="700" dirty="0"/>
          </a:p>
        </p:txBody>
      </p:sp>
      <p:sp>
        <p:nvSpPr>
          <p:cNvPr id="64" name="Shape 62"/>
          <p:cNvSpPr/>
          <p:nvPr/>
        </p:nvSpPr>
        <p:spPr>
          <a:xfrm>
            <a:off x="7991856" y="3721608"/>
            <a:ext cx="384048" cy="365760"/>
          </a:xfrm>
          <a:prstGeom prst="rect">
            <a:avLst/>
          </a:prstGeom>
          <a:solidFill>
            <a:srgbClr val="1B2D8A"/>
          </a:solidFill>
          <a:ln/>
        </p:spPr>
      </p:sp>
      <p:sp>
        <p:nvSpPr>
          <p:cNvPr id="65" name="Text 63"/>
          <p:cNvSpPr/>
          <p:nvPr/>
        </p:nvSpPr>
        <p:spPr>
          <a:xfrm>
            <a:off x="7909560" y="4096512"/>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50</a:t>
            </a:r>
            <a:endParaRPr lang="en-US" sz="800" dirty="0"/>
          </a:p>
        </p:txBody>
      </p:sp>
      <p:sp>
        <p:nvSpPr>
          <p:cNvPr id="66" name="Text 64"/>
          <p:cNvSpPr/>
          <p:nvPr/>
        </p:nvSpPr>
        <p:spPr>
          <a:xfrm>
            <a:off x="7909560" y="3584448"/>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Wrk</a:t>
            </a:r>
            <a:endParaRPr lang="en-US" sz="700" dirty="0"/>
          </a:p>
        </p:txBody>
      </p:sp>
      <p:sp>
        <p:nvSpPr>
          <p:cNvPr id="67" name="Shape 65"/>
          <p:cNvSpPr/>
          <p:nvPr/>
        </p:nvSpPr>
        <p:spPr>
          <a:xfrm>
            <a:off x="8558784" y="3941064"/>
            <a:ext cx="384048" cy="146304"/>
          </a:xfrm>
          <a:prstGeom prst="rect">
            <a:avLst/>
          </a:prstGeom>
          <a:solidFill>
            <a:srgbClr val="1B2D8A"/>
          </a:solidFill>
          <a:ln/>
        </p:spPr>
      </p:sp>
      <p:sp>
        <p:nvSpPr>
          <p:cNvPr id="68" name="Text 66"/>
          <p:cNvSpPr/>
          <p:nvPr/>
        </p:nvSpPr>
        <p:spPr>
          <a:xfrm>
            <a:off x="8476488" y="4096512"/>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20</a:t>
            </a:r>
            <a:endParaRPr lang="en-US" sz="800" dirty="0"/>
          </a:p>
        </p:txBody>
      </p:sp>
      <p:sp>
        <p:nvSpPr>
          <p:cNvPr id="69" name="Text 67"/>
          <p:cNvSpPr/>
          <p:nvPr/>
        </p:nvSpPr>
        <p:spPr>
          <a:xfrm>
            <a:off x="8476488" y="3584448"/>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Yth</a:t>
            </a:r>
            <a:endParaRPr lang="en-US" sz="700" dirty="0"/>
          </a:p>
        </p:txBody>
      </p:sp>
      <p:sp>
        <p:nvSpPr>
          <p:cNvPr id="70" name="Shape 68"/>
          <p:cNvSpPr/>
          <p:nvPr/>
        </p:nvSpPr>
        <p:spPr>
          <a:xfrm>
            <a:off x="9125712" y="4021531"/>
            <a:ext cx="384048" cy="65837"/>
          </a:xfrm>
          <a:prstGeom prst="rect">
            <a:avLst/>
          </a:prstGeom>
          <a:solidFill>
            <a:srgbClr val="1B2D8A"/>
          </a:solidFill>
          <a:ln/>
        </p:spPr>
      </p:sp>
      <p:sp>
        <p:nvSpPr>
          <p:cNvPr id="71" name="Text 69"/>
          <p:cNvSpPr/>
          <p:nvPr/>
        </p:nvSpPr>
        <p:spPr>
          <a:xfrm>
            <a:off x="9043416" y="4096512"/>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9</a:t>
            </a:r>
            <a:endParaRPr lang="en-US" sz="800" dirty="0"/>
          </a:p>
        </p:txBody>
      </p:sp>
      <p:sp>
        <p:nvSpPr>
          <p:cNvPr id="72" name="Text 70"/>
          <p:cNvSpPr/>
          <p:nvPr/>
        </p:nvSpPr>
        <p:spPr>
          <a:xfrm>
            <a:off x="9043416" y="3584448"/>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Sand</a:t>
            </a:r>
            <a:endParaRPr lang="en-US" sz="700" dirty="0"/>
          </a:p>
        </p:txBody>
      </p:sp>
      <p:sp>
        <p:nvSpPr>
          <p:cNvPr id="73" name="Text 71"/>
          <p:cNvSpPr/>
          <p:nvPr/>
        </p:nvSpPr>
        <p:spPr>
          <a:xfrm>
            <a:off x="10378440" y="3785616"/>
            <a:ext cx="1234440" cy="310896"/>
          </a:xfrm>
          <a:prstGeom prst="rect">
            <a:avLst/>
          </a:prstGeom>
          <a:noFill/>
          <a:ln/>
        </p:spPr>
        <p:txBody>
          <a:bodyPr wrap="square" lIns="0" tIns="0" rIns="0" bIns="0" rtlCol="0" anchor="ctr"/>
          <a:lstStyle/>
          <a:p>
            <a:pPr algn="r" indent="0" marL="0">
              <a:buNone/>
            </a:pPr>
            <a:r>
              <a:rPr lang="en-US" sz="1050" b="1" dirty="0">
                <a:solidFill>
                  <a:srgbClr val="14204A"/>
                </a:solidFill>
                <a:latin typeface="Arial" pitchFamily="34" charset="0"/>
                <a:ea typeface="Arial" pitchFamily="34" charset="-122"/>
                <a:cs typeface="Arial" pitchFamily="34" charset="-120"/>
              </a:rPr>
              <a:t>78 stops</a:t>
            </a:r>
            <a:endParaRPr lang="en-US" sz="1050" dirty="0"/>
          </a:p>
        </p:txBody>
      </p:sp>
      <p:sp>
        <p:nvSpPr>
          <p:cNvPr id="74" name="Shape 72"/>
          <p:cNvSpPr/>
          <p:nvPr/>
        </p:nvSpPr>
        <p:spPr>
          <a:xfrm>
            <a:off x="502920" y="4379976"/>
            <a:ext cx="11183112" cy="731520"/>
          </a:xfrm>
          <a:prstGeom prst="roundRect">
            <a:avLst>
              <a:gd name="adj" fmla="val 11250"/>
            </a:avLst>
          </a:prstGeom>
          <a:solidFill>
            <a:srgbClr val="FFFFFF"/>
          </a:solidFill>
          <a:ln w="12700">
            <a:solidFill>
              <a:srgbClr val="D8DDE9"/>
            </a:solidFill>
            <a:prstDash val="solid"/>
          </a:ln>
        </p:spPr>
      </p:sp>
      <p:sp>
        <p:nvSpPr>
          <p:cNvPr id="75" name="Shape 73"/>
          <p:cNvSpPr/>
          <p:nvPr/>
        </p:nvSpPr>
        <p:spPr>
          <a:xfrm>
            <a:off x="740664" y="4544568"/>
            <a:ext cx="786384" cy="402336"/>
          </a:xfrm>
          <a:prstGeom prst="roundRect">
            <a:avLst>
              <a:gd name="adj" fmla="val 15909"/>
            </a:avLst>
          </a:prstGeom>
          <a:solidFill>
            <a:srgbClr val="FFFFFF"/>
          </a:solidFill>
          <a:ln w="15875">
            <a:solidFill>
              <a:srgbClr val="F0245E"/>
            </a:solidFill>
            <a:prstDash val="solid"/>
          </a:ln>
        </p:spPr>
      </p:sp>
      <p:sp>
        <p:nvSpPr>
          <p:cNvPr id="76" name="Text 74"/>
          <p:cNvSpPr/>
          <p:nvPr/>
        </p:nvSpPr>
        <p:spPr>
          <a:xfrm>
            <a:off x="740664" y="4544568"/>
            <a:ext cx="786384" cy="402336"/>
          </a:xfrm>
          <a:prstGeom prst="rect">
            <a:avLst/>
          </a:prstGeom>
          <a:noFill/>
          <a:ln/>
        </p:spPr>
        <p:txBody>
          <a:bodyPr wrap="square" lIns="0" tIns="0" rIns="0" bIns="0" rtlCol="0" anchor="ctr"/>
          <a:lstStyle/>
          <a:p>
            <a:pPr algn="ctr" indent="0" marL="0">
              <a:buNone/>
            </a:pPr>
            <a:r>
              <a:rPr lang="en-US" sz="1500" b="1" dirty="0">
                <a:solidFill>
                  <a:srgbClr val="F0245E"/>
                </a:solidFill>
                <a:latin typeface="Arial" pitchFamily="34" charset="0"/>
                <a:ea typeface="Arial" pitchFamily="34" charset="-122"/>
                <a:cs typeface="Arial" pitchFamily="34" charset="-120"/>
              </a:rPr>
              <a:t>89</a:t>
            </a:r>
            <a:endParaRPr lang="en-US" sz="1500" dirty="0"/>
          </a:p>
        </p:txBody>
      </p:sp>
      <p:sp>
        <p:nvSpPr>
          <p:cNvPr id="77" name="Text 75"/>
          <p:cNvSpPr/>
          <p:nvPr/>
        </p:nvSpPr>
        <p:spPr>
          <a:xfrm>
            <a:off x="1655064" y="4453128"/>
            <a:ext cx="3931920" cy="274320"/>
          </a:xfrm>
          <a:prstGeom prst="rect">
            <a:avLst/>
          </a:prstGeom>
          <a:noFill/>
          <a:ln/>
        </p:spPr>
        <p:txBody>
          <a:bodyPr wrap="square" lIns="0" tIns="0" rIns="0" bIns="0" rtlCol="0" anchor="ctr"/>
          <a:lstStyle/>
          <a:p>
            <a:pPr indent="0" marL="0">
              <a:buNone/>
            </a:pPr>
            <a:r>
              <a:rPr lang="en-US" sz="1050" dirty="0">
                <a:solidFill>
                  <a:srgbClr val="5A6484"/>
                </a:solidFill>
                <a:latin typeface="Arial" pitchFamily="34" charset="0"/>
                <a:ea typeface="Arial" pitchFamily="34" charset="-122"/>
                <a:cs typeface="Arial" pitchFamily="34" charset="-120"/>
              </a:rPr>
              <a:t>Hougang Ctrl Int ⟲ 3rd Cargo Agents</a:t>
            </a:r>
            <a:endParaRPr lang="en-US" sz="1050" dirty="0"/>
          </a:p>
        </p:txBody>
      </p:sp>
      <p:sp>
        <p:nvSpPr>
          <p:cNvPr id="78" name="Text 76"/>
          <p:cNvSpPr/>
          <p:nvPr/>
        </p:nvSpPr>
        <p:spPr>
          <a:xfrm>
            <a:off x="1655064" y="4745736"/>
            <a:ext cx="2194560" cy="292608"/>
          </a:xfrm>
          <a:prstGeom prst="rect">
            <a:avLst/>
          </a:prstGeom>
          <a:noFill/>
          <a:ln/>
        </p:spPr>
        <p:txBody>
          <a:bodyPr wrap="square" lIns="0" tIns="0" rIns="0" bIns="0" rtlCol="0" anchor="ctr"/>
          <a:lstStyle/>
          <a:p>
            <a:pPr indent="0" marL="0">
              <a:buNone/>
            </a:pPr>
            <a:r>
              <a:rPr lang="en-US" sz="1250" b="1" dirty="0">
                <a:solidFill>
                  <a:srgbClr val="F0245E"/>
                </a:solidFill>
                <a:latin typeface="Arial" pitchFamily="34" charset="0"/>
                <a:ea typeface="Arial" pitchFamily="34" charset="-122"/>
                <a:cs typeface="Arial" pitchFamily="34" charset="-120"/>
              </a:rPr>
              <a:t>Young children</a:t>
            </a:r>
            <a:endParaRPr lang="en-US" sz="1250" dirty="0"/>
          </a:p>
        </p:txBody>
      </p:sp>
      <p:sp>
        <p:nvSpPr>
          <p:cNvPr id="79" name="Text 77"/>
          <p:cNvSpPr/>
          <p:nvPr/>
        </p:nvSpPr>
        <p:spPr>
          <a:xfrm>
            <a:off x="3886200" y="4745736"/>
            <a:ext cx="2834640" cy="292608"/>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35 places · 28% of the package</a:t>
            </a:r>
            <a:endParaRPr lang="en-US" sz="1000" dirty="0"/>
          </a:p>
        </p:txBody>
      </p:sp>
      <p:sp>
        <p:nvSpPr>
          <p:cNvPr id="80" name="Shape 78"/>
          <p:cNvSpPr/>
          <p:nvPr/>
        </p:nvSpPr>
        <p:spPr>
          <a:xfrm>
            <a:off x="6858000" y="4636008"/>
            <a:ext cx="384048" cy="256032"/>
          </a:xfrm>
          <a:prstGeom prst="rect">
            <a:avLst/>
          </a:prstGeom>
          <a:solidFill>
            <a:srgbClr val="F0245E"/>
          </a:solidFill>
          <a:ln/>
        </p:spPr>
      </p:sp>
      <p:sp>
        <p:nvSpPr>
          <p:cNvPr id="81" name="Text 79"/>
          <p:cNvSpPr/>
          <p:nvPr/>
        </p:nvSpPr>
        <p:spPr>
          <a:xfrm>
            <a:off x="6775704" y="4901184"/>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35</a:t>
            </a:r>
            <a:endParaRPr lang="en-US" sz="800" dirty="0"/>
          </a:p>
        </p:txBody>
      </p:sp>
      <p:sp>
        <p:nvSpPr>
          <p:cNvPr id="82" name="Text 80"/>
          <p:cNvSpPr/>
          <p:nvPr/>
        </p:nvSpPr>
        <p:spPr>
          <a:xfrm>
            <a:off x="6775704" y="4389120"/>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Chld</a:t>
            </a:r>
            <a:endParaRPr lang="en-US" sz="700" dirty="0"/>
          </a:p>
        </p:txBody>
      </p:sp>
      <p:sp>
        <p:nvSpPr>
          <p:cNvPr id="83" name="Shape 81"/>
          <p:cNvSpPr/>
          <p:nvPr/>
        </p:nvSpPr>
        <p:spPr>
          <a:xfrm>
            <a:off x="7424928" y="4846320"/>
            <a:ext cx="384048" cy="45720"/>
          </a:xfrm>
          <a:prstGeom prst="rect">
            <a:avLst/>
          </a:prstGeom>
          <a:solidFill>
            <a:srgbClr val="1B2D8A"/>
          </a:solidFill>
          <a:ln/>
        </p:spPr>
      </p:sp>
      <p:sp>
        <p:nvSpPr>
          <p:cNvPr id="84" name="Text 82"/>
          <p:cNvSpPr/>
          <p:nvPr/>
        </p:nvSpPr>
        <p:spPr>
          <a:xfrm>
            <a:off x="7342632" y="4901184"/>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5</a:t>
            </a:r>
            <a:endParaRPr lang="en-US" sz="800" dirty="0"/>
          </a:p>
        </p:txBody>
      </p:sp>
      <p:sp>
        <p:nvSpPr>
          <p:cNvPr id="85" name="Text 83"/>
          <p:cNvSpPr/>
          <p:nvPr/>
        </p:nvSpPr>
        <p:spPr>
          <a:xfrm>
            <a:off x="7342632" y="4389120"/>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Snr</a:t>
            </a:r>
            <a:endParaRPr lang="en-US" sz="700" dirty="0"/>
          </a:p>
        </p:txBody>
      </p:sp>
      <p:sp>
        <p:nvSpPr>
          <p:cNvPr id="86" name="Shape 84"/>
          <p:cNvSpPr/>
          <p:nvPr/>
        </p:nvSpPr>
        <p:spPr>
          <a:xfrm>
            <a:off x="7991856" y="4804258"/>
            <a:ext cx="384048" cy="87782"/>
          </a:xfrm>
          <a:prstGeom prst="rect">
            <a:avLst/>
          </a:prstGeom>
          <a:solidFill>
            <a:srgbClr val="1B2D8A"/>
          </a:solidFill>
          <a:ln/>
        </p:spPr>
      </p:sp>
      <p:sp>
        <p:nvSpPr>
          <p:cNvPr id="87" name="Text 85"/>
          <p:cNvSpPr/>
          <p:nvPr/>
        </p:nvSpPr>
        <p:spPr>
          <a:xfrm>
            <a:off x="7909560" y="4901184"/>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12</a:t>
            </a:r>
            <a:endParaRPr lang="en-US" sz="800" dirty="0"/>
          </a:p>
        </p:txBody>
      </p:sp>
      <p:sp>
        <p:nvSpPr>
          <p:cNvPr id="88" name="Text 86"/>
          <p:cNvSpPr/>
          <p:nvPr/>
        </p:nvSpPr>
        <p:spPr>
          <a:xfrm>
            <a:off x="7909560" y="4389120"/>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Wrk</a:t>
            </a:r>
            <a:endParaRPr lang="en-US" sz="700" dirty="0"/>
          </a:p>
        </p:txBody>
      </p:sp>
      <p:sp>
        <p:nvSpPr>
          <p:cNvPr id="89" name="Shape 87"/>
          <p:cNvSpPr/>
          <p:nvPr/>
        </p:nvSpPr>
        <p:spPr>
          <a:xfrm>
            <a:off x="8558784" y="4782312"/>
            <a:ext cx="384048" cy="109728"/>
          </a:xfrm>
          <a:prstGeom prst="rect">
            <a:avLst/>
          </a:prstGeom>
          <a:solidFill>
            <a:srgbClr val="1B2D8A"/>
          </a:solidFill>
          <a:ln/>
        </p:spPr>
      </p:sp>
      <p:sp>
        <p:nvSpPr>
          <p:cNvPr id="90" name="Text 88"/>
          <p:cNvSpPr/>
          <p:nvPr/>
        </p:nvSpPr>
        <p:spPr>
          <a:xfrm>
            <a:off x="8476488" y="4901184"/>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15</a:t>
            </a:r>
            <a:endParaRPr lang="en-US" sz="800" dirty="0"/>
          </a:p>
        </p:txBody>
      </p:sp>
      <p:sp>
        <p:nvSpPr>
          <p:cNvPr id="91" name="Text 89"/>
          <p:cNvSpPr/>
          <p:nvPr/>
        </p:nvSpPr>
        <p:spPr>
          <a:xfrm>
            <a:off x="8476488" y="4389120"/>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Yth</a:t>
            </a:r>
            <a:endParaRPr lang="en-US" sz="700" dirty="0"/>
          </a:p>
        </p:txBody>
      </p:sp>
      <p:sp>
        <p:nvSpPr>
          <p:cNvPr id="92" name="Shape 90"/>
          <p:cNvSpPr/>
          <p:nvPr/>
        </p:nvSpPr>
        <p:spPr>
          <a:xfrm>
            <a:off x="9125712" y="4811573"/>
            <a:ext cx="384048" cy="80467"/>
          </a:xfrm>
          <a:prstGeom prst="rect">
            <a:avLst/>
          </a:prstGeom>
          <a:solidFill>
            <a:srgbClr val="1B2D8A"/>
          </a:solidFill>
          <a:ln/>
        </p:spPr>
      </p:sp>
      <p:sp>
        <p:nvSpPr>
          <p:cNvPr id="93" name="Text 91"/>
          <p:cNvSpPr/>
          <p:nvPr/>
        </p:nvSpPr>
        <p:spPr>
          <a:xfrm>
            <a:off x="9043416" y="4901184"/>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11</a:t>
            </a:r>
            <a:endParaRPr lang="en-US" sz="800" dirty="0"/>
          </a:p>
        </p:txBody>
      </p:sp>
      <p:sp>
        <p:nvSpPr>
          <p:cNvPr id="94" name="Text 92"/>
          <p:cNvSpPr/>
          <p:nvPr/>
        </p:nvSpPr>
        <p:spPr>
          <a:xfrm>
            <a:off x="9043416" y="4389120"/>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Sand</a:t>
            </a:r>
            <a:endParaRPr lang="en-US" sz="700" dirty="0"/>
          </a:p>
        </p:txBody>
      </p:sp>
      <p:sp>
        <p:nvSpPr>
          <p:cNvPr id="95" name="Text 93"/>
          <p:cNvSpPr/>
          <p:nvPr/>
        </p:nvSpPr>
        <p:spPr>
          <a:xfrm>
            <a:off x="10378440" y="4590288"/>
            <a:ext cx="1234440" cy="310896"/>
          </a:xfrm>
          <a:prstGeom prst="rect">
            <a:avLst/>
          </a:prstGeom>
          <a:noFill/>
          <a:ln/>
        </p:spPr>
        <p:txBody>
          <a:bodyPr wrap="square" lIns="0" tIns="0" rIns="0" bIns="0" rtlCol="0" anchor="ctr"/>
          <a:lstStyle/>
          <a:p>
            <a:pPr algn="r" indent="0" marL="0">
              <a:buNone/>
            </a:pPr>
            <a:r>
              <a:rPr lang="en-US" sz="1050" b="1" dirty="0">
                <a:solidFill>
                  <a:srgbClr val="14204A"/>
                </a:solidFill>
                <a:latin typeface="Arial" pitchFamily="34" charset="0"/>
                <a:ea typeface="Arial" pitchFamily="34" charset="-122"/>
                <a:cs typeface="Arial" pitchFamily="34" charset="-120"/>
              </a:rPr>
              <a:t>94 stops</a:t>
            </a:r>
            <a:endParaRPr lang="en-US" sz="1050" dirty="0"/>
          </a:p>
        </p:txBody>
      </p:sp>
      <p:sp>
        <p:nvSpPr>
          <p:cNvPr id="96" name="Shape 94"/>
          <p:cNvSpPr/>
          <p:nvPr/>
        </p:nvSpPr>
        <p:spPr>
          <a:xfrm>
            <a:off x="502920" y="5184648"/>
            <a:ext cx="11183112" cy="731520"/>
          </a:xfrm>
          <a:prstGeom prst="roundRect">
            <a:avLst>
              <a:gd name="adj" fmla="val 11250"/>
            </a:avLst>
          </a:prstGeom>
          <a:solidFill>
            <a:srgbClr val="FFFFFF"/>
          </a:solidFill>
          <a:ln w="12700">
            <a:solidFill>
              <a:srgbClr val="D8DDE9"/>
            </a:solidFill>
            <a:prstDash val="solid"/>
          </a:ln>
        </p:spPr>
      </p:sp>
      <p:sp>
        <p:nvSpPr>
          <p:cNvPr id="97" name="Shape 95"/>
          <p:cNvSpPr/>
          <p:nvPr/>
        </p:nvSpPr>
        <p:spPr>
          <a:xfrm>
            <a:off x="740664" y="5349240"/>
            <a:ext cx="786384" cy="402336"/>
          </a:xfrm>
          <a:prstGeom prst="roundRect">
            <a:avLst>
              <a:gd name="adj" fmla="val 15909"/>
            </a:avLst>
          </a:prstGeom>
          <a:solidFill>
            <a:srgbClr val="FFFFFF"/>
          </a:solidFill>
          <a:ln w="15875">
            <a:solidFill>
              <a:srgbClr val="F0245E"/>
            </a:solidFill>
            <a:prstDash val="solid"/>
          </a:ln>
        </p:spPr>
      </p:sp>
      <p:sp>
        <p:nvSpPr>
          <p:cNvPr id="98" name="Text 96"/>
          <p:cNvSpPr/>
          <p:nvPr/>
        </p:nvSpPr>
        <p:spPr>
          <a:xfrm>
            <a:off x="740664" y="5349240"/>
            <a:ext cx="786384" cy="402336"/>
          </a:xfrm>
          <a:prstGeom prst="rect">
            <a:avLst/>
          </a:prstGeom>
          <a:noFill/>
          <a:ln/>
        </p:spPr>
        <p:txBody>
          <a:bodyPr wrap="square" lIns="0" tIns="0" rIns="0" bIns="0" rtlCol="0" anchor="ctr"/>
          <a:lstStyle/>
          <a:p>
            <a:pPr algn="ctr" indent="0" marL="0">
              <a:buNone/>
            </a:pPr>
            <a:r>
              <a:rPr lang="en-US" sz="1500" b="1" dirty="0">
                <a:solidFill>
                  <a:srgbClr val="F0245E"/>
                </a:solidFill>
                <a:latin typeface="Arial" pitchFamily="34" charset="0"/>
                <a:ea typeface="Arial" pitchFamily="34" charset="-122"/>
                <a:cs typeface="Arial" pitchFamily="34" charset="-120"/>
              </a:rPr>
              <a:t>43</a:t>
            </a:r>
            <a:endParaRPr lang="en-US" sz="1500" dirty="0"/>
          </a:p>
        </p:txBody>
      </p:sp>
      <p:sp>
        <p:nvSpPr>
          <p:cNvPr id="99" name="Text 97"/>
          <p:cNvSpPr/>
          <p:nvPr/>
        </p:nvSpPr>
        <p:spPr>
          <a:xfrm>
            <a:off x="1655064" y="5257800"/>
            <a:ext cx="3931920" cy="274320"/>
          </a:xfrm>
          <a:prstGeom prst="rect">
            <a:avLst/>
          </a:prstGeom>
          <a:noFill/>
          <a:ln/>
        </p:spPr>
        <p:txBody>
          <a:bodyPr wrap="square" lIns="0" tIns="0" rIns="0" bIns="0" rtlCol="0" anchor="ctr"/>
          <a:lstStyle/>
          <a:p>
            <a:pPr indent="0" marL="0">
              <a:buNone/>
            </a:pPr>
            <a:r>
              <a:rPr lang="en-US" sz="1050" dirty="0">
                <a:solidFill>
                  <a:srgbClr val="5A6484"/>
                </a:solidFill>
                <a:latin typeface="Arial" pitchFamily="34" charset="0"/>
                <a:ea typeface="Arial" pitchFamily="34" charset="-122"/>
                <a:cs typeface="Arial" pitchFamily="34" charset="-120"/>
              </a:rPr>
              <a:t>Punggol Int ⇄ Upp East Coast Ter</a:t>
            </a:r>
            <a:endParaRPr lang="en-US" sz="1050" dirty="0"/>
          </a:p>
        </p:txBody>
      </p:sp>
      <p:sp>
        <p:nvSpPr>
          <p:cNvPr id="100" name="Text 98"/>
          <p:cNvSpPr/>
          <p:nvPr/>
        </p:nvSpPr>
        <p:spPr>
          <a:xfrm>
            <a:off x="1655064" y="5550408"/>
            <a:ext cx="2194560" cy="292608"/>
          </a:xfrm>
          <a:prstGeom prst="rect">
            <a:avLst/>
          </a:prstGeom>
          <a:noFill/>
          <a:ln/>
        </p:spPr>
        <p:txBody>
          <a:bodyPr wrap="square" lIns="0" tIns="0" rIns="0" bIns="0" rtlCol="0" anchor="ctr"/>
          <a:lstStyle/>
          <a:p>
            <a:pPr indent="0" marL="0">
              <a:buNone/>
            </a:pPr>
            <a:r>
              <a:rPr lang="en-US" sz="1250" b="1" dirty="0">
                <a:solidFill>
                  <a:srgbClr val="F0245E"/>
                </a:solidFill>
                <a:latin typeface="Arial" pitchFamily="34" charset="0"/>
                <a:ea typeface="Arial" pitchFamily="34" charset="-122"/>
                <a:cs typeface="Arial" pitchFamily="34" charset="-120"/>
              </a:rPr>
              <a:t>Sandwich generation</a:t>
            </a:r>
            <a:endParaRPr lang="en-US" sz="1250" dirty="0"/>
          </a:p>
        </p:txBody>
      </p:sp>
      <p:sp>
        <p:nvSpPr>
          <p:cNvPr id="101" name="Text 99"/>
          <p:cNvSpPr/>
          <p:nvPr/>
        </p:nvSpPr>
        <p:spPr>
          <a:xfrm>
            <a:off x="3886200" y="5550408"/>
            <a:ext cx="2834640" cy="292608"/>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37 places · 44% of the package</a:t>
            </a:r>
            <a:endParaRPr lang="en-US" sz="1000" dirty="0"/>
          </a:p>
        </p:txBody>
      </p:sp>
      <p:sp>
        <p:nvSpPr>
          <p:cNvPr id="102" name="Shape 100"/>
          <p:cNvSpPr/>
          <p:nvPr/>
        </p:nvSpPr>
        <p:spPr>
          <a:xfrm>
            <a:off x="6858000" y="5396789"/>
            <a:ext cx="384048" cy="299923"/>
          </a:xfrm>
          <a:prstGeom prst="rect">
            <a:avLst/>
          </a:prstGeom>
          <a:solidFill>
            <a:srgbClr val="1B2D8A"/>
          </a:solidFill>
          <a:ln/>
        </p:spPr>
      </p:sp>
      <p:sp>
        <p:nvSpPr>
          <p:cNvPr id="103" name="Text 101"/>
          <p:cNvSpPr/>
          <p:nvPr/>
        </p:nvSpPr>
        <p:spPr>
          <a:xfrm>
            <a:off x="6775704" y="5705856"/>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41</a:t>
            </a:r>
            <a:endParaRPr lang="en-US" sz="800" dirty="0"/>
          </a:p>
        </p:txBody>
      </p:sp>
      <p:sp>
        <p:nvSpPr>
          <p:cNvPr id="104" name="Text 102"/>
          <p:cNvSpPr/>
          <p:nvPr/>
        </p:nvSpPr>
        <p:spPr>
          <a:xfrm>
            <a:off x="6775704" y="5193792"/>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Chld</a:t>
            </a:r>
            <a:endParaRPr lang="en-US" sz="700" dirty="0"/>
          </a:p>
        </p:txBody>
      </p:sp>
      <p:sp>
        <p:nvSpPr>
          <p:cNvPr id="105" name="Shape 103"/>
          <p:cNvSpPr/>
          <p:nvPr/>
        </p:nvSpPr>
        <p:spPr>
          <a:xfrm>
            <a:off x="7424928" y="5543093"/>
            <a:ext cx="384048" cy="153619"/>
          </a:xfrm>
          <a:prstGeom prst="rect">
            <a:avLst/>
          </a:prstGeom>
          <a:solidFill>
            <a:srgbClr val="1B2D8A"/>
          </a:solidFill>
          <a:ln/>
        </p:spPr>
      </p:sp>
      <p:sp>
        <p:nvSpPr>
          <p:cNvPr id="106" name="Text 104"/>
          <p:cNvSpPr/>
          <p:nvPr/>
        </p:nvSpPr>
        <p:spPr>
          <a:xfrm>
            <a:off x="7342632" y="5705856"/>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21</a:t>
            </a:r>
            <a:endParaRPr lang="en-US" sz="800" dirty="0"/>
          </a:p>
        </p:txBody>
      </p:sp>
      <p:sp>
        <p:nvSpPr>
          <p:cNvPr id="107" name="Text 105"/>
          <p:cNvSpPr/>
          <p:nvPr/>
        </p:nvSpPr>
        <p:spPr>
          <a:xfrm>
            <a:off x="7342632" y="5193792"/>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Snr</a:t>
            </a:r>
            <a:endParaRPr lang="en-US" sz="700" dirty="0"/>
          </a:p>
        </p:txBody>
      </p:sp>
      <p:sp>
        <p:nvSpPr>
          <p:cNvPr id="108" name="Shape 106"/>
          <p:cNvSpPr/>
          <p:nvPr/>
        </p:nvSpPr>
        <p:spPr>
          <a:xfrm>
            <a:off x="7991856" y="5477256"/>
            <a:ext cx="384048" cy="219456"/>
          </a:xfrm>
          <a:prstGeom prst="rect">
            <a:avLst/>
          </a:prstGeom>
          <a:solidFill>
            <a:srgbClr val="1B2D8A"/>
          </a:solidFill>
          <a:ln/>
        </p:spPr>
      </p:sp>
      <p:sp>
        <p:nvSpPr>
          <p:cNvPr id="109" name="Text 107"/>
          <p:cNvSpPr/>
          <p:nvPr/>
        </p:nvSpPr>
        <p:spPr>
          <a:xfrm>
            <a:off x="7909560" y="5705856"/>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30</a:t>
            </a:r>
            <a:endParaRPr lang="en-US" sz="800" dirty="0"/>
          </a:p>
        </p:txBody>
      </p:sp>
      <p:sp>
        <p:nvSpPr>
          <p:cNvPr id="110" name="Text 108"/>
          <p:cNvSpPr/>
          <p:nvPr/>
        </p:nvSpPr>
        <p:spPr>
          <a:xfrm>
            <a:off x="7909560" y="5193792"/>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Wrk</a:t>
            </a:r>
            <a:endParaRPr lang="en-US" sz="700" dirty="0"/>
          </a:p>
        </p:txBody>
      </p:sp>
      <p:sp>
        <p:nvSpPr>
          <p:cNvPr id="111" name="Shape 109"/>
          <p:cNvSpPr/>
          <p:nvPr/>
        </p:nvSpPr>
        <p:spPr>
          <a:xfrm>
            <a:off x="8558784" y="5484571"/>
            <a:ext cx="384048" cy="212141"/>
          </a:xfrm>
          <a:prstGeom prst="rect">
            <a:avLst/>
          </a:prstGeom>
          <a:solidFill>
            <a:srgbClr val="1B2D8A"/>
          </a:solidFill>
          <a:ln/>
        </p:spPr>
      </p:sp>
      <p:sp>
        <p:nvSpPr>
          <p:cNvPr id="112" name="Text 110"/>
          <p:cNvSpPr/>
          <p:nvPr/>
        </p:nvSpPr>
        <p:spPr>
          <a:xfrm>
            <a:off x="8476488" y="5705856"/>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29</a:t>
            </a:r>
            <a:endParaRPr lang="en-US" sz="800" dirty="0"/>
          </a:p>
        </p:txBody>
      </p:sp>
      <p:sp>
        <p:nvSpPr>
          <p:cNvPr id="113" name="Text 111"/>
          <p:cNvSpPr/>
          <p:nvPr/>
        </p:nvSpPr>
        <p:spPr>
          <a:xfrm>
            <a:off x="8476488" y="5193792"/>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Yth</a:t>
            </a:r>
            <a:endParaRPr lang="en-US" sz="700" dirty="0"/>
          </a:p>
        </p:txBody>
      </p:sp>
      <p:sp>
        <p:nvSpPr>
          <p:cNvPr id="114" name="Shape 112"/>
          <p:cNvSpPr/>
          <p:nvPr/>
        </p:nvSpPr>
        <p:spPr>
          <a:xfrm>
            <a:off x="9125712" y="5426050"/>
            <a:ext cx="384048" cy="270662"/>
          </a:xfrm>
          <a:prstGeom prst="rect">
            <a:avLst/>
          </a:prstGeom>
          <a:solidFill>
            <a:srgbClr val="F0245E"/>
          </a:solidFill>
          <a:ln/>
        </p:spPr>
      </p:sp>
      <p:sp>
        <p:nvSpPr>
          <p:cNvPr id="115" name="Text 113"/>
          <p:cNvSpPr/>
          <p:nvPr/>
        </p:nvSpPr>
        <p:spPr>
          <a:xfrm>
            <a:off x="9043416" y="5705856"/>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37</a:t>
            </a:r>
            <a:endParaRPr lang="en-US" sz="800" dirty="0"/>
          </a:p>
        </p:txBody>
      </p:sp>
      <p:sp>
        <p:nvSpPr>
          <p:cNvPr id="116" name="Text 114"/>
          <p:cNvSpPr/>
          <p:nvPr/>
        </p:nvSpPr>
        <p:spPr>
          <a:xfrm>
            <a:off x="9043416" y="5193792"/>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Sand</a:t>
            </a:r>
            <a:endParaRPr lang="en-US" sz="700" dirty="0"/>
          </a:p>
        </p:txBody>
      </p:sp>
      <p:sp>
        <p:nvSpPr>
          <p:cNvPr id="117" name="Text 115"/>
          <p:cNvSpPr/>
          <p:nvPr/>
        </p:nvSpPr>
        <p:spPr>
          <a:xfrm>
            <a:off x="10378440" y="5394960"/>
            <a:ext cx="1234440" cy="310896"/>
          </a:xfrm>
          <a:prstGeom prst="rect">
            <a:avLst/>
          </a:prstGeom>
          <a:noFill/>
          <a:ln/>
        </p:spPr>
        <p:txBody>
          <a:bodyPr wrap="square" lIns="0" tIns="0" rIns="0" bIns="0" rtlCol="0" anchor="ctr"/>
          <a:lstStyle/>
          <a:p>
            <a:pPr algn="r" indent="0" marL="0">
              <a:buNone/>
            </a:pPr>
            <a:r>
              <a:rPr lang="en-US" sz="1050" b="1" dirty="0">
                <a:solidFill>
                  <a:srgbClr val="14204A"/>
                </a:solidFill>
                <a:latin typeface="Arial" pitchFamily="34" charset="0"/>
                <a:ea typeface="Arial" pitchFamily="34" charset="-122"/>
                <a:cs typeface="Arial" pitchFamily="34" charset="-120"/>
              </a:rPr>
              <a:t>121 stops</a:t>
            </a:r>
            <a:endParaRPr lang="en-US" sz="1050" dirty="0"/>
          </a:p>
        </p:txBody>
      </p:sp>
      <p:sp>
        <p:nvSpPr>
          <p:cNvPr id="118" name="Text 116"/>
          <p:cNvSpPr/>
          <p:nvPr/>
        </p:nvSpPr>
        <p:spPr>
          <a:xfrm>
            <a:off x="502920" y="6035040"/>
            <a:ext cx="9052560" cy="310896"/>
          </a:xfrm>
          <a:prstGeom prst="rect">
            <a:avLst/>
          </a:prstGeom>
          <a:noFill/>
          <a:ln/>
        </p:spPr>
        <p:txBody>
          <a:bodyPr wrap="square" lIns="0" tIns="0" rIns="0" bIns="0" rtlCol="0" anchor="ctr"/>
          <a:lstStyle/>
          <a:p>
            <a:pPr indent="0" marL="0">
              <a:buNone/>
            </a:pPr>
            <a:r>
              <a:rPr lang="en-US" sz="950" i="1" dirty="0">
                <a:solidFill>
                  <a:srgbClr val="5A6484"/>
                </a:solidFill>
                <a:latin typeface="Arial" pitchFamily="34" charset="0"/>
                <a:ea typeface="Arial" pitchFamily="34" charset="-122"/>
                <a:cs typeface="Arial" pitchFamily="34" charset="-120"/>
              </a:rPr>
              <a:t>Bars are place counts within 400 m of that route’s stops, on one scale across all five. Pink marks the audience that bus is briefed for.</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1728216" cy="310896"/>
          </a:xfrm>
          <a:prstGeom prst="roundRect">
            <a:avLst>
              <a:gd name="adj" fmla="val 50000"/>
            </a:avLst>
          </a:prstGeom>
          <a:solidFill>
            <a:srgbClr val="F0245E"/>
          </a:solidFill>
          <a:ln/>
        </p:spPr>
      </p:sp>
      <p:sp>
        <p:nvSpPr>
          <p:cNvPr id="3" name="Text 1"/>
          <p:cNvSpPr/>
          <p:nvPr/>
        </p:nvSpPr>
        <p:spPr>
          <a:xfrm>
            <a:off x="502920" y="329184"/>
            <a:ext cx="1728216" cy="310896"/>
          </a:xfrm>
          <a:prstGeom prst="rect">
            <a:avLst/>
          </a:prstGeom>
          <a:noFill/>
          <a:ln/>
        </p:spPr>
        <p:txBody>
          <a:bodyPr wrap="square" lIns="0" tIns="0" rIns="0" bIns="0" rtlCol="0" anchor="ctr"/>
          <a:lstStyle/>
          <a:p>
            <a:pPr algn="ctr" indent="0" marL="0">
              <a:buNone/>
            </a:pPr>
            <a:r>
              <a:rPr lang="en-US" sz="950" b="1" spc="130" kern="0" dirty="0">
                <a:solidFill>
                  <a:srgbClr val="FFFFFF"/>
                </a:solidFill>
                <a:latin typeface="Arial" pitchFamily="34" charset="0"/>
                <a:ea typeface="Arial" pitchFamily="34" charset="-122"/>
                <a:cs typeface="Arial" pitchFamily="34" charset="-120"/>
              </a:rPr>
              <a:t>DBP C2 · LIMITS</a:t>
            </a:r>
            <a:endParaRPr lang="en-US" sz="950" dirty="0"/>
          </a:p>
        </p:txBody>
      </p:sp>
      <p:sp>
        <p:nvSpPr>
          <p:cNvPr id="4" name="Text 2"/>
          <p:cNvSpPr/>
          <p:nvPr/>
        </p:nvSpPr>
        <p:spPr>
          <a:xfrm>
            <a:off x="484632" y="749808"/>
            <a:ext cx="10607040" cy="566928"/>
          </a:xfrm>
          <a:prstGeom prst="rect">
            <a:avLst/>
          </a:prstGeom>
          <a:noFill/>
          <a:ln/>
        </p:spPr>
        <p:txBody>
          <a:bodyPr wrap="square" lIns="0" tIns="0" rIns="0" bIns="0" rtlCol="0" anchor="ctr"/>
          <a:lstStyle/>
          <a:p>
            <a:pPr indent="0" marL="0">
              <a:buNone/>
            </a:pPr>
            <a:r>
              <a:rPr lang="en-US" sz="3000" b="1" dirty="0">
                <a:solidFill>
                  <a:srgbClr val="1B2D8A"/>
                </a:solidFill>
                <a:latin typeface="Arial" pitchFamily="34" charset="0"/>
                <a:ea typeface="Arial" pitchFamily="34" charset="-122"/>
                <a:cs typeface="Arial" pitchFamily="34" charset="-120"/>
              </a:rPr>
              <a:t>What we are not claiming</a:t>
            </a:r>
            <a:endParaRPr lang="en-US" sz="3000" dirty="0"/>
          </a:p>
        </p:txBody>
      </p:sp>
      <p:sp>
        <p:nvSpPr>
          <p:cNvPr id="5" name="Text 3"/>
          <p:cNvSpPr/>
          <p:nvPr/>
        </p:nvSpPr>
        <p:spPr>
          <a:xfrm>
            <a:off x="484632" y="1316736"/>
            <a:ext cx="10424160" cy="365760"/>
          </a:xfrm>
          <a:prstGeom prst="rect">
            <a:avLst/>
          </a:prstGeom>
          <a:noFill/>
          <a:ln/>
        </p:spPr>
        <p:txBody>
          <a:bodyPr wrap="square" lIns="0" tIns="0" rIns="0" bIns="0" rtlCol="0" anchor="t"/>
          <a:lstStyle/>
          <a:p>
            <a:pPr indent="0" marL="0">
              <a:buNone/>
            </a:pPr>
            <a:r>
              <a:rPr lang="en-US" sz="1250" dirty="0">
                <a:solidFill>
                  <a:srgbClr val="5A6484"/>
                </a:solidFill>
                <a:latin typeface="Arial" pitchFamily="34" charset="0"/>
                <a:ea typeface="Arial" pitchFamily="34" charset="-122"/>
                <a:cs typeface="Arial" pitchFamily="34" charset="-120"/>
              </a:rPr>
              <a:t>Where this plan is weak, on the same slide that says it is strong.</a:t>
            </a:r>
            <a:endParaRPr lang="en-US" sz="1250" dirty="0"/>
          </a:p>
        </p:txBody>
      </p:sp>
      <p:sp>
        <p:nvSpPr>
          <p:cNvPr id="6" name="Text 4"/>
          <p:cNvSpPr/>
          <p:nvPr/>
        </p:nvSpPr>
        <p:spPr>
          <a:xfrm>
            <a:off x="9464040" y="6428232"/>
            <a:ext cx="2221992" cy="310896"/>
          </a:xfrm>
          <a:prstGeom prst="rect">
            <a:avLst/>
          </a:prstGeom>
          <a:noFill/>
          <a:ln/>
        </p:spPr>
        <p:txBody>
          <a:bodyPr wrap="square" lIns="0" tIns="0" rIns="0" bIns="0" rtlCol="0" anchor="ctr"/>
          <a:lstStyle/>
          <a:p>
            <a:pPr algn="r" indent="0" marL="0">
              <a:buNone/>
            </a:pPr>
            <a:r>
              <a:rPr lang="en-US" sz="1150" b="1" i="1" spc="100" kern="0" dirty="0">
                <a:solidFill>
                  <a:srgbClr val="1B2D8A"/>
                </a:solidFill>
                <a:latin typeface="Arial" pitchFamily="34" charset="0"/>
                <a:ea typeface="Arial" pitchFamily="34" charset="-122"/>
                <a:cs typeface="Arial" pitchFamily="34" charset="-120"/>
              </a:rPr>
              <a:t>MOOVE MEDIA</a:t>
            </a:r>
            <a:endParaRPr lang="en-US" sz="1150" dirty="0"/>
          </a:p>
        </p:txBody>
      </p:sp>
      <p:sp>
        <p:nvSpPr>
          <p:cNvPr id="7" name="Text 5"/>
          <p:cNvSpPr/>
          <p:nvPr/>
        </p:nvSpPr>
        <p:spPr>
          <a:xfrm>
            <a:off x="484632" y="6428232"/>
            <a:ext cx="548640" cy="310896"/>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13</a:t>
            </a:r>
            <a:endParaRPr lang="en-US" sz="1000" dirty="0"/>
          </a:p>
        </p:txBody>
      </p:sp>
      <p:sp>
        <p:nvSpPr>
          <p:cNvPr id="8" name="Shape 6"/>
          <p:cNvSpPr/>
          <p:nvPr/>
        </p:nvSpPr>
        <p:spPr>
          <a:xfrm>
            <a:off x="502920" y="1920240"/>
            <a:ext cx="11183112" cy="786384"/>
          </a:xfrm>
          <a:prstGeom prst="roundRect">
            <a:avLst>
              <a:gd name="adj" fmla="val 10465"/>
            </a:avLst>
          </a:prstGeom>
          <a:solidFill>
            <a:srgbClr val="FDF0F4"/>
          </a:solidFill>
          <a:ln w="12700">
            <a:solidFill>
              <a:srgbClr val="F0245E"/>
            </a:solidFill>
            <a:prstDash val="solid"/>
          </a:ln>
        </p:spPr>
      </p:sp>
      <p:sp>
        <p:nvSpPr>
          <p:cNvPr id="9" name="Text 7"/>
          <p:cNvSpPr/>
          <p:nvPr/>
        </p:nvSpPr>
        <p:spPr>
          <a:xfrm>
            <a:off x="795528" y="2011680"/>
            <a:ext cx="10515600" cy="292608"/>
          </a:xfrm>
          <a:prstGeom prst="rect">
            <a:avLst/>
          </a:prstGeom>
          <a:noFill/>
          <a:ln/>
        </p:spPr>
        <p:txBody>
          <a:bodyPr wrap="square" lIns="0" tIns="0" rIns="0" bIns="0" rtlCol="0" anchor="ctr"/>
          <a:lstStyle/>
          <a:p>
            <a:pPr indent="0" marL="0">
              <a:buNone/>
            </a:pPr>
            <a:r>
              <a:rPr lang="en-US" sz="1250" b="1" dirty="0">
                <a:solidFill>
                  <a:srgbClr val="F0245E"/>
                </a:solidFill>
                <a:latin typeface="Arial" pitchFamily="34" charset="0"/>
                <a:ea typeface="Arial" pitchFamily="34" charset="-122"/>
                <a:cs typeface="Arial" pitchFamily="34" charset="-120"/>
              </a:rPr>
              <a:t>DBP C2 is the weakest of the four on seniors</a:t>
            </a:r>
            <a:endParaRPr lang="en-US" sz="1250" dirty="0"/>
          </a:p>
        </p:txBody>
      </p:sp>
      <p:sp>
        <p:nvSpPr>
          <p:cNvPr id="10" name="Text 8"/>
          <p:cNvSpPr/>
          <p:nvPr/>
        </p:nvSpPr>
        <p:spPr>
          <a:xfrm>
            <a:off x="795528" y="2304288"/>
            <a:ext cx="10515600" cy="329184"/>
          </a:xfrm>
          <a:prstGeom prst="rect">
            <a:avLst/>
          </a:prstGeom>
          <a:noFill/>
          <a:ln/>
        </p:spPr>
        <p:txBody>
          <a:bodyPr wrap="square" lIns="0" tIns="0" rIns="0" bIns="0" rtlCol="0" anchor="t"/>
          <a:lstStyle/>
          <a:p>
            <a:pPr indent="0" marL="0">
              <a:buNone/>
            </a:pPr>
            <a:r>
              <a:rPr lang="en-US" sz="1050" dirty="0">
                <a:solidFill>
                  <a:srgbClr val="5A6484"/>
                </a:solidFill>
                <a:latin typeface="Arial" pitchFamily="34" charset="0"/>
                <a:ea typeface="Arial" pitchFamily="34" charset="-122"/>
                <a:cs typeface="Arial" pitchFamily="34" charset="-120"/>
              </a:rPr>
              <a:t>Index 70.4. Nineteen eldercare facilities and 27 community clubs, against DBP C1’s 37 and 39. If seniors are a priority audience — and for a mental-health hotline they usually are — this package does not serve them.</a:t>
            </a:r>
            <a:endParaRPr lang="en-US" sz="1050" dirty="0"/>
          </a:p>
        </p:txBody>
      </p:sp>
      <p:sp>
        <p:nvSpPr>
          <p:cNvPr id="11" name="Shape 9"/>
          <p:cNvSpPr/>
          <p:nvPr/>
        </p:nvSpPr>
        <p:spPr>
          <a:xfrm>
            <a:off x="502920" y="2779776"/>
            <a:ext cx="11183112" cy="786384"/>
          </a:xfrm>
          <a:prstGeom prst="roundRect">
            <a:avLst>
              <a:gd name="adj" fmla="val 10465"/>
            </a:avLst>
          </a:prstGeom>
          <a:solidFill>
            <a:srgbClr val="FFFFFF"/>
          </a:solidFill>
          <a:ln w="12700">
            <a:solidFill>
              <a:srgbClr val="D8DDE9"/>
            </a:solidFill>
            <a:prstDash val="solid"/>
          </a:ln>
        </p:spPr>
      </p:sp>
      <p:sp>
        <p:nvSpPr>
          <p:cNvPr id="12" name="Text 10"/>
          <p:cNvSpPr/>
          <p:nvPr/>
        </p:nvSpPr>
        <p:spPr>
          <a:xfrm>
            <a:off x="795528" y="2871216"/>
            <a:ext cx="10515600" cy="292608"/>
          </a:xfrm>
          <a:prstGeom prst="rect">
            <a:avLst/>
          </a:prstGeom>
          <a:noFill/>
          <a:ln/>
        </p:spPr>
        <p:txBody>
          <a:bodyPr wrap="square" lIns="0" tIns="0" rIns="0" bIns="0" rtlCol="0" anchor="ctr"/>
          <a:lstStyle/>
          <a:p>
            <a:pPr indent="0" marL="0">
              <a:buNone/>
            </a:pPr>
            <a:r>
              <a:rPr lang="en-US" sz="1250" b="1" dirty="0">
                <a:solidFill>
                  <a:srgbClr val="1B2D8A"/>
                </a:solidFill>
                <a:latin typeface="Arial" pitchFamily="34" charset="0"/>
                <a:ea typeface="Arial" pitchFamily="34" charset="-122"/>
                <a:cs typeface="Arial" pitchFamily="34" charset="-120"/>
              </a:rPr>
              <a:t>It loses to both contenders under every weighting</a:t>
            </a:r>
            <a:endParaRPr lang="en-US" sz="1250" dirty="0"/>
          </a:p>
        </p:txBody>
      </p:sp>
      <p:sp>
        <p:nvSpPr>
          <p:cNvPr id="13" name="Text 11"/>
          <p:cNvSpPr/>
          <p:nvPr/>
        </p:nvSpPr>
        <p:spPr>
          <a:xfrm>
            <a:off x="795528" y="3163824"/>
            <a:ext cx="10515600" cy="329184"/>
          </a:xfrm>
          <a:prstGeom prst="rect">
            <a:avLst/>
          </a:prstGeom>
          <a:noFill/>
          <a:ln/>
        </p:spPr>
        <p:txBody>
          <a:bodyPr wrap="square" lIns="0" tIns="0" rIns="0" bIns="0" rtlCol="0" anchor="t"/>
          <a:lstStyle/>
          <a:p>
            <a:pPr indent="0" marL="0">
              <a:buNone/>
            </a:pPr>
            <a:r>
              <a:rPr lang="en-US" sz="1050" dirty="0">
                <a:solidFill>
                  <a:srgbClr val="5A6484"/>
                </a:solidFill>
                <a:latin typeface="Arial" pitchFamily="34" charset="0"/>
                <a:ea typeface="Arial" pitchFamily="34" charset="-122"/>
                <a:cs typeface="Arial" pitchFamily="34" charset="-120"/>
              </a:rPr>
              <a:t>Overall 82.9 against DBP C1’s 93.8 and DBP L2’s 93.3, under all six weightings tested. There is no way of scoring the brief that puts DBP C2 first.</a:t>
            </a:r>
            <a:endParaRPr lang="en-US" sz="1050" dirty="0"/>
          </a:p>
        </p:txBody>
      </p:sp>
      <p:sp>
        <p:nvSpPr>
          <p:cNvPr id="14" name="Shape 12"/>
          <p:cNvSpPr/>
          <p:nvPr/>
        </p:nvSpPr>
        <p:spPr>
          <a:xfrm>
            <a:off x="502920" y="3639312"/>
            <a:ext cx="11183112" cy="786384"/>
          </a:xfrm>
          <a:prstGeom prst="roundRect">
            <a:avLst>
              <a:gd name="adj" fmla="val 10465"/>
            </a:avLst>
          </a:prstGeom>
          <a:solidFill>
            <a:srgbClr val="FFFFFF"/>
          </a:solidFill>
          <a:ln w="12700">
            <a:solidFill>
              <a:srgbClr val="D8DDE9"/>
            </a:solidFill>
            <a:prstDash val="solid"/>
          </a:ln>
        </p:spPr>
      </p:sp>
      <p:sp>
        <p:nvSpPr>
          <p:cNvPr id="15" name="Text 13"/>
          <p:cNvSpPr/>
          <p:nvPr/>
        </p:nvSpPr>
        <p:spPr>
          <a:xfrm>
            <a:off x="795528" y="3730752"/>
            <a:ext cx="10515600" cy="292608"/>
          </a:xfrm>
          <a:prstGeom prst="rect">
            <a:avLst/>
          </a:prstGeom>
          <a:noFill/>
          <a:ln/>
        </p:spPr>
        <p:txBody>
          <a:bodyPr wrap="square" lIns="0" tIns="0" rIns="0" bIns="0" rtlCol="0" anchor="ctr"/>
          <a:lstStyle/>
          <a:p>
            <a:pPr indent="0" marL="0">
              <a:buNone/>
            </a:pPr>
            <a:r>
              <a:rPr lang="en-US" sz="1250" b="1" dirty="0">
                <a:solidFill>
                  <a:srgbClr val="1B2D8A"/>
                </a:solidFill>
                <a:latin typeface="Arial" pitchFamily="34" charset="0"/>
                <a:ea typeface="Arial" pitchFamily="34" charset="-122"/>
                <a:cs typeface="Arial" pitchFamily="34" charset="-120"/>
              </a:rPr>
              <a:t>Effectively no North Region coverage</a:t>
            </a:r>
            <a:endParaRPr lang="en-US" sz="1250" dirty="0"/>
          </a:p>
        </p:txBody>
      </p:sp>
      <p:sp>
        <p:nvSpPr>
          <p:cNvPr id="16" name="Text 14"/>
          <p:cNvSpPr/>
          <p:nvPr/>
        </p:nvSpPr>
        <p:spPr>
          <a:xfrm>
            <a:off x="795528" y="4023360"/>
            <a:ext cx="10515600" cy="329184"/>
          </a:xfrm>
          <a:prstGeom prst="rect">
            <a:avLst/>
          </a:prstGeom>
          <a:noFill/>
          <a:ln/>
        </p:spPr>
        <p:txBody>
          <a:bodyPr wrap="square" lIns="0" tIns="0" rIns="0" bIns="0" rtlCol="0" anchor="t"/>
          <a:lstStyle/>
          <a:p>
            <a:pPr indent="0" marL="0">
              <a:buNone/>
            </a:pPr>
            <a:r>
              <a:rPr lang="en-US" sz="1050" dirty="0">
                <a:solidFill>
                  <a:srgbClr val="5A6484"/>
                </a:solidFill>
                <a:latin typeface="Arial" pitchFamily="34" charset="0"/>
                <a:ea typeface="Arial" pitchFamily="34" charset="-122"/>
                <a:cs typeface="Arial" pitchFamily="34" charset="-120"/>
              </a:rPr>
              <a:t>0.3% of weekday boardings. Like DBP L2 it carries neither 117 nor 85, the only two northern routes in the pool.</a:t>
            </a:r>
            <a:endParaRPr lang="en-US" sz="1050" dirty="0"/>
          </a:p>
        </p:txBody>
      </p:sp>
      <p:sp>
        <p:nvSpPr>
          <p:cNvPr id="17" name="Shape 15"/>
          <p:cNvSpPr/>
          <p:nvPr/>
        </p:nvSpPr>
        <p:spPr>
          <a:xfrm>
            <a:off x="502920" y="4498848"/>
            <a:ext cx="11183112" cy="786384"/>
          </a:xfrm>
          <a:prstGeom prst="roundRect">
            <a:avLst>
              <a:gd name="adj" fmla="val 10465"/>
            </a:avLst>
          </a:prstGeom>
          <a:solidFill>
            <a:srgbClr val="FFFFFF"/>
          </a:solidFill>
          <a:ln w="12700">
            <a:solidFill>
              <a:srgbClr val="D8DDE9"/>
            </a:solidFill>
            <a:prstDash val="solid"/>
          </a:ln>
        </p:spPr>
      </p:sp>
      <p:sp>
        <p:nvSpPr>
          <p:cNvPr id="18" name="Text 16"/>
          <p:cNvSpPr/>
          <p:nvPr/>
        </p:nvSpPr>
        <p:spPr>
          <a:xfrm>
            <a:off x="795528" y="4590288"/>
            <a:ext cx="10515600" cy="292608"/>
          </a:xfrm>
          <a:prstGeom prst="rect">
            <a:avLst/>
          </a:prstGeom>
          <a:noFill/>
          <a:ln/>
        </p:spPr>
        <p:txBody>
          <a:bodyPr wrap="square" lIns="0" tIns="0" rIns="0" bIns="0" rtlCol="0" anchor="ctr"/>
          <a:lstStyle/>
          <a:p>
            <a:pPr indent="0" marL="0">
              <a:buNone/>
            </a:pPr>
            <a:r>
              <a:rPr lang="en-US" sz="1250" b="1" dirty="0">
                <a:solidFill>
                  <a:srgbClr val="1B2D8A"/>
                </a:solidFill>
                <a:latin typeface="Arial" pitchFamily="34" charset="0"/>
                <a:ea typeface="Arial" pitchFamily="34" charset="-122"/>
                <a:cs typeface="Arial" pitchFamily="34" charset="-120"/>
              </a:rPr>
              <a:t>Boardings are not impressions</a:t>
            </a:r>
            <a:endParaRPr lang="en-US" sz="1250" dirty="0"/>
          </a:p>
        </p:txBody>
      </p:sp>
      <p:sp>
        <p:nvSpPr>
          <p:cNvPr id="19" name="Text 17"/>
          <p:cNvSpPr/>
          <p:nvPr/>
        </p:nvSpPr>
        <p:spPr>
          <a:xfrm>
            <a:off x="795528" y="4882896"/>
            <a:ext cx="10515600" cy="329184"/>
          </a:xfrm>
          <a:prstGeom prst="rect">
            <a:avLst/>
          </a:prstGeom>
          <a:noFill/>
          <a:ln/>
        </p:spPr>
        <p:txBody>
          <a:bodyPr wrap="square" lIns="0" tIns="0" rIns="0" bIns="0" rtlCol="0" anchor="t"/>
          <a:lstStyle/>
          <a:p>
            <a:pPr indent="0" marL="0">
              <a:buNone/>
            </a:pPr>
            <a:r>
              <a:rPr lang="en-US" sz="1050" dirty="0">
                <a:solidFill>
                  <a:srgbClr val="5A6484"/>
                </a:solidFill>
                <a:latin typeface="Arial" pitchFamily="34" charset="0"/>
                <a:ea typeface="Arial" pitchFamily="34" charset="-122"/>
                <a:cs typeface="Arial" pitchFamily="34" charset="-120"/>
              </a:rPr>
              <a:t>The volume data counts people boarding at a stop. A bus ad is seen along the whole corridor by people who never board. It is a sound basis for comparing sets — it is not a reach guarantee, and we will not quote it as one.</a:t>
            </a:r>
            <a:endParaRPr lang="en-US" sz="1050" dirty="0"/>
          </a:p>
        </p:txBody>
      </p:sp>
      <p:sp>
        <p:nvSpPr>
          <p:cNvPr id="20" name="Shape 18"/>
          <p:cNvSpPr/>
          <p:nvPr/>
        </p:nvSpPr>
        <p:spPr>
          <a:xfrm>
            <a:off x="502920" y="5358384"/>
            <a:ext cx="11183112" cy="786384"/>
          </a:xfrm>
          <a:prstGeom prst="roundRect">
            <a:avLst>
              <a:gd name="adj" fmla="val 10465"/>
            </a:avLst>
          </a:prstGeom>
          <a:solidFill>
            <a:srgbClr val="FFFFFF"/>
          </a:solidFill>
          <a:ln w="12700">
            <a:solidFill>
              <a:srgbClr val="D8DDE9"/>
            </a:solidFill>
            <a:prstDash val="solid"/>
          </a:ln>
        </p:spPr>
      </p:sp>
      <p:sp>
        <p:nvSpPr>
          <p:cNvPr id="21" name="Text 19"/>
          <p:cNvSpPr/>
          <p:nvPr/>
        </p:nvSpPr>
        <p:spPr>
          <a:xfrm>
            <a:off x="795528" y="5449824"/>
            <a:ext cx="10515600" cy="292608"/>
          </a:xfrm>
          <a:prstGeom prst="rect">
            <a:avLst/>
          </a:prstGeom>
          <a:noFill/>
          <a:ln/>
        </p:spPr>
        <p:txBody>
          <a:bodyPr wrap="square" lIns="0" tIns="0" rIns="0" bIns="0" rtlCol="0" anchor="ctr"/>
          <a:lstStyle/>
          <a:p>
            <a:pPr indent="0" marL="0">
              <a:buNone/>
            </a:pPr>
            <a:r>
              <a:rPr lang="en-US" sz="1250" b="1" dirty="0">
                <a:solidFill>
                  <a:srgbClr val="1B2D8A"/>
                </a:solidFill>
                <a:latin typeface="Arial" pitchFamily="34" charset="0"/>
                <a:ea typeface="Arial" pitchFamily="34" charset="-122"/>
                <a:cs typeface="Arial" pitchFamily="34" charset="-120"/>
              </a:rPr>
              <a:t>Dayparts are assumptions, not measurements</a:t>
            </a:r>
            <a:endParaRPr lang="en-US" sz="1250" dirty="0"/>
          </a:p>
        </p:txBody>
      </p:sp>
      <p:sp>
        <p:nvSpPr>
          <p:cNvPr id="22" name="Text 20"/>
          <p:cNvSpPr/>
          <p:nvPr/>
        </p:nvSpPr>
        <p:spPr>
          <a:xfrm>
            <a:off x="795528" y="5742432"/>
            <a:ext cx="10515600" cy="329184"/>
          </a:xfrm>
          <a:prstGeom prst="rect">
            <a:avLst/>
          </a:prstGeom>
          <a:noFill/>
          <a:ln/>
        </p:spPr>
        <p:txBody>
          <a:bodyPr wrap="square" lIns="0" tIns="0" rIns="0" bIns="0" rtlCol="0" anchor="t"/>
          <a:lstStyle/>
          <a:p>
            <a:pPr indent="0" marL="0">
              <a:buNone/>
            </a:pPr>
            <a:r>
              <a:rPr lang="en-US" sz="1050" dirty="0">
                <a:solidFill>
                  <a:srgbClr val="5A6484"/>
                </a:solidFill>
                <a:latin typeface="Arial" pitchFamily="34" charset="0"/>
                <a:ea typeface="Arial" pitchFamily="34" charset="-122"/>
                <a:cs typeface="Arial" pitchFamily="34" charset="-120"/>
              </a:rPr>
              <a:t>Set from institution operating hours, not from an hourly boarding curve, which this dataset does not carry.</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2D8A"/>
        </a:solidFill>
      </p:bgPr>
    </p:bg>
    <p:spTree>
      <p:nvGrpSpPr>
        <p:cNvPr id="1" name=""/>
        <p:cNvGrpSpPr/>
        <p:nvPr/>
      </p:nvGrpSpPr>
      <p:grpSpPr>
        <a:xfrm>
          <a:off x="0" y="0"/>
          <a:ext cx="0" cy="0"/>
          <a:chOff x="0" y="0"/>
          <a:chExt cx="0" cy="0"/>
        </a:xfrm>
      </p:grpSpPr>
      <p:sp>
        <p:nvSpPr>
          <p:cNvPr id="2" name="Shape 0"/>
          <p:cNvSpPr/>
          <p:nvPr/>
        </p:nvSpPr>
        <p:spPr>
          <a:xfrm>
            <a:off x="8321040" y="2103120"/>
            <a:ext cx="6035040" cy="6035040"/>
          </a:xfrm>
          <a:prstGeom prst="roundRect">
            <a:avLst>
              <a:gd name="adj" fmla="val 50000"/>
            </a:avLst>
          </a:prstGeom>
          <a:solidFill>
            <a:srgbClr val="111A3E"/>
          </a:solidFill>
          <a:ln/>
        </p:spPr>
      </p:sp>
      <p:sp>
        <p:nvSpPr>
          <p:cNvPr id="3" name="Shape 1"/>
          <p:cNvSpPr/>
          <p:nvPr/>
        </p:nvSpPr>
        <p:spPr>
          <a:xfrm>
            <a:off x="502920" y="502920"/>
            <a:ext cx="1541678" cy="310896"/>
          </a:xfrm>
          <a:prstGeom prst="roundRect">
            <a:avLst>
              <a:gd name="adj" fmla="val 50000"/>
            </a:avLst>
          </a:prstGeom>
          <a:solidFill>
            <a:srgbClr val="F0245E"/>
          </a:solidFill>
          <a:ln/>
        </p:spPr>
      </p:sp>
      <p:sp>
        <p:nvSpPr>
          <p:cNvPr id="4" name="Text 2"/>
          <p:cNvSpPr/>
          <p:nvPr/>
        </p:nvSpPr>
        <p:spPr>
          <a:xfrm>
            <a:off x="502920" y="502920"/>
            <a:ext cx="1541678" cy="310896"/>
          </a:xfrm>
          <a:prstGeom prst="rect">
            <a:avLst/>
          </a:prstGeom>
          <a:noFill/>
          <a:ln/>
        </p:spPr>
        <p:txBody>
          <a:bodyPr wrap="square" lIns="0" tIns="0" rIns="0" bIns="0" rtlCol="0" anchor="ctr"/>
          <a:lstStyle/>
          <a:p>
            <a:pPr algn="ctr" indent="0" marL="0">
              <a:buNone/>
            </a:pPr>
            <a:r>
              <a:rPr lang="en-US" sz="950" b="1" spc="130" kern="0" dirty="0">
                <a:solidFill>
                  <a:srgbClr val="FFFFFF"/>
                </a:solidFill>
                <a:latin typeface="Arial" pitchFamily="34" charset="0"/>
                <a:ea typeface="Arial" pitchFamily="34" charset="-122"/>
                <a:cs typeface="Arial" pitchFamily="34" charset="-120"/>
              </a:rPr>
              <a:t>DBP C2 · NEXT</a:t>
            </a:r>
            <a:endParaRPr lang="en-US" sz="950" dirty="0"/>
          </a:p>
        </p:txBody>
      </p:sp>
      <p:sp>
        <p:nvSpPr>
          <p:cNvPr id="5" name="Text 3"/>
          <p:cNvSpPr/>
          <p:nvPr/>
        </p:nvSpPr>
        <p:spPr>
          <a:xfrm>
            <a:off x="484632" y="1005840"/>
            <a:ext cx="8686800" cy="77724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The alternative: DBP C2</a:t>
            </a:r>
            <a:endParaRPr lang="en-US" sz="4000" dirty="0"/>
          </a:p>
        </p:txBody>
      </p:sp>
      <p:sp>
        <p:nvSpPr>
          <p:cNvPr id="6" name="Shape 4"/>
          <p:cNvSpPr/>
          <p:nvPr/>
        </p:nvSpPr>
        <p:spPr>
          <a:xfrm>
            <a:off x="502920" y="1965960"/>
            <a:ext cx="841248" cy="502920"/>
          </a:xfrm>
          <a:prstGeom prst="roundRect">
            <a:avLst>
              <a:gd name="adj" fmla="val 12727"/>
            </a:avLst>
          </a:prstGeom>
          <a:solidFill>
            <a:srgbClr val="FFFFFF"/>
          </a:solidFill>
          <a:ln w="15875">
            <a:solidFill>
              <a:srgbClr val="FFFFFF"/>
            </a:solidFill>
            <a:prstDash val="solid"/>
          </a:ln>
        </p:spPr>
      </p:sp>
      <p:sp>
        <p:nvSpPr>
          <p:cNvPr id="7" name="Text 5"/>
          <p:cNvSpPr/>
          <p:nvPr/>
        </p:nvSpPr>
        <p:spPr>
          <a:xfrm>
            <a:off x="502920" y="1965960"/>
            <a:ext cx="841248" cy="502920"/>
          </a:xfrm>
          <a:prstGeom prst="rect">
            <a:avLst/>
          </a:prstGeom>
          <a:noFill/>
          <a:ln/>
        </p:spPr>
        <p:txBody>
          <a:bodyPr wrap="square" lIns="0" tIns="0" rIns="0" bIns="0" rtlCol="0" anchor="ctr"/>
          <a:lstStyle/>
          <a:p>
            <a:pPr algn="ctr" indent="0" marL="0">
              <a:buNone/>
            </a:pPr>
            <a:r>
              <a:rPr lang="en-US" sz="1900" b="1" dirty="0">
                <a:solidFill>
                  <a:srgbClr val="1B2D8A"/>
                </a:solidFill>
                <a:latin typeface="Arial" pitchFamily="34" charset="0"/>
                <a:ea typeface="Arial" pitchFamily="34" charset="-122"/>
                <a:cs typeface="Arial" pitchFamily="34" charset="-120"/>
              </a:rPr>
              <a:t>972</a:t>
            </a:r>
            <a:endParaRPr lang="en-US" sz="1900" dirty="0"/>
          </a:p>
        </p:txBody>
      </p:sp>
      <p:sp>
        <p:nvSpPr>
          <p:cNvPr id="8" name="Shape 6"/>
          <p:cNvSpPr/>
          <p:nvPr/>
        </p:nvSpPr>
        <p:spPr>
          <a:xfrm>
            <a:off x="1472184" y="1965960"/>
            <a:ext cx="841248" cy="502920"/>
          </a:xfrm>
          <a:prstGeom prst="roundRect">
            <a:avLst>
              <a:gd name="adj" fmla="val 12727"/>
            </a:avLst>
          </a:prstGeom>
          <a:solidFill>
            <a:srgbClr val="FFFFFF"/>
          </a:solidFill>
          <a:ln w="15875">
            <a:solidFill>
              <a:srgbClr val="FFFFFF"/>
            </a:solidFill>
            <a:prstDash val="solid"/>
          </a:ln>
        </p:spPr>
      </p:sp>
      <p:sp>
        <p:nvSpPr>
          <p:cNvPr id="9" name="Text 7"/>
          <p:cNvSpPr/>
          <p:nvPr/>
        </p:nvSpPr>
        <p:spPr>
          <a:xfrm>
            <a:off x="1472184" y="1965960"/>
            <a:ext cx="841248" cy="502920"/>
          </a:xfrm>
          <a:prstGeom prst="rect">
            <a:avLst/>
          </a:prstGeom>
          <a:noFill/>
          <a:ln/>
        </p:spPr>
        <p:txBody>
          <a:bodyPr wrap="square" lIns="0" tIns="0" rIns="0" bIns="0" rtlCol="0" anchor="ctr"/>
          <a:lstStyle/>
          <a:p>
            <a:pPr algn="ctr" indent="0" marL="0">
              <a:buNone/>
            </a:pPr>
            <a:r>
              <a:rPr lang="en-US" sz="1900" b="1" dirty="0">
                <a:solidFill>
                  <a:srgbClr val="1B2D8A"/>
                </a:solidFill>
                <a:latin typeface="Arial" pitchFamily="34" charset="0"/>
                <a:ea typeface="Arial" pitchFamily="34" charset="-122"/>
                <a:cs typeface="Arial" pitchFamily="34" charset="-120"/>
              </a:rPr>
              <a:t>97</a:t>
            </a:r>
            <a:endParaRPr lang="en-US" sz="1900" dirty="0"/>
          </a:p>
        </p:txBody>
      </p:sp>
      <p:sp>
        <p:nvSpPr>
          <p:cNvPr id="10" name="Shape 8"/>
          <p:cNvSpPr/>
          <p:nvPr/>
        </p:nvSpPr>
        <p:spPr>
          <a:xfrm>
            <a:off x="2441448" y="1965960"/>
            <a:ext cx="841248" cy="502920"/>
          </a:xfrm>
          <a:prstGeom prst="roundRect">
            <a:avLst>
              <a:gd name="adj" fmla="val 12727"/>
            </a:avLst>
          </a:prstGeom>
          <a:solidFill>
            <a:srgbClr val="FFFFFF"/>
          </a:solidFill>
          <a:ln w="15875">
            <a:solidFill>
              <a:srgbClr val="FFFFFF"/>
            </a:solidFill>
            <a:prstDash val="solid"/>
          </a:ln>
        </p:spPr>
      </p:sp>
      <p:sp>
        <p:nvSpPr>
          <p:cNvPr id="11" name="Text 9"/>
          <p:cNvSpPr/>
          <p:nvPr/>
        </p:nvSpPr>
        <p:spPr>
          <a:xfrm>
            <a:off x="2441448" y="1965960"/>
            <a:ext cx="841248" cy="502920"/>
          </a:xfrm>
          <a:prstGeom prst="rect">
            <a:avLst/>
          </a:prstGeom>
          <a:noFill/>
          <a:ln/>
        </p:spPr>
        <p:txBody>
          <a:bodyPr wrap="square" lIns="0" tIns="0" rIns="0" bIns="0" rtlCol="0" anchor="ctr"/>
          <a:lstStyle/>
          <a:p>
            <a:pPr algn="ctr" indent="0" marL="0">
              <a:buNone/>
            </a:pPr>
            <a:r>
              <a:rPr lang="en-US" sz="1900" b="1" dirty="0">
                <a:solidFill>
                  <a:srgbClr val="1B2D8A"/>
                </a:solidFill>
                <a:latin typeface="Arial" pitchFamily="34" charset="0"/>
                <a:ea typeface="Arial" pitchFamily="34" charset="-122"/>
                <a:cs typeface="Arial" pitchFamily="34" charset="-120"/>
              </a:rPr>
              <a:t>130</a:t>
            </a:r>
            <a:endParaRPr lang="en-US" sz="1900" dirty="0"/>
          </a:p>
        </p:txBody>
      </p:sp>
      <p:sp>
        <p:nvSpPr>
          <p:cNvPr id="12" name="Shape 10"/>
          <p:cNvSpPr/>
          <p:nvPr/>
        </p:nvSpPr>
        <p:spPr>
          <a:xfrm>
            <a:off x="3410712" y="1965960"/>
            <a:ext cx="841248" cy="502920"/>
          </a:xfrm>
          <a:prstGeom prst="roundRect">
            <a:avLst>
              <a:gd name="adj" fmla="val 12727"/>
            </a:avLst>
          </a:prstGeom>
          <a:solidFill>
            <a:srgbClr val="FFFFFF"/>
          </a:solidFill>
          <a:ln w="15875">
            <a:solidFill>
              <a:srgbClr val="FFFFFF"/>
            </a:solidFill>
            <a:prstDash val="solid"/>
          </a:ln>
        </p:spPr>
      </p:sp>
      <p:sp>
        <p:nvSpPr>
          <p:cNvPr id="13" name="Text 11"/>
          <p:cNvSpPr/>
          <p:nvPr/>
        </p:nvSpPr>
        <p:spPr>
          <a:xfrm>
            <a:off x="3410712" y="1965960"/>
            <a:ext cx="841248" cy="502920"/>
          </a:xfrm>
          <a:prstGeom prst="rect">
            <a:avLst/>
          </a:prstGeom>
          <a:noFill/>
          <a:ln/>
        </p:spPr>
        <p:txBody>
          <a:bodyPr wrap="square" lIns="0" tIns="0" rIns="0" bIns="0" rtlCol="0" anchor="ctr"/>
          <a:lstStyle/>
          <a:p>
            <a:pPr algn="ctr" indent="0" marL="0">
              <a:buNone/>
            </a:pPr>
            <a:r>
              <a:rPr lang="en-US" sz="1900" b="1" dirty="0">
                <a:solidFill>
                  <a:srgbClr val="1B2D8A"/>
                </a:solidFill>
                <a:latin typeface="Arial" pitchFamily="34" charset="0"/>
                <a:ea typeface="Arial" pitchFamily="34" charset="-122"/>
                <a:cs typeface="Arial" pitchFamily="34" charset="-120"/>
              </a:rPr>
              <a:t>89</a:t>
            </a:r>
            <a:endParaRPr lang="en-US" sz="1900" dirty="0"/>
          </a:p>
        </p:txBody>
      </p:sp>
      <p:sp>
        <p:nvSpPr>
          <p:cNvPr id="14" name="Shape 12"/>
          <p:cNvSpPr/>
          <p:nvPr/>
        </p:nvSpPr>
        <p:spPr>
          <a:xfrm>
            <a:off x="4379976" y="1965960"/>
            <a:ext cx="841248" cy="502920"/>
          </a:xfrm>
          <a:prstGeom prst="roundRect">
            <a:avLst>
              <a:gd name="adj" fmla="val 12727"/>
            </a:avLst>
          </a:prstGeom>
          <a:solidFill>
            <a:srgbClr val="FFFFFF"/>
          </a:solidFill>
          <a:ln w="15875">
            <a:solidFill>
              <a:srgbClr val="FFFFFF"/>
            </a:solidFill>
            <a:prstDash val="solid"/>
          </a:ln>
        </p:spPr>
      </p:sp>
      <p:sp>
        <p:nvSpPr>
          <p:cNvPr id="15" name="Text 13"/>
          <p:cNvSpPr/>
          <p:nvPr/>
        </p:nvSpPr>
        <p:spPr>
          <a:xfrm>
            <a:off x="4379976" y="1965960"/>
            <a:ext cx="841248" cy="502920"/>
          </a:xfrm>
          <a:prstGeom prst="rect">
            <a:avLst/>
          </a:prstGeom>
          <a:noFill/>
          <a:ln/>
        </p:spPr>
        <p:txBody>
          <a:bodyPr wrap="square" lIns="0" tIns="0" rIns="0" bIns="0" rtlCol="0" anchor="ctr"/>
          <a:lstStyle/>
          <a:p>
            <a:pPr algn="ctr" indent="0" marL="0">
              <a:buNone/>
            </a:pPr>
            <a:r>
              <a:rPr lang="en-US" sz="1900" b="1" dirty="0">
                <a:solidFill>
                  <a:srgbClr val="1B2D8A"/>
                </a:solidFill>
                <a:latin typeface="Arial" pitchFamily="34" charset="0"/>
                <a:ea typeface="Arial" pitchFamily="34" charset="-122"/>
                <a:cs typeface="Arial" pitchFamily="34" charset="-120"/>
              </a:rPr>
              <a:t>43</a:t>
            </a:r>
            <a:endParaRPr lang="en-US" sz="1900" dirty="0"/>
          </a:p>
        </p:txBody>
      </p:sp>
      <p:sp>
        <p:nvSpPr>
          <p:cNvPr id="16" name="Shape 14"/>
          <p:cNvSpPr/>
          <p:nvPr/>
        </p:nvSpPr>
        <p:spPr>
          <a:xfrm>
            <a:off x="502920" y="2834640"/>
            <a:ext cx="402336" cy="402336"/>
          </a:xfrm>
          <a:prstGeom prst="roundRect">
            <a:avLst>
              <a:gd name="adj" fmla="val 50000"/>
            </a:avLst>
          </a:prstGeom>
          <a:solidFill>
            <a:srgbClr val="F0245E"/>
          </a:solidFill>
          <a:ln/>
        </p:spPr>
      </p:sp>
      <p:sp>
        <p:nvSpPr>
          <p:cNvPr id="17" name="Text 15"/>
          <p:cNvSpPr/>
          <p:nvPr/>
        </p:nvSpPr>
        <p:spPr>
          <a:xfrm>
            <a:off x="502920" y="2834640"/>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8" name="Text 16"/>
          <p:cNvSpPr/>
          <p:nvPr/>
        </p:nvSpPr>
        <p:spPr>
          <a:xfrm>
            <a:off x="1069848" y="2816352"/>
            <a:ext cx="694944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Only take this if the brief is schools-led</a:t>
            </a:r>
            <a:endParaRPr lang="en-US" sz="1400" dirty="0"/>
          </a:p>
        </p:txBody>
      </p:sp>
      <p:sp>
        <p:nvSpPr>
          <p:cNvPr id="19" name="Text 17"/>
          <p:cNvSpPr/>
          <p:nvPr/>
        </p:nvSpPr>
        <p:spPr>
          <a:xfrm>
            <a:off x="1069848" y="3108960"/>
            <a:ext cx="6949440" cy="457200"/>
          </a:xfrm>
          <a:prstGeom prst="rect">
            <a:avLst/>
          </a:prstGeom>
          <a:noFill/>
          <a:ln/>
        </p:spPr>
        <p:txBody>
          <a:bodyPr wrap="square" lIns="0" tIns="0" rIns="0" bIns="0" rtlCol="0" anchor="t"/>
          <a:lstStyle/>
          <a:p>
            <a:pPr indent="0" marL="0">
              <a:buNone/>
            </a:pPr>
            <a:r>
              <a:rPr lang="en-US" sz="1100" dirty="0">
                <a:solidFill>
                  <a:srgbClr val="9BA7D8"/>
                </a:solidFill>
                <a:latin typeface="Arial" pitchFamily="34" charset="0"/>
                <a:ea typeface="Arial" pitchFamily="34" charset="-122"/>
                <a:cs typeface="Arial" pitchFamily="34" charset="-120"/>
              </a:rPr>
              <a:t>DBP C2 is the strongest of the four on primary, secondary and junior colleges. On seniors it is the weakest. That is the whole decision.</a:t>
            </a:r>
            <a:endParaRPr lang="en-US" sz="1100" dirty="0"/>
          </a:p>
        </p:txBody>
      </p:sp>
      <p:sp>
        <p:nvSpPr>
          <p:cNvPr id="20" name="Shape 18"/>
          <p:cNvSpPr/>
          <p:nvPr/>
        </p:nvSpPr>
        <p:spPr>
          <a:xfrm>
            <a:off x="502920" y="3675888"/>
            <a:ext cx="402336" cy="402336"/>
          </a:xfrm>
          <a:prstGeom prst="roundRect">
            <a:avLst>
              <a:gd name="adj" fmla="val 50000"/>
            </a:avLst>
          </a:prstGeom>
          <a:solidFill>
            <a:srgbClr val="F0245E"/>
          </a:solidFill>
          <a:ln/>
        </p:spPr>
      </p:sp>
      <p:sp>
        <p:nvSpPr>
          <p:cNvPr id="21" name="Text 19"/>
          <p:cNvSpPr/>
          <p:nvPr/>
        </p:nvSpPr>
        <p:spPr>
          <a:xfrm>
            <a:off x="502920" y="3675888"/>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22" name="Text 20"/>
          <p:cNvSpPr/>
          <p:nvPr/>
        </p:nvSpPr>
        <p:spPr>
          <a:xfrm>
            <a:off x="1069848" y="3657600"/>
            <a:ext cx="694944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Pair it with a senior package</a:t>
            </a:r>
            <a:endParaRPr lang="en-US" sz="1400" dirty="0"/>
          </a:p>
        </p:txBody>
      </p:sp>
      <p:sp>
        <p:nvSpPr>
          <p:cNvPr id="23" name="Text 21"/>
          <p:cNvSpPr/>
          <p:nvPr/>
        </p:nvSpPr>
        <p:spPr>
          <a:xfrm>
            <a:off x="1069848" y="3950208"/>
            <a:ext cx="6949440" cy="457200"/>
          </a:xfrm>
          <a:prstGeom prst="rect">
            <a:avLst/>
          </a:prstGeom>
          <a:noFill/>
          <a:ln/>
        </p:spPr>
        <p:txBody>
          <a:bodyPr wrap="square" lIns="0" tIns="0" rIns="0" bIns="0" rtlCol="0" anchor="t"/>
          <a:lstStyle/>
          <a:p>
            <a:pPr indent="0" marL="0">
              <a:buNone/>
            </a:pPr>
            <a:r>
              <a:rPr lang="en-US" sz="1100" dirty="0">
                <a:solidFill>
                  <a:srgbClr val="9BA7D8"/>
                </a:solidFill>
                <a:latin typeface="Arial" pitchFamily="34" charset="0"/>
                <a:ea typeface="Arial" pitchFamily="34" charset="-122"/>
                <a:cs typeface="Arial" pitchFamily="34" charset="-120"/>
              </a:rPr>
              <a:t>DBP L2 is the natural partner — it leads the four on seniors exactly where DBP C2 trails.</a:t>
            </a:r>
            <a:endParaRPr lang="en-US" sz="1100" dirty="0"/>
          </a:p>
        </p:txBody>
      </p:sp>
      <p:sp>
        <p:nvSpPr>
          <p:cNvPr id="24" name="Shape 22"/>
          <p:cNvSpPr/>
          <p:nvPr/>
        </p:nvSpPr>
        <p:spPr>
          <a:xfrm>
            <a:off x="502920" y="4517136"/>
            <a:ext cx="402336" cy="402336"/>
          </a:xfrm>
          <a:prstGeom prst="roundRect">
            <a:avLst>
              <a:gd name="adj" fmla="val 50000"/>
            </a:avLst>
          </a:prstGeom>
          <a:solidFill>
            <a:srgbClr val="F0245E"/>
          </a:solidFill>
          <a:ln/>
        </p:spPr>
      </p:sp>
      <p:sp>
        <p:nvSpPr>
          <p:cNvPr id="25" name="Text 23"/>
          <p:cNvSpPr/>
          <p:nvPr/>
        </p:nvSpPr>
        <p:spPr>
          <a:xfrm>
            <a:off x="502920" y="451713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26" name="Text 24"/>
          <p:cNvSpPr/>
          <p:nvPr/>
        </p:nvSpPr>
        <p:spPr>
          <a:xfrm>
            <a:off x="1069848" y="4498848"/>
            <a:ext cx="694944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Use the IMH corridor deliberately</a:t>
            </a:r>
            <a:endParaRPr lang="en-US" sz="1400" dirty="0"/>
          </a:p>
        </p:txBody>
      </p:sp>
      <p:sp>
        <p:nvSpPr>
          <p:cNvPr id="27" name="Text 25"/>
          <p:cNvSpPr/>
          <p:nvPr/>
        </p:nvSpPr>
        <p:spPr>
          <a:xfrm>
            <a:off x="1069848" y="4791456"/>
            <a:ext cx="6949440" cy="457200"/>
          </a:xfrm>
          <a:prstGeom prst="rect">
            <a:avLst/>
          </a:prstGeom>
          <a:noFill/>
          <a:ln/>
        </p:spPr>
        <p:txBody>
          <a:bodyPr wrap="square" lIns="0" tIns="0" rIns="0" bIns="0" rtlCol="0" anchor="t"/>
          <a:lstStyle/>
          <a:p>
            <a:pPr indent="0" marL="0">
              <a:buNone/>
            </a:pPr>
            <a:r>
              <a:rPr lang="en-US" sz="1100" dirty="0">
                <a:solidFill>
                  <a:srgbClr val="9BA7D8"/>
                </a:solidFill>
                <a:latin typeface="Arial" pitchFamily="34" charset="0"/>
                <a:ea typeface="Arial" pitchFamily="34" charset="-122"/>
                <a:cs typeface="Arial" pitchFamily="34" charset="-120"/>
              </a:rPr>
              <a:t>DBP C2 is the only package with a stop within 400 m of the Institute of Mental Health. Creative there should assume an audience already in care, not one being introduced to the service.</a:t>
            </a:r>
            <a:endParaRPr lang="en-US" sz="1100" dirty="0"/>
          </a:p>
        </p:txBody>
      </p:sp>
      <p:sp>
        <p:nvSpPr>
          <p:cNvPr id="28" name="Shape 26"/>
          <p:cNvSpPr/>
          <p:nvPr/>
        </p:nvSpPr>
        <p:spPr>
          <a:xfrm>
            <a:off x="502920" y="5358384"/>
            <a:ext cx="402336" cy="402336"/>
          </a:xfrm>
          <a:prstGeom prst="roundRect">
            <a:avLst>
              <a:gd name="adj" fmla="val 50000"/>
            </a:avLst>
          </a:prstGeom>
          <a:solidFill>
            <a:srgbClr val="F0245E"/>
          </a:solidFill>
          <a:ln/>
        </p:spPr>
      </p:sp>
      <p:sp>
        <p:nvSpPr>
          <p:cNvPr id="29" name="Text 27"/>
          <p:cNvSpPr/>
          <p:nvPr/>
        </p:nvSpPr>
        <p:spPr>
          <a:xfrm>
            <a:off x="502920" y="5358384"/>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30" name="Text 28"/>
          <p:cNvSpPr/>
          <p:nvPr/>
        </p:nvSpPr>
        <p:spPr>
          <a:xfrm>
            <a:off x="1069848" y="5340096"/>
            <a:ext cx="694944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Brief five creative variants</a:t>
            </a:r>
            <a:endParaRPr lang="en-US" sz="1400" dirty="0"/>
          </a:p>
        </p:txBody>
      </p:sp>
      <p:sp>
        <p:nvSpPr>
          <p:cNvPr id="31" name="Text 29"/>
          <p:cNvSpPr/>
          <p:nvPr/>
        </p:nvSpPr>
        <p:spPr>
          <a:xfrm>
            <a:off x="1069848" y="5632704"/>
            <a:ext cx="6949440" cy="457200"/>
          </a:xfrm>
          <a:prstGeom prst="rect">
            <a:avLst/>
          </a:prstGeom>
          <a:noFill/>
          <a:ln/>
        </p:spPr>
        <p:txBody>
          <a:bodyPr wrap="square" lIns="0" tIns="0" rIns="0" bIns="0" rtlCol="0" anchor="t"/>
          <a:lstStyle/>
          <a:p>
            <a:pPr indent="0" marL="0">
              <a:buNone/>
            </a:pPr>
            <a:r>
              <a:rPr lang="en-US" sz="1100" dirty="0">
                <a:solidFill>
                  <a:srgbClr val="9BA7D8"/>
                </a:solidFill>
                <a:latin typeface="Arial" pitchFamily="34" charset="0"/>
                <a:ea typeface="Arial" pitchFamily="34" charset="-122"/>
                <a:cs typeface="Arial" pitchFamily="34" charset="-120"/>
              </a:rPr>
              <a:t>One per audience, per the dayparting on slide 11 and the vehicle split on slide 12.</a:t>
            </a:r>
            <a:endParaRPr lang="en-US" sz="1100" dirty="0"/>
          </a:p>
        </p:txBody>
      </p:sp>
      <p:sp>
        <p:nvSpPr>
          <p:cNvPr id="32" name="Text 30"/>
          <p:cNvSpPr/>
          <p:nvPr/>
        </p:nvSpPr>
        <p:spPr>
          <a:xfrm>
            <a:off x="502920" y="6016752"/>
            <a:ext cx="8046720" cy="310896"/>
          </a:xfrm>
          <a:prstGeom prst="rect">
            <a:avLst/>
          </a:prstGeom>
          <a:noFill/>
          <a:ln/>
        </p:spPr>
        <p:txBody>
          <a:bodyPr wrap="square" lIns="0" tIns="0" rIns="0" bIns="0" rtlCol="0" anchor="ctr"/>
          <a:lstStyle/>
          <a:p>
            <a:pPr indent="0" marL="0">
              <a:buNone/>
            </a:pPr>
            <a:r>
              <a:rPr lang="en-US" sz="950" i="1" dirty="0">
                <a:solidFill>
                  <a:srgbClr val="7C87BC"/>
                </a:solidFill>
                <a:latin typeface="Arial" pitchFamily="34" charset="0"/>
                <a:ea typeface="Arial" pitchFamily="34" charset="-122"/>
                <a:cs typeface="Arial" pitchFamily="34" charset="-120"/>
              </a:rPr>
              <a:t>Reproduce every figure in this deck — python3 tools/mindline_eval.py · tools/package_dco.py "DBP C2"</a:t>
            </a:r>
            <a:endParaRPr lang="en-US" sz="950" dirty="0"/>
          </a:p>
        </p:txBody>
      </p:sp>
      <p:sp>
        <p:nvSpPr>
          <p:cNvPr id="33" name="Text 31"/>
          <p:cNvSpPr/>
          <p:nvPr/>
        </p:nvSpPr>
        <p:spPr>
          <a:xfrm>
            <a:off x="9464040" y="6428232"/>
            <a:ext cx="2221992" cy="310896"/>
          </a:xfrm>
          <a:prstGeom prst="rect">
            <a:avLst/>
          </a:prstGeom>
          <a:noFill/>
          <a:ln/>
        </p:spPr>
        <p:txBody>
          <a:bodyPr wrap="square" lIns="0" tIns="0" rIns="0" bIns="0" rtlCol="0" anchor="ctr"/>
          <a:lstStyle/>
          <a:p>
            <a:pPr algn="r" indent="0" marL="0">
              <a:buNone/>
            </a:pPr>
            <a:r>
              <a:rPr lang="en-US" sz="1150" b="1" i="1" spc="100" kern="0" dirty="0">
                <a:solidFill>
                  <a:srgbClr val="FFFFFF"/>
                </a:solidFill>
                <a:latin typeface="Arial" pitchFamily="34" charset="0"/>
                <a:ea typeface="Arial" pitchFamily="34" charset="-122"/>
                <a:cs typeface="Arial" pitchFamily="34" charset="-120"/>
              </a:rPr>
              <a:t>MOOVE MEDIA</a:t>
            </a:r>
            <a:endParaRPr lang="en-US" sz="1150" dirty="0"/>
          </a:p>
        </p:txBody>
      </p:sp>
      <p:sp>
        <p:nvSpPr>
          <p:cNvPr id="34" name="Text 32"/>
          <p:cNvSpPr/>
          <p:nvPr/>
        </p:nvSpPr>
        <p:spPr>
          <a:xfrm>
            <a:off x="484632" y="6428232"/>
            <a:ext cx="548640" cy="310896"/>
          </a:xfrm>
          <a:prstGeom prst="rect">
            <a:avLst/>
          </a:prstGeom>
          <a:noFill/>
          <a:ln/>
        </p:spPr>
        <p:txBody>
          <a:bodyPr wrap="square" lIns="0" tIns="0" rIns="0" bIns="0" rtlCol="0" anchor="ctr"/>
          <a:lstStyle/>
          <a:p>
            <a:pPr indent="0" marL="0">
              <a:buNone/>
            </a:pPr>
            <a:r>
              <a:rPr lang="en-US" sz="1000" dirty="0">
                <a:solidFill>
                  <a:srgbClr val="7C87BC"/>
                </a:solidFill>
                <a:latin typeface="Arial" pitchFamily="34" charset="0"/>
                <a:ea typeface="Arial" pitchFamily="34" charset="-122"/>
                <a:cs typeface="Arial" pitchFamily="34" charset="-120"/>
              </a:rPr>
              <a:t>14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Moove Media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DBP C2 — mindline.sg hotline</dc:title>
  <dc:subject>PptxGenJS Presentation</dc:subject>
  <dc:creator>Moove Media</dc:creator>
  <cp:lastModifiedBy>Moove Media</cp:lastModifiedBy>
  <cp:revision>1</cp:revision>
  <dcterms:created xsi:type="dcterms:W3CDTF">2026-08-17T08:12:43Z</dcterms:created>
  <dcterms:modified xsi:type="dcterms:W3CDTF">2026-08-17T08:12:43Z</dcterms:modified>
</cp:coreProperties>
</file>
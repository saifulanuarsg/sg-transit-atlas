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Overall index</c:v>
                </c:pt>
              </c:strCache>
            </c:strRef>
          </c:tx>
          <c:spPr>
            <a:solidFill>
              <a:srgbClr val="1B2D8A"/>
            </a:solidFill>
            <a:effectLst/>
          </c:spPr>
          <c:invertIfNegative val="0"/>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dPt>
            <c:idx val="0"/>
            <c:invertIfNegative val="0"/>
            <c:bubble3D val="0"/>
            <c:spPr>
              <a:solidFill>
                <a:srgbClr val="1B2D8A"/>
              </a:solidFill>
              <a:effectLst/>
            </c:spPr>
          </c:dPt>
          <c:dPt>
            <c:idx val="1"/>
            <c:invertIfNegative val="0"/>
            <c:bubble3D val="0"/>
            <c:spPr>
              <a:solidFill>
                <a:srgbClr val="F0245E"/>
              </a:solidFill>
              <a:effectLst/>
            </c:spPr>
          </c:dPt>
          <c:dPt>
            <c:idx val="2"/>
            <c:invertIfNegative val="0"/>
            <c:bubble3D val="0"/>
            <c:spPr>
              <a:solidFill>
                <a:srgbClr val="1B2D8A"/>
              </a:solidFill>
              <a:effectLst/>
            </c:spPr>
          </c:dPt>
          <c:dPt>
            <c:idx val="3"/>
            <c:invertIfNegative val="0"/>
            <c:bubble3D val="0"/>
            <c:spPr>
              <a:solidFill>
                <a:srgbClr val="1B2D8A"/>
              </a:solidFill>
              <a:effectLst/>
            </c:spPr>
          </c:dPt>
          <c:cat>
            <c:multiLvlStrRef>
              <c:f>Sheet1!$A$2:$A$5</c:f>
              <c:multiLvlStrCache>
                <c:ptCount val="4"/>
                <c:lvl>
                  <c:pt idx="0">
                    <c:v>DBP C2</c:v>
                  </c:pt>
                  <c:pt idx="1">
                    <c:v>DBP L2 (Set 3)</c:v>
                  </c:pt>
                  <c:pt idx="2">
                    <c:v>DBP C1</c:v>
                  </c:pt>
                  <c:pt idx="3">
                    <c:v>Set 1</c:v>
                  </c:pt>
                </c:lvl>
              </c:multiLvlStrCache>
            </c:multiLvlStrRef>
          </c:cat>
          <c:val>
            <c:numRef>
              <c:f>Sheet1!$B$2:$B$5</c:f>
              <c:numCache>
                <c:formatCode>General</c:formatCode>
                <c:ptCount val="4"/>
                <c:pt idx="0">
                  <c:v>82.9</c:v>
                </c:pt>
                <c:pt idx="1">
                  <c:v>93.3</c:v>
                </c:pt>
                <c:pt idx="2">
                  <c:v>93.8</c:v>
                </c:pt>
                <c:pt idx="3">
                  <c:v>80.9</c:v>
                </c:pt>
              </c:numCache>
            </c:numRef>
          </c:val>
        </c:ser>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4A"/>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8DD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A64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DBP L2 is Set 3 of the Five-route sets product: 972, 143, 5, 76,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7818120" y="-1463040"/>
            <a:ext cx="6035040" cy="6035040"/>
          </a:xfrm>
          <a:prstGeom prst="roundRect">
            <a:avLst>
              <a:gd name="adj" fmla="val 50000"/>
            </a:avLst>
          </a:prstGeom>
          <a:solidFill>
            <a:srgbClr val="111A3E"/>
          </a:solidFill>
          <a:ln/>
        </p:spPr>
      </p:sp>
      <p:sp>
        <p:nvSpPr>
          <p:cNvPr id="3" name="Shape 1"/>
          <p:cNvSpPr/>
          <p:nvPr/>
        </p:nvSpPr>
        <p:spPr>
          <a:xfrm>
            <a:off x="502920" y="868680"/>
            <a:ext cx="2101291" cy="310896"/>
          </a:xfrm>
          <a:prstGeom prst="roundRect">
            <a:avLst>
              <a:gd name="adj" fmla="val 50000"/>
            </a:avLst>
          </a:prstGeom>
          <a:solidFill>
            <a:srgbClr val="F0245E"/>
          </a:solidFill>
          <a:ln/>
        </p:spPr>
      </p:sp>
      <p:sp>
        <p:nvSpPr>
          <p:cNvPr id="4" name="Text 2"/>
          <p:cNvSpPr/>
          <p:nvPr/>
        </p:nvSpPr>
        <p:spPr>
          <a:xfrm>
            <a:off x="502920" y="868680"/>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ALTERNATIVE PACKAGE</a:t>
            </a:r>
            <a:endParaRPr lang="en-US" sz="950" dirty="0"/>
          </a:p>
        </p:txBody>
      </p:sp>
      <p:sp>
        <p:nvSpPr>
          <p:cNvPr id="5" name="Text 3"/>
          <p:cNvSpPr/>
          <p:nvPr/>
        </p:nvSpPr>
        <p:spPr>
          <a:xfrm>
            <a:off x="475488" y="1371600"/>
            <a:ext cx="7680960" cy="137160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DBP L2</a:t>
            </a:r>
            <a:endParaRPr lang="en-US" sz="7600" dirty="0"/>
          </a:p>
        </p:txBody>
      </p:sp>
      <p:sp>
        <p:nvSpPr>
          <p:cNvPr id="6" name="Text 4"/>
          <p:cNvSpPr/>
          <p:nvPr/>
        </p:nvSpPr>
        <p:spPr>
          <a:xfrm>
            <a:off x="484632" y="2743200"/>
            <a:ext cx="7315200" cy="457200"/>
          </a:xfrm>
          <a:prstGeom prst="rect">
            <a:avLst/>
          </a:prstGeom>
          <a:noFill/>
          <a:ln/>
        </p:spPr>
        <p:txBody>
          <a:bodyPr wrap="square" lIns="0" tIns="0" rIns="0" bIns="0" rtlCol="0" anchor="ctr"/>
          <a:lstStyle/>
          <a:p>
            <a:pPr indent="0" marL="0">
              <a:buNone/>
            </a:pPr>
            <a:r>
              <a:rPr lang="en-US" sz="1900" dirty="0">
                <a:solidFill>
                  <a:srgbClr val="CBD3F2"/>
                </a:solidFill>
                <a:latin typeface="Arial" pitchFamily="34" charset="0"/>
                <a:ea typeface="Arial" pitchFamily="34" charset="-122"/>
                <a:cs typeface="Arial" pitchFamily="34" charset="-120"/>
              </a:rPr>
              <a:t>The alternative five for the mindline.sg hotline</a:t>
            </a:r>
            <a:endParaRPr lang="en-US" sz="1900" dirty="0"/>
          </a:p>
        </p:txBody>
      </p:sp>
      <p:sp>
        <p:nvSpPr>
          <p:cNvPr id="7" name="Shape 5"/>
          <p:cNvSpPr/>
          <p:nvPr/>
        </p:nvSpPr>
        <p:spPr>
          <a:xfrm>
            <a:off x="502920" y="3401568"/>
            <a:ext cx="932688" cy="566928"/>
          </a:xfrm>
          <a:prstGeom prst="roundRect">
            <a:avLst>
              <a:gd name="adj" fmla="val 11290"/>
            </a:avLst>
          </a:prstGeom>
          <a:solidFill>
            <a:srgbClr val="FFFFFF"/>
          </a:solidFill>
          <a:ln w="15875">
            <a:solidFill>
              <a:srgbClr val="FFFFFF"/>
            </a:solidFill>
            <a:prstDash val="solid"/>
          </a:ln>
        </p:spPr>
      </p:sp>
      <p:sp>
        <p:nvSpPr>
          <p:cNvPr id="8" name="Text 6"/>
          <p:cNvSpPr/>
          <p:nvPr/>
        </p:nvSpPr>
        <p:spPr>
          <a:xfrm>
            <a:off x="502920"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972</a:t>
            </a:r>
            <a:endParaRPr lang="en-US" sz="2100" dirty="0"/>
          </a:p>
        </p:txBody>
      </p:sp>
      <p:sp>
        <p:nvSpPr>
          <p:cNvPr id="9" name="Shape 7"/>
          <p:cNvSpPr/>
          <p:nvPr/>
        </p:nvSpPr>
        <p:spPr>
          <a:xfrm>
            <a:off x="1581912" y="3401568"/>
            <a:ext cx="932688" cy="566928"/>
          </a:xfrm>
          <a:prstGeom prst="roundRect">
            <a:avLst>
              <a:gd name="adj" fmla="val 11290"/>
            </a:avLst>
          </a:prstGeom>
          <a:solidFill>
            <a:srgbClr val="FFFFFF"/>
          </a:solidFill>
          <a:ln w="15875">
            <a:solidFill>
              <a:srgbClr val="FFFFFF"/>
            </a:solidFill>
            <a:prstDash val="solid"/>
          </a:ln>
        </p:spPr>
      </p:sp>
      <p:sp>
        <p:nvSpPr>
          <p:cNvPr id="10" name="Text 8"/>
          <p:cNvSpPr/>
          <p:nvPr/>
        </p:nvSpPr>
        <p:spPr>
          <a:xfrm>
            <a:off x="1581912"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143</a:t>
            </a:r>
            <a:endParaRPr lang="en-US" sz="2100" dirty="0"/>
          </a:p>
        </p:txBody>
      </p:sp>
      <p:sp>
        <p:nvSpPr>
          <p:cNvPr id="11" name="Shape 9"/>
          <p:cNvSpPr/>
          <p:nvPr/>
        </p:nvSpPr>
        <p:spPr>
          <a:xfrm>
            <a:off x="2660904" y="3401568"/>
            <a:ext cx="932688" cy="566928"/>
          </a:xfrm>
          <a:prstGeom prst="roundRect">
            <a:avLst>
              <a:gd name="adj" fmla="val 11290"/>
            </a:avLst>
          </a:prstGeom>
          <a:solidFill>
            <a:srgbClr val="FFFFFF"/>
          </a:solidFill>
          <a:ln w="15875">
            <a:solidFill>
              <a:srgbClr val="FFFFFF"/>
            </a:solidFill>
            <a:prstDash val="solid"/>
          </a:ln>
        </p:spPr>
      </p:sp>
      <p:sp>
        <p:nvSpPr>
          <p:cNvPr id="12" name="Text 10"/>
          <p:cNvSpPr/>
          <p:nvPr/>
        </p:nvSpPr>
        <p:spPr>
          <a:xfrm>
            <a:off x="2660904"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5</a:t>
            </a:r>
            <a:endParaRPr lang="en-US" sz="2100" dirty="0"/>
          </a:p>
        </p:txBody>
      </p:sp>
      <p:sp>
        <p:nvSpPr>
          <p:cNvPr id="13" name="Shape 11"/>
          <p:cNvSpPr/>
          <p:nvPr/>
        </p:nvSpPr>
        <p:spPr>
          <a:xfrm>
            <a:off x="3739896" y="3401568"/>
            <a:ext cx="932688" cy="566928"/>
          </a:xfrm>
          <a:prstGeom prst="roundRect">
            <a:avLst>
              <a:gd name="adj" fmla="val 11290"/>
            </a:avLst>
          </a:prstGeom>
          <a:solidFill>
            <a:srgbClr val="FFFFFF"/>
          </a:solidFill>
          <a:ln w="15875">
            <a:solidFill>
              <a:srgbClr val="FFFFFF"/>
            </a:solidFill>
            <a:prstDash val="solid"/>
          </a:ln>
        </p:spPr>
      </p:sp>
      <p:sp>
        <p:nvSpPr>
          <p:cNvPr id="14" name="Text 12"/>
          <p:cNvSpPr/>
          <p:nvPr/>
        </p:nvSpPr>
        <p:spPr>
          <a:xfrm>
            <a:off x="3739896"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76</a:t>
            </a:r>
            <a:endParaRPr lang="en-US" sz="2100" dirty="0"/>
          </a:p>
        </p:txBody>
      </p:sp>
      <p:sp>
        <p:nvSpPr>
          <p:cNvPr id="15" name="Shape 13"/>
          <p:cNvSpPr/>
          <p:nvPr/>
        </p:nvSpPr>
        <p:spPr>
          <a:xfrm>
            <a:off x="4818888" y="3401568"/>
            <a:ext cx="932688" cy="566928"/>
          </a:xfrm>
          <a:prstGeom prst="roundRect">
            <a:avLst>
              <a:gd name="adj" fmla="val 11290"/>
            </a:avLst>
          </a:prstGeom>
          <a:solidFill>
            <a:srgbClr val="FFFFFF"/>
          </a:solidFill>
          <a:ln w="15875">
            <a:solidFill>
              <a:srgbClr val="FFFFFF"/>
            </a:solidFill>
            <a:prstDash val="solid"/>
          </a:ln>
        </p:spPr>
      </p:sp>
      <p:sp>
        <p:nvSpPr>
          <p:cNvPr id="16" name="Text 14"/>
          <p:cNvSpPr/>
          <p:nvPr/>
        </p:nvSpPr>
        <p:spPr>
          <a:xfrm>
            <a:off x="4818888"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31</a:t>
            </a:r>
            <a:endParaRPr lang="en-US" sz="2100" dirty="0"/>
          </a:p>
        </p:txBody>
      </p:sp>
      <p:sp>
        <p:nvSpPr>
          <p:cNvPr id="17" name="Text 15"/>
          <p:cNvSpPr/>
          <p:nvPr/>
        </p:nvSpPr>
        <p:spPr>
          <a:xfrm>
            <a:off x="484632" y="4261104"/>
            <a:ext cx="6949440" cy="548640"/>
          </a:xfrm>
          <a:prstGeom prst="rect">
            <a:avLst/>
          </a:prstGeom>
          <a:noFill/>
          <a:ln/>
        </p:spPr>
        <p:txBody>
          <a:bodyPr wrap="square" lIns="0" tIns="0" rIns="0" bIns="0" rtlCol="0" anchor="ctr"/>
          <a:lstStyle/>
          <a:p>
            <a:pPr indent="0" marL="0">
              <a:buNone/>
            </a:pPr>
            <a:r>
              <a:rPr lang="en-US" sz="1300" dirty="0">
                <a:solidFill>
                  <a:srgbClr val="9BA7D8"/>
                </a:solidFill>
                <a:latin typeface="Arial" pitchFamily="34" charset="0"/>
                <a:ea typeface="Arial" pitchFamily="34" charset="-122"/>
                <a:cs typeface="Arial" pitchFamily="34" charset="-120"/>
              </a:rPr>
              <a:t>Second of four on the index, and the strongest of all four on seniors. What it trades away is on slide 8.</a:t>
            </a:r>
            <a:endParaRPr lang="en-US" sz="1300" dirty="0"/>
          </a:p>
        </p:txBody>
      </p:sp>
      <p:sp>
        <p:nvSpPr>
          <p:cNvPr id="18" name="Text 16"/>
          <p:cNvSpPr/>
          <p:nvPr/>
        </p:nvSpPr>
        <p:spPr>
          <a:xfrm>
            <a:off x="50292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467</a:t>
            </a:r>
            <a:endParaRPr lang="en-US" sz="2500" dirty="0"/>
          </a:p>
        </p:txBody>
      </p:sp>
      <p:sp>
        <p:nvSpPr>
          <p:cNvPr id="19" name="Text 17"/>
          <p:cNvSpPr/>
          <p:nvPr/>
        </p:nvSpPr>
        <p:spPr>
          <a:xfrm>
            <a:off x="50292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bus stops</a:t>
            </a:r>
            <a:endParaRPr lang="en-US" sz="1000" dirty="0"/>
          </a:p>
        </p:txBody>
      </p:sp>
      <p:sp>
        <p:nvSpPr>
          <p:cNvPr id="20" name="Text 18"/>
          <p:cNvSpPr/>
          <p:nvPr/>
        </p:nvSpPr>
        <p:spPr>
          <a:xfrm>
            <a:off x="237744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1.29M</a:t>
            </a:r>
            <a:endParaRPr lang="en-US" sz="2500" dirty="0"/>
          </a:p>
        </p:txBody>
      </p:sp>
      <p:sp>
        <p:nvSpPr>
          <p:cNvPr id="21" name="Text 19"/>
          <p:cNvSpPr/>
          <p:nvPr/>
        </p:nvSpPr>
        <p:spPr>
          <a:xfrm>
            <a:off x="237744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weekday boardings</a:t>
            </a:r>
            <a:endParaRPr lang="en-US" sz="1000" dirty="0"/>
          </a:p>
        </p:txBody>
      </p:sp>
      <p:sp>
        <p:nvSpPr>
          <p:cNvPr id="22" name="Text 20"/>
          <p:cNvSpPr/>
          <p:nvPr/>
        </p:nvSpPr>
        <p:spPr>
          <a:xfrm>
            <a:off x="425196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24</a:t>
            </a:r>
            <a:endParaRPr lang="en-US" sz="2500" dirty="0"/>
          </a:p>
        </p:txBody>
      </p:sp>
      <p:sp>
        <p:nvSpPr>
          <p:cNvPr id="23" name="Text 21"/>
          <p:cNvSpPr/>
          <p:nvPr/>
        </p:nvSpPr>
        <p:spPr>
          <a:xfrm>
            <a:off x="425196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planning areas</a:t>
            </a:r>
            <a:endParaRPr lang="en-US" sz="1000" dirty="0"/>
          </a:p>
        </p:txBody>
      </p:sp>
      <p:sp>
        <p:nvSpPr>
          <p:cNvPr id="24" name="Text 22"/>
          <p:cNvSpPr/>
          <p:nvPr/>
        </p:nvSpPr>
        <p:spPr>
          <a:xfrm>
            <a:off x="612648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87</a:t>
            </a:r>
            <a:endParaRPr lang="en-US" sz="2500" dirty="0"/>
          </a:p>
        </p:txBody>
      </p:sp>
      <p:sp>
        <p:nvSpPr>
          <p:cNvPr id="25" name="Text 23"/>
          <p:cNvSpPr/>
          <p:nvPr/>
        </p:nvSpPr>
        <p:spPr>
          <a:xfrm>
            <a:off x="612648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caregiving corridors</a:t>
            </a:r>
            <a:endParaRPr lang="en-US" sz="1000" dirty="0"/>
          </a:p>
        </p:txBody>
      </p:sp>
      <p:sp>
        <p:nvSpPr>
          <p:cNvPr id="26" name="Text 2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27" name="Text 2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94560" cy="310896"/>
          </a:xfrm>
          <a:prstGeom prst="roundRect">
            <a:avLst>
              <a:gd name="adj" fmla="val 50000"/>
            </a:avLst>
          </a:prstGeom>
          <a:solidFill>
            <a:srgbClr val="F0245E"/>
          </a:solidFill>
          <a:ln/>
        </p:spPr>
      </p:sp>
      <p:sp>
        <p:nvSpPr>
          <p:cNvPr id="3" name="Text 1"/>
          <p:cNvSpPr/>
          <p:nvPr/>
        </p:nvSpPr>
        <p:spPr>
          <a:xfrm>
            <a:off x="502920" y="329184"/>
            <a:ext cx="219456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MINDLINE.SG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Five audiences, one hotline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campaign named five audiences. Each one is reached in a different place, at a different hour.</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a:t>
            </a:r>
            <a:endParaRPr lang="en-US" sz="1000" dirty="0"/>
          </a:p>
        </p:txBody>
      </p:sp>
      <p:sp>
        <p:nvSpPr>
          <p:cNvPr id="8" name="Shape 6"/>
          <p:cNvSpPr/>
          <p:nvPr/>
        </p:nvSpPr>
        <p:spPr>
          <a:xfrm>
            <a:off x="502920" y="1874520"/>
            <a:ext cx="11183112" cy="786384"/>
          </a:xfrm>
          <a:prstGeom prst="roundRect">
            <a:avLst>
              <a:gd name="adj" fmla="val 10465"/>
            </a:avLst>
          </a:prstGeom>
          <a:solidFill>
            <a:srgbClr val="FFFFFF"/>
          </a:solidFill>
          <a:ln w="12700">
            <a:solidFill>
              <a:srgbClr val="D8DDE9"/>
            </a:solidFill>
            <a:prstDash val="solid"/>
          </a:ln>
        </p:spPr>
      </p:sp>
      <p:sp>
        <p:nvSpPr>
          <p:cNvPr id="9" name="Shape 7"/>
          <p:cNvSpPr/>
          <p:nvPr/>
        </p:nvSpPr>
        <p:spPr>
          <a:xfrm>
            <a:off x="740664" y="2075688"/>
            <a:ext cx="384048" cy="384048"/>
          </a:xfrm>
          <a:prstGeom prst="roundRect">
            <a:avLst>
              <a:gd name="adj" fmla="val 50000"/>
            </a:avLst>
          </a:prstGeom>
          <a:solidFill>
            <a:srgbClr val="1B2D8A"/>
          </a:solidFill>
          <a:ln/>
        </p:spPr>
      </p:sp>
      <p:sp>
        <p:nvSpPr>
          <p:cNvPr id="10" name="Text 8"/>
          <p:cNvSpPr/>
          <p:nvPr/>
        </p:nvSpPr>
        <p:spPr>
          <a:xfrm>
            <a:off x="740664" y="2075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289304" y="1965960"/>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Young children</a:t>
            </a:r>
            <a:endParaRPr lang="en-US" sz="1450" dirty="0"/>
          </a:p>
        </p:txBody>
      </p:sp>
      <p:sp>
        <p:nvSpPr>
          <p:cNvPr id="12" name="Text 10"/>
          <p:cNvSpPr/>
          <p:nvPr/>
        </p:nvSpPr>
        <p:spPr>
          <a:xfrm>
            <a:off x="1289304" y="2276856"/>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Reached through the adult at the school gate — not the child.</a:t>
            </a:r>
            <a:endParaRPr lang="en-US" sz="1150" dirty="0"/>
          </a:p>
        </p:txBody>
      </p:sp>
      <p:sp>
        <p:nvSpPr>
          <p:cNvPr id="13" name="Text 11"/>
          <p:cNvSpPr/>
          <p:nvPr/>
        </p:nvSpPr>
        <p:spPr>
          <a:xfrm>
            <a:off x="9966960" y="2084832"/>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a0–14</a:t>
            </a:r>
            <a:endParaRPr lang="en-US" sz="1200" dirty="0"/>
          </a:p>
        </p:txBody>
      </p:sp>
      <p:sp>
        <p:nvSpPr>
          <p:cNvPr id="14" name="Shape 12"/>
          <p:cNvSpPr/>
          <p:nvPr/>
        </p:nvSpPr>
        <p:spPr>
          <a:xfrm>
            <a:off x="502920" y="2770632"/>
            <a:ext cx="11183112" cy="786384"/>
          </a:xfrm>
          <a:prstGeom prst="roundRect">
            <a:avLst>
              <a:gd name="adj" fmla="val 10465"/>
            </a:avLst>
          </a:prstGeom>
          <a:solidFill>
            <a:srgbClr val="FFFFFF"/>
          </a:solidFill>
          <a:ln w="12700">
            <a:solidFill>
              <a:srgbClr val="D8DDE9"/>
            </a:solidFill>
            <a:prstDash val="solid"/>
          </a:ln>
        </p:spPr>
      </p:sp>
      <p:sp>
        <p:nvSpPr>
          <p:cNvPr id="15" name="Shape 13"/>
          <p:cNvSpPr/>
          <p:nvPr/>
        </p:nvSpPr>
        <p:spPr>
          <a:xfrm>
            <a:off x="740664" y="2971800"/>
            <a:ext cx="384048" cy="384048"/>
          </a:xfrm>
          <a:prstGeom prst="roundRect">
            <a:avLst>
              <a:gd name="adj" fmla="val 50000"/>
            </a:avLst>
          </a:prstGeom>
          <a:solidFill>
            <a:srgbClr val="1B2D8A"/>
          </a:solidFill>
          <a:ln/>
        </p:spPr>
      </p:sp>
      <p:sp>
        <p:nvSpPr>
          <p:cNvPr id="16" name="Text 14"/>
          <p:cNvSpPr/>
          <p:nvPr/>
        </p:nvSpPr>
        <p:spPr>
          <a:xfrm>
            <a:off x="740664"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1289304" y="2862072"/>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Seniors</a:t>
            </a:r>
            <a:endParaRPr lang="en-US" sz="1450" dirty="0"/>
          </a:p>
        </p:txBody>
      </p:sp>
      <p:sp>
        <p:nvSpPr>
          <p:cNvPr id="18" name="Text 16"/>
          <p:cNvSpPr/>
          <p:nvPr/>
        </p:nvSpPr>
        <p:spPr>
          <a:xfrm>
            <a:off x="1289304" y="3172968"/>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Polyclinic and senior-activity mornings, in the mature estates.</a:t>
            </a:r>
            <a:endParaRPr lang="en-US" sz="1150" dirty="0"/>
          </a:p>
        </p:txBody>
      </p:sp>
      <p:sp>
        <p:nvSpPr>
          <p:cNvPr id="19" name="Text 17"/>
          <p:cNvSpPr/>
          <p:nvPr/>
        </p:nvSpPr>
        <p:spPr>
          <a:xfrm>
            <a:off x="9966960" y="2980944"/>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a65+</a:t>
            </a:r>
            <a:endParaRPr lang="en-US" sz="1200" dirty="0"/>
          </a:p>
        </p:txBody>
      </p:sp>
      <p:sp>
        <p:nvSpPr>
          <p:cNvPr id="20" name="Shape 18"/>
          <p:cNvSpPr/>
          <p:nvPr/>
        </p:nvSpPr>
        <p:spPr>
          <a:xfrm>
            <a:off x="502920" y="3666744"/>
            <a:ext cx="11183112" cy="786384"/>
          </a:xfrm>
          <a:prstGeom prst="roundRect">
            <a:avLst>
              <a:gd name="adj" fmla="val 10465"/>
            </a:avLst>
          </a:prstGeom>
          <a:solidFill>
            <a:srgbClr val="FFFFFF"/>
          </a:solidFill>
          <a:ln w="12700">
            <a:solidFill>
              <a:srgbClr val="D8DDE9"/>
            </a:solidFill>
            <a:prstDash val="solid"/>
          </a:ln>
        </p:spPr>
      </p:sp>
      <p:sp>
        <p:nvSpPr>
          <p:cNvPr id="21" name="Shape 19"/>
          <p:cNvSpPr/>
          <p:nvPr/>
        </p:nvSpPr>
        <p:spPr>
          <a:xfrm>
            <a:off x="740664" y="3867912"/>
            <a:ext cx="384048" cy="384048"/>
          </a:xfrm>
          <a:prstGeom prst="roundRect">
            <a:avLst>
              <a:gd name="adj" fmla="val 50000"/>
            </a:avLst>
          </a:prstGeom>
          <a:solidFill>
            <a:srgbClr val="1B2D8A"/>
          </a:solidFill>
          <a:ln/>
        </p:spPr>
      </p:sp>
      <p:sp>
        <p:nvSpPr>
          <p:cNvPr id="22" name="Text 20"/>
          <p:cNvSpPr/>
          <p:nvPr/>
        </p:nvSpPr>
        <p:spPr>
          <a:xfrm>
            <a:off x="740664" y="38679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3" name="Text 21"/>
          <p:cNvSpPr/>
          <p:nvPr/>
        </p:nvSpPr>
        <p:spPr>
          <a:xfrm>
            <a:off x="1289304" y="3758184"/>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Working adults</a:t>
            </a:r>
            <a:endParaRPr lang="en-US" sz="1450" dirty="0"/>
          </a:p>
        </p:txBody>
      </p:sp>
      <p:sp>
        <p:nvSpPr>
          <p:cNvPr id="24" name="Text 22"/>
          <p:cNvSpPr/>
          <p:nvPr/>
        </p:nvSpPr>
        <p:spPr>
          <a:xfrm>
            <a:off x="1289304" y="4069080"/>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Interchange and CBD commute, twice a day.</a:t>
            </a:r>
            <a:endParaRPr lang="en-US" sz="1150" dirty="0"/>
          </a:p>
        </p:txBody>
      </p:sp>
      <p:sp>
        <p:nvSpPr>
          <p:cNvPr id="25" name="Text 23"/>
          <p:cNvSpPr/>
          <p:nvPr/>
        </p:nvSpPr>
        <p:spPr>
          <a:xfrm>
            <a:off x="9966960" y="3877056"/>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a25–64</a:t>
            </a:r>
            <a:endParaRPr lang="en-US" sz="1200" dirty="0"/>
          </a:p>
        </p:txBody>
      </p:sp>
      <p:sp>
        <p:nvSpPr>
          <p:cNvPr id="26" name="Shape 24"/>
          <p:cNvSpPr/>
          <p:nvPr/>
        </p:nvSpPr>
        <p:spPr>
          <a:xfrm>
            <a:off x="502920" y="4562856"/>
            <a:ext cx="11183112" cy="786384"/>
          </a:xfrm>
          <a:prstGeom prst="roundRect">
            <a:avLst>
              <a:gd name="adj" fmla="val 10465"/>
            </a:avLst>
          </a:prstGeom>
          <a:solidFill>
            <a:srgbClr val="FDF0F4"/>
          </a:solidFill>
          <a:ln w="12700">
            <a:solidFill>
              <a:srgbClr val="F0245E"/>
            </a:solidFill>
            <a:prstDash val="solid"/>
          </a:ln>
        </p:spPr>
      </p:sp>
      <p:sp>
        <p:nvSpPr>
          <p:cNvPr id="27" name="Shape 25"/>
          <p:cNvSpPr/>
          <p:nvPr/>
        </p:nvSpPr>
        <p:spPr>
          <a:xfrm>
            <a:off x="740664" y="4764024"/>
            <a:ext cx="384048" cy="384048"/>
          </a:xfrm>
          <a:prstGeom prst="roundRect">
            <a:avLst>
              <a:gd name="adj" fmla="val 50000"/>
            </a:avLst>
          </a:prstGeom>
          <a:solidFill>
            <a:srgbClr val="F0245E"/>
          </a:solidFill>
          <a:ln/>
        </p:spPr>
      </p:sp>
      <p:sp>
        <p:nvSpPr>
          <p:cNvPr id="28" name="Text 26"/>
          <p:cNvSpPr/>
          <p:nvPr/>
        </p:nvSpPr>
        <p:spPr>
          <a:xfrm>
            <a:off x="740664" y="47640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1289304" y="4654296"/>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Sandwich generation</a:t>
            </a:r>
            <a:endParaRPr lang="en-US" sz="1450" dirty="0"/>
          </a:p>
        </p:txBody>
      </p:sp>
      <p:sp>
        <p:nvSpPr>
          <p:cNvPr id="30" name="Text 28"/>
          <p:cNvSpPr/>
          <p:nvPr/>
        </p:nvSpPr>
        <p:spPr>
          <a:xfrm>
            <a:off x="1289304" y="4965192"/>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Caring for a child and a parent at once. No layer maps them.</a:t>
            </a:r>
            <a:endParaRPr lang="en-US" sz="1150" dirty="0"/>
          </a:p>
        </p:txBody>
      </p:sp>
      <p:sp>
        <p:nvSpPr>
          <p:cNvPr id="31" name="Text 29"/>
          <p:cNvSpPr/>
          <p:nvPr/>
        </p:nvSpPr>
        <p:spPr>
          <a:xfrm>
            <a:off x="9966960" y="4773168"/>
            <a:ext cx="1554480" cy="365760"/>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the gap</a:t>
            </a:r>
            <a:endParaRPr lang="en-US" sz="1200" dirty="0"/>
          </a:p>
        </p:txBody>
      </p:sp>
      <p:sp>
        <p:nvSpPr>
          <p:cNvPr id="32" name="Shape 30"/>
          <p:cNvSpPr/>
          <p:nvPr/>
        </p:nvSpPr>
        <p:spPr>
          <a:xfrm>
            <a:off x="502920" y="5458968"/>
            <a:ext cx="11183112" cy="786384"/>
          </a:xfrm>
          <a:prstGeom prst="roundRect">
            <a:avLst>
              <a:gd name="adj" fmla="val 10465"/>
            </a:avLst>
          </a:prstGeom>
          <a:solidFill>
            <a:srgbClr val="FFFFFF"/>
          </a:solidFill>
          <a:ln w="12700">
            <a:solidFill>
              <a:srgbClr val="D8DDE9"/>
            </a:solidFill>
            <a:prstDash val="solid"/>
          </a:ln>
        </p:spPr>
      </p:sp>
      <p:sp>
        <p:nvSpPr>
          <p:cNvPr id="33" name="Shape 31"/>
          <p:cNvSpPr/>
          <p:nvPr/>
        </p:nvSpPr>
        <p:spPr>
          <a:xfrm>
            <a:off x="740664" y="5660136"/>
            <a:ext cx="384048" cy="384048"/>
          </a:xfrm>
          <a:prstGeom prst="roundRect">
            <a:avLst>
              <a:gd name="adj" fmla="val 50000"/>
            </a:avLst>
          </a:prstGeom>
          <a:solidFill>
            <a:srgbClr val="1B2D8A"/>
          </a:solidFill>
          <a:ln/>
        </p:spPr>
      </p:sp>
      <p:sp>
        <p:nvSpPr>
          <p:cNvPr id="34" name="Text 32"/>
          <p:cNvSpPr/>
          <p:nvPr/>
        </p:nvSpPr>
        <p:spPr>
          <a:xfrm>
            <a:off x="740664" y="5660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5" name="Text 33"/>
          <p:cNvSpPr/>
          <p:nvPr/>
        </p:nvSpPr>
        <p:spPr>
          <a:xfrm>
            <a:off x="1289304" y="5550408"/>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Youth</a:t>
            </a:r>
            <a:endParaRPr lang="en-US" sz="1450" dirty="0"/>
          </a:p>
        </p:txBody>
      </p:sp>
      <p:sp>
        <p:nvSpPr>
          <p:cNvPr id="36" name="Text 34"/>
          <p:cNvSpPr/>
          <p:nvPr/>
        </p:nvSpPr>
        <p:spPr>
          <a:xfrm>
            <a:off x="1289304" y="5861304"/>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Secondary and IHL dismissal, then the third places after.</a:t>
            </a:r>
            <a:endParaRPr lang="en-US" sz="1150" dirty="0"/>
          </a:p>
        </p:txBody>
      </p:sp>
      <p:sp>
        <p:nvSpPr>
          <p:cNvPr id="37" name="Text 35"/>
          <p:cNvSpPr/>
          <p:nvPr/>
        </p:nvSpPr>
        <p:spPr>
          <a:xfrm>
            <a:off x="9966960" y="5669280"/>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a15–24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METHOD</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How the four sets were scored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Every set measured the same way, on the atlas’s own 400 m rule — so these counts match the map.</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a:t>
            </a:r>
            <a:endParaRPr lang="en-US" sz="1000" dirty="0"/>
          </a:p>
        </p:txBody>
      </p:sp>
      <p:sp>
        <p:nvSpPr>
          <p:cNvPr id="8" name="Shape 6"/>
          <p:cNvSpPr/>
          <p:nvPr/>
        </p:nvSpPr>
        <p:spPr>
          <a:xfrm>
            <a:off x="502920" y="1965960"/>
            <a:ext cx="5431536" cy="2057400"/>
          </a:xfrm>
          <a:prstGeom prst="roundRect">
            <a:avLst>
              <a:gd name="adj" fmla="val 4000"/>
            </a:avLst>
          </a:prstGeom>
          <a:solidFill>
            <a:srgbClr val="FFFFFF"/>
          </a:solidFill>
          <a:ln w="12700">
            <a:solidFill>
              <a:srgbClr val="D8DDE9"/>
            </a:solidFill>
            <a:prstDash val="solid"/>
          </a:ln>
        </p:spPr>
      </p:sp>
      <p:sp>
        <p:nvSpPr>
          <p:cNvPr id="9" name="Shape 7"/>
          <p:cNvSpPr/>
          <p:nvPr/>
        </p:nvSpPr>
        <p:spPr>
          <a:xfrm>
            <a:off x="777240" y="2212848"/>
            <a:ext cx="914400" cy="310896"/>
          </a:xfrm>
          <a:prstGeom prst="roundRect">
            <a:avLst>
              <a:gd name="adj" fmla="val 50000"/>
            </a:avLst>
          </a:prstGeom>
          <a:solidFill>
            <a:srgbClr val="F0245E"/>
          </a:solidFill>
          <a:ln/>
        </p:spPr>
      </p:sp>
      <p:sp>
        <p:nvSpPr>
          <p:cNvPr id="10" name="Text 8"/>
          <p:cNvSpPr/>
          <p:nvPr/>
        </p:nvSpPr>
        <p:spPr>
          <a:xfrm>
            <a:off x="777240" y="2212848"/>
            <a:ext cx="914400"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PLACES</a:t>
            </a:r>
            <a:endParaRPr lang="en-US" sz="900" dirty="0"/>
          </a:p>
        </p:txBody>
      </p:sp>
      <p:sp>
        <p:nvSpPr>
          <p:cNvPr id="11" name="Text 9"/>
          <p:cNvSpPr/>
          <p:nvPr/>
        </p:nvSpPr>
        <p:spPr>
          <a:xfrm>
            <a:off x="777240"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Is the ad where this audience gathers?</a:t>
            </a:r>
            <a:endParaRPr lang="en-US" sz="1400" dirty="0"/>
          </a:p>
        </p:txBody>
      </p:sp>
      <p:sp>
        <p:nvSpPr>
          <p:cNvPr id="12" name="Text 10"/>
          <p:cNvSpPr/>
          <p:nvPr/>
        </p:nvSpPr>
        <p:spPr>
          <a:xfrm>
            <a:off x="777240"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Counted from 37 place layers — schools, eldercare, polyclinics, community clubs, interchanges. Deduplicated across the five routes: a school two buses both pass is one school.</a:t>
            </a:r>
            <a:endParaRPr lang="en-US" sz="1150" dirty="0"/>
          </a:p>
        </p:txBody>
      </p:sp>
      <p:sp>
        <p:nvSpPr>
          <p:cNvPr id="13" name="Shape 11"/>
          <p:cNvSpPr/>
          <p:nvPr/>
        </p:nvSpPr>
        <p:spPr>
          <a:xfrm>
            <a:off x="6254496" y="1965960"/>
            <a:ext cx="5431536" cy="2057400"/>
          </a:xfrm>
          <a:prstGeom prst="roundRect">
            <a:avLst>
              <a:gd name="adj" fmla="val 4000"/>
            </a:avLst>
          </a:prstGeom>
          <a:solidFill>
            <a:srgbClr val="FFFFFF"/>
          </a:solidFill>
          <a:ln w="12700">
            <a:solidFill>
              <a:srgbClr val="D8DDE9"/>
            </a:solidFill>
            <a:prstDash val="solid"/>
          </a:ln>
        </p:spPr>
      </p:sp>
      <p:sp>
        <p:nvSpPr>
          <p:cNvPr id="14" name="Shape 12"/>
          <p:cNvSpPr/>
          <p:nvPr/>
        </p:nvSpPr>
        <p:spPr>
          <a:xfrm>
            <a:off x="6528816" y="2212848"/>
            <a:ext cx="1355141" cy="310896"/>
          </a:xfrm>
          <a:prstGeom prst="roundRect">
            <a:avLst>
              <a:gd name="adj" fmla="val 50000"/>
            </a:avLst>
          </a:prstGeom>
          <a:solidFill>
            <a:srgbClr val="1B2D8A"/>
          </a:solidFill>
          <a:ln/>
        </p:spPr>
      </p:sp>
      <p:sp>
        <p:nvSpPr>
          <p:cNvPr id="15" name="Text 13"/>
          <p:cNvSpPr/>
          <p:nvPr/>
        </p:nvSpPr>
        <p:spPr>
          <a:xfrm>
            <a:off x="6528816" y="2212848"/>
            <a:ext cx="1355141"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IMPRESSIONS</a:t>
            </a:r>
            <a:endParaRPr lang="en-US" sz="900" dirty="0"/>
          </a:p>
        </p:txBody>
      </p:sp>
      <p:sp>
        <p:nvSpPr>
          <p:cNvPr id="16" name="Text 14"/>
          <p:cNvSpPr/>
          <p:nvPr/>
        </p:nvSpPr>
        <p:spPr>
          <a:xfrm>
            <a:off x="6528816"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How many of that audience actually see it?</a:t>
            </a:r>
            <a:endParaRPr lang="en-US" sz="1400" dirty="0"/>
          </a:p>
        </p:txBody>
      </p:sp>
      <p:sp>
        <p:nvSpPr>
          <p:cNvPr id="17" name="Text 15"/>
          <p:cNvSpPr/>
          <p:nvPr/>
        </p:nvSpPr>
        <p:spPr>
          <a:xfrm>
            <a:off x="6528816"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Weekday boardings at each stop, weighted by that cohort’s share of the stop’s planning area.</a:t>
            </a:r>
            <a:endParaRPr lang="en-US" sz="1150" dirty="0"/>
          </a:p>
        </p:txBody>
      </p:sp>
      <p:sp>
        <p:nvSpPr>
          <p:cNvPr id="18" name="Shape 16"/>
          <p:cNvSpPr/>
          <p:nvPr/>
        </p:nvSpPr>
        <p:spPr>
          <a:xfrm>
            <a:off x="502920" y="4224528"/>
            <a:ext cx="11183112" cy="1024128"/>
          </a:xfrm>
          <a:prstGeom prst="roundRect">
            <a:avLst>
              <a:gd name="adj" fmla="val 8036"/>
            </a:avLst>
          </a:prstGeom>
          <a:solidFill>
            <a:srgbClr val="F5F7FC"/>
          </a:solidFill>
          <a:ln w="12700">
            <a:solidFill>
              <a:srgbClr val="D8DDE9"/>
            </a:solidFill>
            <a:prstDash val="solid"/>
          </a:ln>
        </p:spPr>
      </p:sp>
      <p:sp>
        <p:nvSpPr>
          <p:cNvPr id="19" name="Text 17"/>
          <p:cNvSpPr/>
          <p:nvPr/>
        </p:nvSpPr>
        <p:spPr>
          <a:xfrm>
            <a:off x="795528" y="4370832"/>
            <a:ext cx="27432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Why both halves</a:t>
            </a:r>
            <a:endParaRPr lang="en-US" sz="1250" dirty="0"/>
          </a:p>
        </p:txBody>
      </p:sp>
      <p:sp>
        <p:nvSpPr>
          <p:cNvPr id="20" name="Text 18"/>
          <p:cNvSpPr/>
          <p:nvPr/>
        </p:nvSpPr>
        <p:spPr>
          <a:xfrm>
            <a:off x="795528" y="4663440"/>
            <a:ext cx="10607040" cy="512064"/>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Places alone would rank ten quiet schools above one packed interchange. Boardings alone would put every CBD route on top and ignore the brief entirely. Each audience is scored 50 / 50, and the best set in each column is indexed to 100.</a:t>
            </a:r>
            <a:endParaRPr lang="en-US" sz="1150" dirty="0"/>
          </a:p>
        </p:txBody>
      </p:sp>
      <p:sp>
        <p:nvSpPr>
          <p:cNvPr id="21" name="Text 19"/>
          <p:cNvSpPr/>
          <p:nvPr/>
        </p:nvSpPr>
        <p:spPr>
          <a:xfrm>
            <a:off x="502920" y="5486400"/>
            <a:ext cx="10607040" cy="36576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Sources — LTA DataMall passenger volume · SingStat Census 2020 · MOE school registry · 5,880 places across 37 layers, verified 13 Aug 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008022" cy="310896"/>
          </a:xfrm>
          <a:prstGeom prst="roundRect">
            <a:avLst>
              <a:gd name="adj" fmla="val 50000"/>
            </a:avLst>
          </a:prstGeom>
          <a:solidFill>
            <a:srgbClr val="F0245E"/>
          </a:solidFill>
          <a:ln/>
        </p:spPr>
      </p:sp>
      <p:sp>
        <p:nvSpPr>
          <p:cNvPr id="3" name="Text 1"/>
          <p:cNvSpPr/>
          <p:nvPr/>
        </p:nvSpPr>
        <p:spPr>
          <a:xfrm>
            <a:off x="502920" y="329184"/>
            <a:ext cx="2008022"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SHORTLIST</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Four sets, scored side by side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Overall index — the mean of the five audience columns. Best set in each column = 100.</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4</a:t>
            </a:r>
            <a:endParaRPr lang="en-US" sz="1000" dirty="0"/>
          </a:p>
        </p:txBody>
      </p:sp>
      <p:graphicFrame>
        <p:nvGraphicFramePr>
          <p:cNvPr id="8" name="Chart 0" descr=""/>
          <p:cNvGraphicFramePr/>
          <p:nvPr/>
        </p:nvGraphicFramePr>
        <p:xfrm>
          <a:off x="502920" y="187452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720840" y="1874520"/>
            <a:ext cx="1234440" cy="365760"/>
          </a:xfrm>
          <a:prstGeom prst="rect">
            <a:avLst/>
          </a:prstGeom>
          <a:noFill/>
          <a:ln/>
        </p:spPr>
        <p:txBody>
          <a:bodyPr wrap="square" lIns="0" tIns="0" rIns="0" bIns="0" rtlCol="0" anchor="ctr"/>
          <a:lstStyle/>
          <a:p>
            <a:pPr algn="l" indent="0" marL="0">
              <a:buNone/>
            </a:pPr>
            <a:endParaRPr lang="en-US" sz="950" dirty="0"/>
          </a:p>
        </p:txBody>
      </p:sp>
      <p:sp>
        <p:nvSpPr>
          <p:cNvPr id="10" name="Text 7"/>
          <p:cNvSpPr/>
          <p:nvPr/>
        </p:nvSpPr>
        <p:spPr>
          <a:xfrm>
            <a:off x="7955280" y="1874520"/>
            <a:ext cx="841248"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Child</a:t>
            </a:r>
            <a:endParaRPr lang="en-US" sz="950" dirty="0"/>
          </a:p>
        </p:txBody>
      </p:sp>
      <p:sp>
        <p:nvSpPr>
          <p:cNvPr id="11" name="Text 8"/>
          <p:cNvSpPr/>
          <p:nvPr/>
        </p:nvSpPr>
        <p:spPr>
          <a:xfrm>
            <a:off x="8796528" y="1874520"/>
            <a:ext cx="89611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Senior</a:t>
            </a:r>
            <a:endParaRPr lang="en-US" sz="950" dirty="0"/>
          </a:p>
        </p:txBody>
      </p:sp>
      <p:sp>
        <p:nvSpPr>
          <p:cNvPr id="12" name="Text 9"/>
          <p:cNvSpPr/>
          <p:nvPr/>
        </p:nvSpPr>
        <p:spPr>
          <a:xfrm>
            <a:off x="969264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Work</a:t>
            </a:r>
            <a:endParaRPr lang="en-US" sz="950" dirty="0"/>
          </a:p>
        </p:txBody>
      </p:sp>
      <p:sp>
        <p:nvSpPr>
          <p:cNvPr id="13" name="Text 10"/>
          <p:cNvSpPr/>
          <p:nvPr/>
        </p:nvSpPr>
        <p:spPr>
          <a:xfrm>
            <a:off x="1051560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Sand.</a:t>
            </a:r>
            <a:endParaRPr lang="en-US" sz="950" dirty="0"/>
          </a:p>
        </p:txBody>
      </p:sp>
      <p:sp>
        <p:nvSpPr>
          <p:cNvPr id="14" name="Text 11"/>
          <p:cNvSpPr/>
          <p:nvPr/>
        </p:nvSpPr>
        <p:spPr>
          <a:xfrm>
            <a:off x="11338560" y="1874520"/>
            <a:ext cx="85039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Youth</a:t>
            </a:r>
            <a:endParaRPr lang="en-US" sz="950" dirty="0"/>
          </a:p>
        </p:txBody>
      </p:sp>
      <p:sp>
        <p:nvSpPr>
          <p:cNvPr id="15" name="Shape 12"/>
          <p:cNvSpPr/>
          <p:nvPr/>
        </p:nvSpPr>
        <p:spPr>
          <a:xfrm>
            <a:off x="6720840" y="2249424"/>
            <a:ext cx="5166360" cy="0"/>
          </a:xfrm>
          <a:prstGeom prst="line">
            <a:avLst/>
          </a:prstGeom>
          <a:noFill/>
          <a:ln w="12700">
            <a:solidFill>
              <a:srgbClr val="D8DDE9"/>
            </a:solidFill>
            <a:prstDash val="solid"/>
          </a:ln>
        </p:spPr>
      </p:sp>
      <p:sp>
        <p:nvSpPr>
          <p:cNvPr id="16" name="Text 13"/>
          <p:cNvSpPr/>
          <p:nvPr/>
        </p:nvSpPr>
        <p:spPr>
          <a:xfrm>
            <a:off x="6720840" y="2331720"/>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Set 1</a:t>
            </a:r>
            <a:endParaRPr lang="en-US" sz="1150" dirty="0"/>
          </a:p>
        </p:txBody>
      </p:sp>
      <p:sp>
        <p:nvSpPr>
          <p:cNvPr id="17" name="Text 14"/>
          <p:cNvSpPr/>
          <p:nvPr/>
        </p:nvSpPr>
        <p:spPr>
          <a:xfrm>
            <a:off x="7955280" y="2331720"/>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18" name="Text 15"/>
          <p:cNvSpPr/>
          <p:nvPr/>
        </p:nvSpPr>
        <p:spPr>
          <a:xfrm>
            <a:off x="8796528" y="2331720"/>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67.4</a:t>
            </a:r>
            <a:endParaRPr lang="en-US" sz="1150" dirty="0"/>
          </a:p>
        </p:txBody>
      </p:sp>
      <p:sp>
        <p:nvSpPr>
          <p:cNvPr id="19" name="Text 16"/>
          <p:cNvSpPr/>
          <p:nvPr/>
        </p:nvSpPr>
        <p:spPr>
          <a:xfrm>
            <a:off x="969264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82.2</a:t>
            </a:r>
            <a:endParaRPr lang="en-US" sz="1150" dirty="0"/>
          </a:p>
        </p:txBody>
      </p:sp>
      <p:sp>
        <p:nvSpPr>
          <p:cNvPr id="20" name="Text 17"/>
          <p:cNvSpPr/>
          <p:nvPr/>
        </p:nvSpPr>
        <p:spPr>
          <a:xfrm>
            <a:off x="1051560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74.8</a:t>
            </a:r>
            <a:endParaRPr lang="en-US" sz="1150" dirty="0"/>
          </a:p>
        </p:txBody>
      </p:sp>
      <p:sp>
        <p:nvSpPr>
          <p:cNvPr id="21" name="Text 18"/>
          <p:cNvSpPr/>
          <p:nvPr/>
        </p:nvSpPr>
        <p:spPr>
          <a:xfrm>
            <a:off x="11338560" y="2331720"/>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87.2</a:t>
            </a:r>
            <a:endParaRPr lang="en-US" sz="1150" dirty="0"/>
          </a:p>
        </p:txBody>
      </p:sp>
      <p:sp>
        <p:nvSpPr>
          <p:cNvPr id="22" name="Text 19"/>
          <p:cNvSpPr/>
          <p:nvPr/>
        </p:nvSpPr>
        <p:spPr>
          <a:xfrm>
            <a:off x="6720840" y="2807208"/>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C1</a:t>
            </a:r>
            <a:endParaRPr lang="en-US" sz="1150" dirty="0"/>
          </a:p>
        </p:txBody>
      </p:sp>
      <p:sp>
        <p:nvSpPr>
          <p:cNvPr id="23" name="Text 20"/>
          <p:cNvSpPr/>
          <p:nvPr/>
        </p:nvSpPr>
        <p:spPr>
          <a:xfrm>
            <a:off x="7955280" y="2807208"/>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96.5</a:t>
            </a:r>
            <a:endParaRPr lang="en-US" sz="1150" dirty="0"/>
          </a:p>
        </p:txBody>
      </p:sp>
      <p:sp>
        <p:nvSpPr>
          <p:cNvPr id="24" name="Text 21"/>
          <p:cNvSpPr/>
          <p:nvPr/>
        </p:nvSpPr>
        <p:spPr>
          <a:xfrm>
            <a:off x="8796528" y="2807208"/>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90.6</a:t>
            </a:r>
            <a:endParaRPr lang="en-US" sz="1150" dirty="0"/>
          </a:p>
        </p:txBody>
      </p:sp>
      <p:sp>
        <p:nvSpPr>
          <p:cNvPr id="25" name="Text 22"/>
          <p:cNvSpPr/>
          <p:nvPr/>
        </p:nvSpPr>
        <p:spPr>
          <a:xfrm>
            <a:off x="9692640" y="2807208"/>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92.9</a:t>
            </a:r>
            <a:endParaRPr lang="en-US" sz="1150" dirty="0"/>
          </a:p>
        </p:txBody>
      </p:sp>
      <p:sp>
        <p:nvSpPr>
          <p:cNvPr id="26" name="Text 23"/>
          <p:cNvSpPr/>
          <p:nvPr/>
        </p:nvSpPr>
        <p:spPr>
          <a:xfrm>
            <a:off x="10515600" y="2807208"/>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27" name="Text 24"/>
          <p:cNvSpPr/>
          <p:nvPr/>
        </p:nvSpPr>
        <p:spPr>
          <a:xfrm>
            <a:off x="11338560" y="2807208"/>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96.4</a:t>
            </a:r>
            <a:endParaRPr lang="en-US" sz="1150" dirty="0"/>
          </a:p>
        </p:txBody>
      </p:sp>
      <p:sp>
        <p:nvSpPr>
          <p:cNvPr id="28" name="Shape 25"/>
          <p:cNvSpPr/>
          <p:nvPr/>
        </p:nvSpPr>
        <p:spPr>
          <a:xfrm>
            <a:off x="6629400" y="3255264"/>
            <a:ext cx="5349240" cy="420624"/>
          </a:xfrm>
          <a:prstGeom prst="roundRect">
            <a:avLst>
              <a:gd name="adj" fmla="val 15217"/>
            </a:avLst>
          </a:prstGeom>
          <a:solidFill>
            <a:srgbClr val="FDF0F4"/>
          </a:solidFill>
          <a:ln w="12700">
            <a:solidFill>
              <a:srgbClr val="F0245E"/>
            </a:solidFill>
            <a:prstDash val="solid"/>
          </a:ln>
        </p:spPr>
      </p:sp>
      <p:sp>
        <p:nvSpPr>
          <p:cNvPr id="29" name="Text 26"/>
          <p:cNvSpPr/>
          <p:nvPr/>
        </p:nvSpPr>
        <p:spPr>
          <a:xfrm>
            <a:off x="6720840" y="3282696"/>
            <a:ext cx="1234440" cy="365760"/>
          </a:xfrm>
          <a:prstGeom prst="rect">
            <a:avLst/>
          </a:prstGeom>
          <a:noFill/>
          <a:ln/>
        </p:spPr>
        <p:txBody>
          <a:bodyPr wrap="square" lIns="0" tIns="0" rIns="0" bIns="0" rtlCol="0" anchor="ctr"/>
          <a:lstStyle/>
          <a:p>
            <a:pPr algn="l" indent="0" marL="0">
              <a:buNone/>
            </a:pPr>
            <a:r>
              <a:rPr lang="en-US" sz="1150" b="1" dirty="0">
                <a:solidFill>
                  <a:srgbClr val="F0245E"/>
                </a:solidFill>
                <a:latin typeface="Arial" pitchFamily="34" charset="0"/>
                <a:ea typeface="Arial" pitchFamily="34" charset="-122"/>
                <a:cs typeface="Arial" pitchFamily="34" charset="-120"/>
              </a:rPr>
              <a:t>DBP L2</a:t>
            </a:r>
            <a:endParaRPr lang="en-US" sz="1150" dirty="0"/>
          </a:p>
        </p:txBody>
      </p:sp>
      <p:sp>
        <p:nvSpPr>
          <p:cNvPr id="30" name="Text 27"/>
          <p:cNvSpPr/>
          <p:nvPr/>
        </p:nvSpPr>
        <p:spPr>
          <a:xfrm>
            <a:off x="7955280" y="3282696"/>
            <a:ext cx="841248"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95.2</a:t>
            </a:r>
            <a:endParaRPr lang="en-US" sz="1150" dirty="0"/>
          </a:p>
        </p:txBody>
      </p:sp>
      <p:sp>
        <p:nvSpPr>
          <p:cNvPr id="31" name="Text 28"/>
          <p:cNvSpPr/>
          <p:nvPr/>
        </p:nvSpPr>
        <p:spPr>
          <a:xfrm>
            <a:off x="8796528" y="3282696"/>
            <a:ext cx="89611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97.7</a:t>
            </a:r>
            <a:endParaRPr lang="en-US" sz="1150" dirty="0"/>
          </a:p>
        </p:txBody>
      </p:sp>
      <p:sp>
        <p:nvSpPr>
          <p:cNvPr id="32" name="Text 29"/>
          <p:cNvSpPr/>
          <p:nvPr/>
        </p:nvSpPr>
        <p:spPr>
          <a:xfrm>
            <a:off x="9692640" y="3282696"/>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86.8</a:t>
            </a:r>
            <a:endParaRPr lang="en-US" sz="1150" dirty="0"/>
          </a:p>
        </p:txBody>
      </p:sp>
      <p:sp>
        <p:nvSpPr>
          <p:cNvPr id="33" name="Text 30"/>
          <p:cNvSpPr/>
          <p:nvPr/>
        </p:nvSpPr>
        <p:spPr>
          <a:xfrm>
            <a:off x="10515600" y="3282696"/>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93.9</a:t>
            </a:r>
            <a:endParaRPr lang="en-US" sz="1150" dirty="0"/>
          </a:p>
        </p:txBody>
      </p:sp>
      <p:sp>
        <p:nvSpPr>
          <p:cNvPr id="34" name="Text 31"/>
          <p:cNvSpPr/>
          <p:nvPr/>
        </p:nvSpPr>
        <p:spPr>
          <a:xfrm>
            <a:off x="11338560" y="3282696"/>
            <a:ext cx="85039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92.7</a:t>
            </a:r>
            <a:endParaRPr lang="en-US" sz="1150" dirty="0"/>
          </a:p>
        </p:txBody>
      </p:sp>
      <p:sp>
        <p:nvSpPr>
          <p:cNvPr id="35" name="Text 32"/>
          <p:cNvSpPr/>
          <p:nvPr/>
        </p:nvSpPr>
        <p:spPr>
          <a:xfrm>
            <a:off x="6720840" y="3758184"/>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C2</a:t>
            </a:r>
            <a:endParaRPr lang="en-US" sz="1150" dirty="0"/>
          </a:p>
        </p:txBody>
      </p:sp>
      <p:sp>
        <p:nvSpPr>
          <p:cNvPr id="36" name="Text 33"/>
          <p:cNvSpPr/>
          <p:nvPr/>
        </p:nvSpPr>
        <p:spPr>
          <a:xfrm>
            <a:off x="7955280" y="3758184"/>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92.2</a:t>
            </a:r>
            <a:endParaRPr lang="en-US" sz="1150" dirty="0"/>
          </a:p>
        </p:txBody>
      </p:sp>
      <p:sp>
        <p:nvSpPr>
          <p:cNvPr id="37" name="Text 34"/>
          <p:cNvSpPr/>
          <p:nvPr/>
        </p:nvSpPr>
        <p:spPr>
          <a:xfrm>
            <a:off x="8796528" y="3758184"/>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70.4</a:t>
            </a:r>
            <a:endParaRPr lang="en-US" sz="1150" dirty="0"/>
          </a:p>
        </p:txBody>
      </p:sp>
      <p:sp>
        <p:nvSpPr>
          <p:cNvPr id="38" name="Text 35"/>
          <p:cNvSpPr/>
          <p:nvPr/>
        </p:nvSpPr>
        <p:spPr>
          <a:xfrm>
            <a:off x="9692640" y="3758184"/>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88.9</a:t>
            </a:r>
            <a:endParaRPr lang="en-US" sz="1150" dirty="0"/>
          </a:p>
        </p:txBody>
      </p:sp>
      <p:sp>
        <p:nvSpPr>
          <p:cNvPr id="39" name="Text 36"/>
          <p:cNvSpPr/>
          <p:nvPr/>
        </p:nvSpPr>
        <p:spPr>
          <a:xfrm>
            <a:off x="10515600" y="3758184"/>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77.8</a:t>
            </a:r>
            <a:endParaRPr lang="en-US" sz="1150" dirty="0"/>
          </a:p>
        </p:txBody>
      </p:sp>
      <p:sp>
        <p:nvSpPr>
          <p:cNvPr id="40" name="Text 37"/>
          <p:cNvSpPr/>
          <p:nvPr/>
        </p:nvSpPr>
        <p:spPr>
          <a:xfrm>
            <a:off x="11338560" y="3758184"/>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85.2</a:t>
            </a:r>
            <a:endParaRPr lang="en-US" sz="1150" dirty="0"/>
          </a:p>
        </p:txBody>
      </p:sp>
      <p:sp>
        <p:nvSpPr>
          <p:cNvPr id="41" name="Shape 38"/>
          <p:cNvSpPr/>
          <p:nvPr/>
        </p:nvSpPr>
        <p:spPr>
          <a:xfrm>
            <a:off x="6629400" y="4389120"/>
            <a:ext cx="5349240" cy="1143000"/>
          </a:xfrm>
          <a:prstGeom prst="roundRect">
            <a:avLst>
              <a:gd name="adj" fmla="val 7200"/>
            </a:avLst>
          </a:prstGeom>
          <a:solidFill>
            <a:srgbClr val="F5F7FC"/>
          </a:solidFill>
          <a:ln w="12700">
            <a:solidFill>
              <a:srgbClr val="D8DDE9"/>
            </a:solidFill>
            <a:prstDash val="solid"/>
          </a:ln>
        </p:spPr>
      </p:sp>
      <p:sp>
        <p:nvSpPr>
          <p:cNvPr id="42" name="Text 39"/>
          <p:cNvSpPr/>
          <p:nvPr/>
        </p:nvSpPr>
        <p:spPr>
          <a:xfrm>
            <a:off x="6830568" y="4572000"/>
            <a:ext cx="4937760" cy="822960"/>
          </a:xfrm>
          <a:prstGeom prst="rect">
            <a:avLst/>
          </a:prstGeom>
          <a:noFill/>
          <a:ln/>
        </p:spPr>
        <p:txBody>
          <a:bodyPr wrap="square" lIns="0" tIns="0" rIns="0" bIns="0" rtlCol="0" anchor="ctr"/>
          <a:lstStyle/>
          <a:p>
            <a:pPr indent="0" marL="0">
              <a:buNone/>
            </a:pPr>
            <a:r>
              <a:rPr lang="en-US" sz="1100" dirty="0">
                <a:solidFill>
                  <a:srgbClr val="5A6484"/>
                </a:solidFill>
                <a:latin typeface="Arial" pitchFamily="34" charset="0"/>
                <a:ea typeface="Arial" pitchFamily="34" charset="-122"/>
                <a:cs typeface="Arial" pitchFamily="34" charset="-120"/>
              </a:rPr>
              <a:t>DBP L2 lands within half a point of DBP C1, and beats it outright once the weighting leans on impressions or on seniors. The index does not settle this. Coverage does — slide 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008022" cy="310896"/>
          </a:xfrm>
          <a:prstGeom prst="roundRect">
            <a:avLst>
              <a:gd name="adj" fmla="val 50000"/>
            </a:avLst>
          </a:prstGeom>
          <a:solidFill>
            <a:srgbClr val="F0245E"/>
          </a:solidFill>
          <a:ln/>
        </p:spPr>
      </p:sp>
      <p:sp>
        <p:nvSpPr>
          <p:cNvPr id="3" name="Text 1"/>
          <p:cNvSpPr/>
          <p:nvPr/>
        </p:nvSpPr>
        <p:spPr>
          <a:xfrm>
            <a:off x="502920" y="329184"/>
            <a:ext cx="2008022"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THE TRADE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DBP L2 against DBP C1</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only question worth asking about an alternative: what does it buy you, and what does it cost you.</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5</a:t>
            </a:r>
            <a:endParaRPr lang="en-US" sz="1000" dirty="0"/>
          </a:p>
        </p:txBody>
      </p:sp>
      <p:sp>
        <p:nvSpPr>
          <p:cNvPr id="8" name="Shape 6"/>
          <p:cNvSpPr/>
          <p:nvPr/>
        </p:nvSpPr>
        <p:spPr>
          <a:xfrm>
            <a:off x="502920" y="1965960"/>
            <a:ext cx="5431536" cy="3611880"/>
          </a:xfrm>
          <a:prstGeom prst="roundRect">
            <a:avLst>
              <a:gd name="adj" fmla="val 2278"/>
            </a:avLst>
          </a:prstGeom>
          <a:solidFill>
            <a:srgbClr val="FDF0F4"/>
          </a:solidFill>
          <a:ln w="12700">
            <a:solidFill>
              <a:srgbClr val="F0245E"/>
            </a:solidFill>
            <a:prstDash val="solid"/>
          </a:ln>
        </p:spPr>
      </p:sp>
      <p:sp>
        <p:nvSpPr>
          <p:cNvPr id="9" name="Shape 7"/>
          <p:cNvSpPr/>
          <p:nvPr/>
        </p:nvSpPr>
        <p:spPr>
          <a:xfrm>
            <a:off x="777240" y="2194560"/>
            <a:ext cx="1541678" cy="310896"/>
          </a:xfrm>
          <a:prstGeom prst="roundRect">
            <a:avLst>
              <a:gd name="adj" fmla="val 50000"/>
            </a:avLst>
          </a:prstGeom>
          <a:solidFill>
            <a:srgbClr val="F0245E"/>
          </a:solidFill>
          <a:ln/>
        </p:spPr>
      </p:sp>
      <p:sp>
        <p:nvSpPr>
          <p:cNvPr id="10" name="Text 8"/>
          <p:cNvSpPr/>
          <p:nvPr/>
        </p:nvSpPr>
        <p:spPr>
          <a:xfrm>
            <a:off x="777240" y="2194560"/>
            <a:ext cx="1541678"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WHAT YOU GAIN</a:t>
            </a:r>
            <a:endParaRPr lang="en-US" sz="900" dirty="0"/>
          </a:p>
        </p:txBody>
      </p:sp>
      <p:sp>
        <p:nvSpPr>
          <p:cNvPr id="11" name="Text 9"/>
          <p:cNvSpPr/>
          <p:nvPr/>
        </p:nvSpPr>
        <p:spPr>
          <a:xfrm>
            <a:off x="777240" y="2724912"/>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Seniors</a:t>
            </a:r>
            <a:endParaRPr lang="en-US" sz="1300" dirty="0"/>
          </a:p>
        </p:txBody>
      </p:sp>
      <p:sp>
        <p:nvSpPr>
          <p:cNvPr id="12" name="Text 10"/>
          <p:cNvSpPr/>
          <p:nvPr/>
        </p:nvSpPr>
        <p:spPr>
          <a:xfrm>
            <a:off x="3154680" y="2724912"/>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97.7 vs 90.6</a:t>
            </a:r>
            <a:endParaRPr lang="en-US" sz="1200" dirty="0"/>
          </a:p>
        </p:txBody>
      </p:sp>
      <p:sp>
        <p:nvSpPr>
          <p:cNvPr id="13" name="Text 11"/>
          <p:cNvSpPr/>
          <p:nvPr/>
        </p:nvSpPr>
        <p:spPr>
          <a:xfrm>
            <a:off x="777240" y="3035808"/>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The strongest senior delivery of all four sets — Bukit Merah, Ang Mo Kio, Kallang.</a:t>
            </a:r>
            <a:endParaRPr lang="en-US" sz="1050" dirty="0"/>
          </a:p>
        </p:txBody>
      </p:sp>
      <p:sp>
        <p:nvSpPr>
          <p:cNvPr id="14" name="Text 12"/>
          <p:cNvSpPr/>
          <p:nvPr/>
        </p:nvSpPr>
        <p:spPr>
          <a:xfrm>
            <a:off x="777240" y="3666744"/>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East Region</a:t>
            </a:r>
            <a:endParaRPr lang="en-US" sz="1300" dirty="0"/>
          </a:p>
        </p:txBody>
      </p:sp>
      <p:sp>
        <p:nvSpPr>
          <p:cNvPr id="15" name="Text 13"/>
          <p:cNvSpPr/>
          <p:nvPr/>
        </p:nvSpPr>
        <p:spPr>
          <a:xfrm>
            <a:off x="3154680" y="3666744"/>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28.8% vs 0.0%</a:t>
            </a:r>
            <a:endParaRPr lang="en-US" sz="1200" dirty="0"/>
          </a:p>
        </p:txBody>
      </p:sp>
      <p:sp>
        <p:nvSpPr>
          <p:cNvPr id="16" name="Text 14"/>
          <p:cNvSpPr/>
          <p:nvPr/>
        </p:nvSpPr>
        <p:spPr>
          <a:xfrm>
            <a:off x="777240" y="3977640"/>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Bedok, Tampines and Pasir Ris. DBP C1 does not touch the East at all.</a:t>
            </a:r>
            <a:endParaRPr lang="en-US" sz="1050" dirty="0"/>
          </a:p>
        </p:txBody>
      </p:sp>
      <p:sp>
        <p:nvSpPr>
          <p:cNvPr id="17" name="Text 15"/>
          <p:cNvSpPr/>
          <p:nvPr/>
        </p:nvSpPr>
        <p:spPr>
          <a:xfrm>
            <a:off x="777240" y="4608576"/>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Scale</a:t>
            </a:r>
            <a:endParaRPr lang="en-US" sz="1300" dirty="0"/>
          </a:p>
        </p:txBody>
      </p:sp>
      <p:sp>
        <p:nvSpPr>
          <p:cNvPr id="18" name="Text 16"/>
          <p:cNvSpPr/>
          <p:nvPr/>
        </p:nvSpPr>
        <p:spPr>
          <a:xfrm>
            <a:off x="3154680" y="4608576"/>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1,290,629 weekday</a:t>
            </a:r>
            <a:endParaRPr lang="en-US" sz="1200" dirty="0"/>
          </a:p>
        </p:txBody>
      </p:sp>
      <p:sp>
        <p:nvSpPr>
          <p:cNvPr id="19" name="Text 17"/>
          <p:cNvSpPr/>
          <p:nvPr/>
        </p:nvSpPr>
        <p:spPr>
          <a:xfrm>
            <a:off x="777240" y="4919472"/>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467 stops against 396 — the largest package of the four.</a:t>
            </a:r>
            <a:endParaRPr lang="en-US" sz="1050" dirty="0"/>
          </a:p>
        </p:txBody>
      </p:sp>
      <p:sp>
        <p:nvSpPr>
          <p:cNvPr id="20" name="Shape 18"/>
          <p:cNvSpPr/>
          <p:nvPr/>
        </p:nvSpPr>
        <p:spPr>
          <a:xfrm>
            <a:off x="6254496" y="1965960"/>
            <a:ext cx="5431536" cy="3611880"/>
          </a:xfrm>
          <a:prstGeom prst="roundRect">
            <a:avLst>
              <a:gd name="adj" fmla="val 2278"/>
            </a:avLst>
          </a:prstGeom>
          <a:solidFill>
            <a:srgbClr val="FFFFFF"/>
          </a:solidFill>
          <a:ln w="12700">
            <a:solidFill>
              <a:srgbClr val="D8DDE9"/>
            </a:solidFill>
            <a:prstDash val="solid"/>
          </a:ln>
        </p:spPr>
      </p:sp>
      <p:sp>
        <p:nvSpPr>
          <p:cNvPr id="21" name="Shape 19"/>
          <p:cNvSpPr/>
          <p:nvPr/>
        </p:nvSpPr>
        <p:spPr>
          <a:xfrm>
            <a:off x="6528816" y="2194560"/>
            <a:ext cx="1821485" cy="310896"/>
          </a:xfrm>
          <a:prstGeom prst="roundRect">
            <a:avLst>
              <a:gd name="adj" fmla="val 50000"/>
            </a:avLst>
          </a:prstGeom>
          <a:solidFill>
            <a:srgbClr val="1B2D8A"/>
          </a:solidFill>
          <a:ln/>
        </p:spPr>
      </p:sp>
      <p:sp>
        <p:nvSpPr>
          <p:cNvPr id="22" name="Text 20"/>
          <p:cNvSpPr/>
          <p:nvPr/>
        </p:nvSpPr>
        <p:spPr>
          <a:xfrm>
            <a:off x="6528816" y="2194560"/>
            <a:ext cx="1821485"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WHAT YOU GIVE UP</a:t>
            </a:r>
            <a:endParaRPr lang="en-US" sz="900" dirty="0"/>
          </a:p>
        </p:txBody>
      </p:sp>
      <p:sp>
        <p:nvSpPr>
          <p:cNvPr id="23" name="Text 21"/>
          <p:cNvSpPr/>
          <p:nvPr/>
        </p:nvSpPr>
        <p:spPr>
          <a:xfrm>
            <a:off x="6528816" y="2724912"/>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North Region</a:t>
            </a:r>
            <a:endParaRPr lang="en-US" sz="1300" dirty="0"/>
          </a:p>
        </p:txBody>
      </p:sp>
      <p:sp>
        <p:nvSpPr>
          <p:cNvPr id="24" name="Text 22"/>
          <p:cNvSpPr/>
          <p:nvPr/>
        </p:nvSpPr>
        <p:spPr>
          <a:xfrm>
            <a:off x="8906256" y="2724912"/>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0.0% vs 7.8%</a:t>
            </a:r>
            <a:endParaRPr lang="en-US" sz="1200" dirty="0"/>
          </a:p>
        </p:txBody>
      </p:sp>
      <p:sp>
        <p:nvSpPr>
          <p:cNvPr id="25" name="Text 23"/>
          <p:cNvSpPr/>
          <p:nvPr/>
        </p:nvSpPr>
        <p:spPr>
          <a:xfrm>
            <a:off x="6528816" y="3035808"/>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Nothing at all in Woodlands, Sembawang or Yishun.</a:t>
            </a:r>
            <a:endParaRPr lang="en-US" sz="1050" dirty="0"/>
          </a:p>
        </p:txBody>
      </p:sp>
      <p:sp>
        <p:nvSpPr>
          <p:cNvPr id="26" name="Text 24"/>
          <p:cNvSpPr/>
          <p:nvPr/>
        </p:nvSpPr>
        <p:spPr>
          <a:xfrm>
            <a:off x="6528816" y="3666744"/>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Working adults</a:t>
            </a:r>
            <a:endParaRPr lang="en-US" sz="1300" dirty="0"/>
          </a:p>
        </p:txBody>
      </p:sp>
      <p:sp>
        <p:nvSpPr>
          <p:cNvPr id="27" name="Text 25"/>
          <p:cNvSpPr/>
          <p:nvPr/>
        </p:nvSpPr>
        <p:spPr>
          <a:xfrm>
            <a:off x="8906256" y="3666744"/>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86.8 vs 92.9</a:t>
            </a:r>
            <a:endParaRPr lang="en-US" sz="1200" dirty="0"/>
          </a:p>
        </p:txBody>
      </p:sp>
      <p:sp>
        <p:nvSpPr>
          <p:cNvPr id="28" name="Text 26"/>
          <p:cNvSpPr/>
          <p:nvPr/>
        </p:nvSpPr>
        <p:spPr>
          <a:xfrm>
            <a:off x="6528816" y="3977640"/>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13 interchanges against DBP C1’s 21 — residential, not employment, catchments.</a:t>
            </a:r>
            <a:endParaRPr lang="en-US" sz="1050" dirty="0"/>
          </a:p>
        </p:txBody>
      </p:sp>
      <p:sp>
        <p:nvSpPr>
          <p:cNvPr id="29" name="Text 27"/>
          <p:cNvSpPr/>
          <p:nvPr/>
        </p:nvSpPr>
        <p:spPr>
          <a:xfrm>
            <a:off x="6528816" y="4608576"/>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Duplicate stops</a:t>
            </a:r>
            <a:endParaRPr lang="en-US" sz="1300" dirty="0"/>
          </a:p>
        </p:txBody>
      </p:sp>
      <p:sp>
        <p:nvSpPr>
          <p:cNvPr id="30" name="Text 28"/>
          <p:cNvSpPr/>
          <p:nvPr/>
        </p:nvSpPr>
        <p:spPr>
          <a:xfrm>
            <a:off x="8906256" y="4608576"/>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28 vs 5</a:t>
            </a:r>
            <a:endParaRPr lang="en-US" sz="1200" dirty="0"/>
          </a:p>
        </p:txBody>
      </p:sp>
      <p:sp>
        <p:nvSpPr>
          <p:cNvPr id="31" name="Text 29"/>
          <p:cNvSpPr/>
          <p:nvPr/>
        </p:nvSpPr>
        <p:spPr>
          <a:xfrm>
            <a:off x="6528816" y="4919472"/>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Six per cent of the buy is roadside paid for twice, through the Toa Payoh–Bukit Merah spine.</a:t>
            </a:r>
            <a:endParaRPr lang="en-US" sz="1050" dirty="0"/>
          </a:p>
        </p:txBody>
      </p:sp>
      <p:sp>
        <p:nvSpPr>
          <p:cNvPr id="32" name="Shape 30"/>
          <p:cNvSpPr/>
          <p:nvPr/>
        </p:nvSpPr>
        <p:spPr>
          <a:xfrm>
            <a:off x="502920" y="5742432"/>
            <a:ext cx="11183112" cy="566928"/>
          </a:xfrm>
          <a:prstGeom prst="roundRect">
            <a:avLst>
              <a:gd name="adj" fmla="val 14516"/>
            </a:avLst>
          </a:prstGeom>
          <a:solidFill>
            <a:srgbClr val="F5F7FC"/>
          </a:solidFill>
          <a:ln w="12700">
            <a:solidFill>
              <a:srgbClr val="D8DDE9"/>
            </a:solidFill>
            <a:prstDash val="solid"/>
          </a:ln>
        </p:spPr>
      </p:sp>
      <p:sp>
        <p:nvSpPr>
          <p:cNvPr id="33" name="Text 31"/>
          <p:cNvSpPr/>
          <p:nvPr/>
        </p:nvSpPr>
        <p:spPr>
          <a:xfrm>
            <a:off x="795528" y="5833872"/>
            <a:ext cx="10607040" cy="384048"/>
          </a:xfrm>
          <a:prstGeom prst="rect">
            <a:avLst/>
          </a:prstGeom>
          <a:noFill/>
          <a:ln/>
        </p:spPr>
        <p:txBody>
          <a:bodyPr wrap="square" lIns="0" tIns="0" rIns="0" bIns="0" rtlCol="0" anchor="ctr"/>
          <a:lstStyle/>
          <a:p>
            <a:pPr indent="0" marL="0">
              <a:buNone/>
            </a:pPr>
            <a:r>
              <a:rPr lang="en-US" sz="1100" dirty="0">
                <a:solidFill>
                  <a:srgbClr val="1B2D8A"/>
                </a:solidFill>
                <a:latin typeface="Arial" pitchFamily="34" charset="0"/>
                <a:ea typeface="Arial" pitchFamily="34" charset="-122"/>
                <a:cs typeface="Arial" pitchFamily="34" charset="-120"/>
              </a:rPr>
              <a:t>DBP L2 and DBP C1 both beat Set 1 and DBP C2 under every weighting tested. The choice is only ever between these two.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DELIVERY</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DBP L2 delivers, audience by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Index out of 100, and the places on the ground that carry it.</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6</a:t>
            </a:r>
            <a:endParaRPr lang="en-US" sz="1000" dirty="0"/>
          </a:p>
        </p:txBody>
      </p:sp>
      <p:sp>
        <p:nvSpPr>
          <p:cNvPr id="8" name="Shape 6"/>
          <p:cNvSpPr/>
          <p:nvPr/>
        </p:nvSpPr>
        <p:spPr>
          <a:xfrm>
            <a:off x="502920" y="1920240"/>
            <a:ext cx="11183112" cy="749808"/>
          </a:xfrm>
          <a:prstGeom prst="roundRect">
            <a:avLst>
              <a:gd name="adj" fmla="val 10976"/>
            </a:avLst>
          </a:prstGeom>
          <a:solidFill>
            <a:srgbClr val="FFFFFF"/>
          </a:solidFill>
          <a:ln w="12700">
            <a:solidFill>
              <a:srgbClr val="D8DDE9"/>
            </a:solidFill>
            <a:prstDash val="solid"/>
          </a:ln>
        </p:spPr>
      </p:sp>
      <p:sp>
        <p:nvSpPr>
          <p:cNvPr id="9" name="Text 7"/>
          <p:cNvSpPr/>
          <p:nvPr/>
        </p:nvSpPr>
        <p:spPr>
          <a:xfrm>
            <a:off x="795528" y="210312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Young children</a:t>
            </a:r>
            <a:endParaRPr lang="en-US" sz="1400" dirty="0"/>
          </a:p>
        </p:txBody>
      </p:sp>
      <p:sp>
        <p:nvSpPr>
          <p:cNvPr id="10" name="Shape 8"/>
          <p:cNvSpPr/>
          <p:nvPr/>
        </p:nvSpPr>
        <p:spPr>
          <a:xfrm>
            <a:off x="3703320" y="2212848"/>
            <a:ext cx="3200400" cy="164592"/>
          </a:xfrm>
          <a:prstGeom prst="roundRect">
            <a:avLst>
              <a:gd name="adj" fmla="val 50000"/>
            </a:avLst>
          </a:prstGeom>
          <a:solidFill>
            <a:srgbClr val="EBEFF7"/>
          </a:solidFill>
          <a:ln/>
        </p:spPr>
      </p:sp>
      <p:sp>
        <p:nvSpPr>
          <p:cNvPr id="11" name="Shape 9"/>
          <p:cNvSpPr/>
          <p:nvPr/>
        </p:nvSpPr>
        <p:spPr>
          <a:xfrm>
            <a:off x="3703320" y="2212848"/>
            <a:ext cx="3046781" cy="164592"/>
          </a:xfrm>
          <a:prstGeom prst="roundRect">
            <a:avLst>
              <a:gd name="adj" fmla="val 50000"/>
            </a:avLst>
          </a:prstGeom>
          <a:solidFill>
            <a:srgbClr val="F0245E"/>
          </a:solidFill>
          <a:ln/>
        </p:spPr>
      </p:sp>
      <p:sp>
        <p:nvSpPr>
          <p:cNvPr id="12" name="Text 10"/>
          <p:cNvSpPr/>
          <p:nvPr/>
        </p:nvSpPr>
        <p:spPr>
          <a:xfrm>
            <a:off x="7013448" y="210312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95.2</a:t>
            </a:r>
            <a:endParaRPr lang="en-US" sz="1250" dirty="0"/>
          </a:p>
        </p:txBody>
      </p:sp>
      <p:sp>
        <p:nvSpPr>
          <p:cNvPr id="13" name="Text 11"/>
          <p:cNvSpPr/>
          <p:nvPr/>
        </p:nvSpPr>
        <p:spPr>
          <a:xfrm>
            <a:off x="7772400" y="210312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44 primary schools · 62 student-care centres</a:t>
            </a:r>
            <a:endParaRPr lang="en-US" sz="1050" dirty="0"/>
          </a:p>
        </p:txBody>
      </p:sp>
      <p:sp>
        <p:nvSpPr>
          <p:cNvPr id="14" name="Shape 12"/>
          <p:cNvSpPr/>
          <p:nvPr/>
        </p:nvSpPr>
        <p:spPr>
          <a:xfrm>
            <a:off x="502920" y="2743200"/>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95528" y="292608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Seniors</a:t>
            </a:r>
            <a:endParaRPr lang="en-US" sz="1400" dirty="0"/>
          </a:p>
        </p:txBody>
      </p:sp>
      <p:sp>
        <p:nvSpPr>
          <p:cNvPr id="16" name="Shape 14"/>
          <p:cNvSpPr/>
          <p:nvPr/>
        </p:nvSpPr>
        <p:spPr>
          <a:xfrm>
            <a:off x="3703320" y="3035808"/>
            <a:ext cx="3200400" cy="164592"/>
          </a:xfrm>
          <a:prstGeom prst="roundRect">
            <a:avLst>
              <a:gd name="adj" fmla="val 50000"/>
            </a:avLst>
          </a:prstGeom>
          <a:solidFill>
            <a:srgbClr val="EBEFF7"/>
          </a:solidFill>
          <a:ln/>
        </p:spPr>
      </p:sp>
      <p:sp>
        <p:nvSpPr>
          <p:cNvPr id="17" name="Shape 15"/>
          <p:cNvSpPr/>
          <p:nvPr/>
        </p:nvSpPr>
        <p:spPr>
          <a:xfrm>
            <a:off x="3703320" y="3035808"/>
            <a:ext cx="3126791" cy="164592"/>
          </a:xfrm>
          <a:prstGeom prst="roundRect">
            <a:avLst>
              <a:gd name="adj" fmla="val 50000"/>
            </a:avLst>
          </a:prstGeom>
          <a:solidFill>
            <a:srgbClr val="F0245E"/>
          </a:solidFill>
          <a:ln/>
        </p:spPr>
      </p:sp>
      <p:sp>
        <p:nvSpPr>
          <p:cNvPr id="18" name="Text 16"/>
          <p:cNvSpPr/>
          <p:nvPr/>
        </p:nvSpPr>
        <p:spPr>
          <a:xfrm>
            <a:off x="7013448" y="292608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97.7</a:t>
            </a:r>
            <a:endParaRPr lang="en-US" sz="1250" dirty="0"/>
          </a:p>
        </p:txBody>
      </p:sp>
      <p:sp>
        <p:nvSpPr>
          <p:cNvPr id="19" name="Text 17"/>
          <p:cNvSpPr/>
          <p:nvPr/>
        </p:nvSpPr>
        <p:spPr>
          <a:xfrm>
            <a:off x="7772400" y="292608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38 eldercare · 33 community clubs · 7 polyclinics</a:t>
            </a:r>
            <a:endParaRPr lang="en-US" sz="1050" dirty="0"/>
          </a:p>
        </p:txBody>
      </p:sp>
      <p:sp>
        <p:nvSpPr>
          <p:cNvPr id="20" name="Shape 18"/>
          <p:cNvSpPr/>
          <p:nvPr/>
        </p:nvSpPr>
        <p:spPr>
          <a:xfrm>
            <a:off x="502920" y="3566160"/>
            <a:ext cx="11183112" cy="749808"/>
          </a:xfrm>
          <a:prstGeom prst="roundRect">
            <a:avLst>
              <a:gd name="adj" fmla="val 10976"/>
            </a:avLst>
          </a:prstGeom>
          <a:solidFill>
            <a:srgbClr val="FFFFFF"/>
          </a:solidFill>
          <a:ln w="12700">
            <a:solidFill>
              <a:srgbClr val="D8DDE9"/>
            </a:solidFill>
            <a:prstDash val="solid"/>
          </a:ln>
        </p:spPr>
      </p:sp>
      <p:sp>
        <p:nvSpPr>
          <p:cNvPr id="21" name="Text 19"/>
          <p:cNvSpPr/>
          <p:nvPr/>
        </p:nvSpPr>
        <p:spPr>
          <a:xfrm>
            <a:off x="795528" y="374904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Working adults</a:t>
            </a:r>
            <a:endParaRPr lang="en-US" sz="1400" dirty="0"/>
          </a:p>
        </p:txBody>
      </p:sp>
      <p:sp>
        <p:nvSpPr>
          <p:cNvPr id="22" name="Shape 20"/>
          <p:cNvSpPr/>
          <p:nvPr/>
        </p:nvSpPr>
        <p:spPr>
          <a:xfrm>
            <a:off x="3703320" y="3858768"/>
            <a:ext cx="3200400" cy="164592"/>
          </a:xfrm>
          <a:prstGeom prst="roundRect">
            <a:avLst>
              <a:gd name="adj" fmla="val 50000"/>
            </a:avLst>
          </a:prstGeom>
          <a:solidFill>
            <a:srgbClr val="EBEFF7"/>
          </a:solidFill>
          <a:ln/>
        </p:spPr>
      </p:sp>
      <p:sp>
        <p:nvSpPr>
          <p:cNvPr id="23" name="Shape 21"/>
          <p:cNvSpPr/>
          <p:nvPr/>
        </p:nvSpPr>
        <p:spPr>
          <a:xfrm>
            <a:off x="3703320" y="3858768"/>
            <a:ext cx="2777947" cy="164592"/>
          </a:xfrm>
          <a:prstGeom prst="roundRect">
            <a:avLst>
              <a:gd name="adj" fmla="val 50000"/>
            </a:avLst>
          </a:prstGeom>
          <a:solidFill>
            <a:srgbClr val="F0245E"/>
          </a:solidFill>
          <a:ln/>
        </p:spPr>
      </p:sp>
      <p:sp>
        <p:nvSpPr>
          <p:cNvPr id="24" name="Text 22"/>
          <p:cNvSpPr/>
          <p:nvPr/>
        </p:nvSpPr>
        <p:spPr>
          <a:xfrm>
            <a:off x="7013448" y="374904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86.8</a:t>
            </a:r>
            <a:endParaRPr lang="en-US" sz="1250" dirty="0"/>
          </a:p>
        </p:txBody>
      </p:sp>
      <p:sp>
        <p:nvSpPr>
          <p:cNvPr id="25" name="Text 23"/>
          <p:cNvSpPr/>
          <p:nvPr/>
        </p:nvSpPr>
        <p:spPr>
          <a:xfrm>
            <a:off x="7772400" y="374904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13 MRT/LRT interchanges · 99 malls</a:t>
            </a:r>
            <a:endParaRPr lang="en-US" sz="1050" dirty="0"/>
          </a:p>
        </p:txBody>
      </p:sp>
      <p:sp>
        <p:nvSpPr>
          <p:cNvPr id="26" name="Shape 24"/>
          <p:cNvSpPr/>
          <p:nvPr/>
        </p:nvSpPr>
        <p:spPr>
          <a:xfrm>
            <a:off x="502920" y="4389120"/>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95528" y="457200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Sandwich generation</a:t>
            </a:r>
            <a:endParaRPr lang="en-US" sz="1400" dirty="0"/>
          </a:p>
        </p:txBody>
      </p:sp>
      <p:sp>
        <p:nvSpPr>
          <p:cNvPr id="28" name="Shape 26"/>
          <p:cNvSpPr/>
          <p:nvPr/>
        </p:nvSpPr>
        <p:spPr>
          <a:xfrm>
            <a:off x="3703320" y="4681728"/>
            <a:ext cx="3200400" cy="164592"/>
          </a:xfrm>
          <a:prstGeom prst="roundRect">
            <a:avLst>
              <a:gd name="adj" fmla="val 50000"/>
            </a:avLst>
          </a:prstGeom>
          <a:solidFill>
            <a:srgbClr val="EBEFF7"/>
          </a:solidFill>
          <a:ln/>
        </p:spPr>
      </p:sp>
      <p:sp>
        <p:nvSpPr>
          <p:cNvPr id="29" name="Shape 27"/>
          <p:cNvSpPr/>
          <p:nvPr/>
        </p:nvSpPr>
        <p:spPr>
          <a:xfrm>
            <a:off x="3703320" y="4681728"/>
            <a:ext cx="3005176" cy="164592"/>
          </a:xfrm>
          <a:prstGeom prst="roundRect">
            <a:avLst>
              <a:gd name="adj" fmla="val 50000"/>
            </a:avLst>
          </a:prstGeom>
          <a:solidFill>
            <a:srgbClr val="F0245E"/>
          </a:solidFill>
          <a:ln/>
        </p:spPr>
      </p:sp>
      <p:sp>
        <p:nvSpPr>
          <p:cNvPr id="30" name="Text 28"/>
          <p:cNvSpPr/>
          <p:nvPr/>
        </p:nvSpPr>
        <p:spPr>
          <a:xfrm>
            <a:off x="7013448" y="457200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93.9</a:t>
            </a:r>
            <a:endParaRPr lang="en-US" sz="1250" dirty="0"/>
          </a:p>
        </p:txBody>
      </p:sp>
      <p:sp>
        <p:nvSpPr>
          <p:cNvPr id="31" name="Text 29"/>
          <p:cNvSpPr/>
          <p:nvPr/>
        </p:nvSpPr>
        <p:spPr>
          <a:xfrm>
            <a:off x="7772400" y="457200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87 stops with a school and a senior place inside 400 m</a:t>
            </a:r>
            <a:endParaRPr lang="en-US" sz="1050" dirty="0"/>
          </a:p>
        </p:txBody>
      </p:sp>
      <p:sp>
        <p:nvSpPr>
          <p:cNvPr id="32" name="Shape 30"/>
          <p:cNvSpPr/>
          <p:nvPr/>
        </p:nvSpPr>
        <p:spPr>
          <a:xfrm>
            <a:off x="502920" y="5212080"/>
            <a:ext cx="11183112" cy="749808"/>
          </a:xfrm>
          <a:prstGeom prst="roundRect">
            <a:avLst>
              <a:gd name="adj" fmla="val 10976"/>
            </a:avLst>
          </a:prstGeom>
          <a:solidFill>
            <a:srgbClr val="FFFFFF"/>
          </a:solidFill>
          <a:ln w="12700">
            <a:solidFill>
              <a:srgbClr val="D8DDE9"/>
            </a:solidFill>
            <a:prstDash val="solid"/>
          </a:ln>
        </p:spPr>
      </p:sp>
      <p:sp>
        <p:nvSpPr>
          <p:cNvPr id="33" name="Text 31"/>
          <p:cNvSpPr/>
          <p:nvPr/>
        </p:nvSpPr>
        <p:spPr>
          <a:xfrm>
            <a:off x="795528" y="539496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Youth</a:t>
            </a:r>
            <a:endParaRPr lang="en-US" sz="1400" dirty="0"/>
          </a:p>
        </p:txBody>
      </p:sp>
      <p:sp>
        <p:nvSpPr>
          <p:cNvPr id="34" name="Shape 32"/>
          <p:cNvSpPr/>
          <p:nvPr/>
        </p:nvSpPr>
        <p:spPr>
          <a:xfrm>
            <a:off x="3703320" y="5504688"/>
            <a:ext cx="3200400" cy="164592"/>
          </a:xfrm>
          <a:prstGeom prst="roundRect">
            <a:avLst>
              <a:gd name="adj" fmla="val 50000"/>
            </a:avLst>
          </a:prstGeom>
          <a:solidFill>
            <a:srgbClr val="EBEFF7"/>
          </a:solidFill>
          <a:ln/>
        </p:spPr>
      </p:sp>
      <p:sp>
        <p:nvSpPr>
          <p:cNvPr id="35" name="Shape 33"/>
          <p:cNvSpPr/>
          <p:nvPr/>
        </p:nvSpPr>
        <p:spPr>
          <a:xfrm>
            <a:off x="3703320" y="5504688"/>
            <a:ext cx="2966771" cy="164592"/>
          </a:xfrm>
          <a:prstGeom prst="roundRect">
            <a:avLst>
              <a:gd name="adj" fmla="val 50000"/>
            </a:avLst>
          </a:prstGeom>
          <a:solidFill>
            <a:srgbClr val="F0245E"/>
          </a:solidFill>
          <a:ln/>
        </p:spPr>
      </p:sp>
      <p:sp>
        <p:nvSpPr>
          <p:cNvPr id="36" name="Text 34"/>
          <p:cNvSpPr/>
          <p:nvPr/>
        </p:nvSpPr>
        <p:spPr>
          <a:xfrm>
            <a:off x="7013448" y="539496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92.7</a:t>
            </a:r>
            <a:endParaRPr lang="en-US" sz="1250" dirty="0"/>
          </a:p>
        </p:txBody>
      </p:sp>
      <p:sp>
        <p:nvSpPr>
          <p:cNvPr id="37" name="Text 35"/>
          <p:cNvSpPr/>
          <p:nvPr/>
        </p:nvSpPr>
        <p:spPr>
          <a:xfrm>
            <a:off x="7772400" y="539496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37 secondary · 2 JCs · 15 SportSG · 13 cinemas · 10 libraries</a:t>
            </a:r>
            <a:endParaRPr lang="en-US" sz="1050" dirty="0"/>
          </a:p>
        </p:txBody>
      </p:sp>
      <p:sp>
        <p:nvSpPr>
          <p:cNvPr id="38" name="Text 36"/>
          <p:cNvSpPr/>
          <p:nvPr/>
        </p:nvSpPr>
        <p:spPr>
          <a:xfrm>
            <a:off x="502920" y="6053328"/>
            <a:ext cx="10607040" cy="32004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Index is relative: 100 = the best of the four sets in that column, not a percentage of the audience reached.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287829" cy="310896"/>
          </a:xfrm>
          <a:prstGeom prst="roundRect">
            <a:avLst>
              <a:gd name="adj" fmla="val 50000"/>
            </a:avLst>
          </a:prstGeom>
          <a:solidFill>
            <a:srgbClr val="F0245E"/>
          </a:solidFill>
          <a:ln/>
        </p:spPr>
      </p:sp>
      <p:sp>
        <p:nvSpPr>
          <p:cNvPr id="3" name="Text 1"/>
          <p:cNvSpPr/>
          <p:nvPr/>
        </p:nvSpPr>
        <p:spPr>
          <a:xfrm>
            <a:off x="502920" y="329184"/>
            <a:ext cx="2287829"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SANDWICH GEN</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The sandwich generation, actually measured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No place layer maps "adult with a child in school and a parent in a clinic". So we measured the corridor instead.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7</a:t>
            </a:r>
            <a:endParaRPr lang="en-US" sz="1000" dirty="0"/>
          </a:p>
        </p:txBody>
      </p:sp>
      <p:sp>
        <p:nvSpPr>
          <p:cNvPr id="8" name="Shape 6"/>
          <p:cNvSpPr/>
          <p:nvPr/>
        </p:nvSpPr>
        <p:spPr>
          <a:xfrm>
            <a:off x="502920" y="2011680"/>
            <a:ext cx="3931920" cy="3017520"/>
          </a:xfrm>
          <a:prstGeom prst="roundRect">
            <a:avLst>
              <a:gd name="adj" fmla="val 2727"/>
            </a:avLst>
          </a:prstGeom>
          <a:solidFill>
            <a:srgbClr val="1B2D8A"/>
          </a:solidFill>
          <a:ln/>
        </p:spPr>
      </p:sp>
      <p:sp>
        <p:nvSpPr>
          <p:cNvPr id="9" name="Text 7"/>
          <p:cNvSpPr/>
          <p:nvPr/>
        </p:nvSpPr>
        <p:spPr>
          <a:xfrm>
            <a:off x="777240" y="2331720"/>
            <a:ext cx="3383280" cy="118872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87</a:t>
            </a:r>
            <a:endParaRPr lang="en-US" sz="7600" dirty="0"/>
          </a:p>
        </p:txBody>
      </p:sp>
      <p:sp>
        <p:nvSpPr>
          <p:cNvPr id="10" name="Text 8"/>
          <p:cNvSpPr/>
          <p:nvPr/>
        </p:nvSpPr>
        <p:spPr>
          <a:xfrm>
            <a:off x="777240" y="3566160"/>
            <a:ext cx="3383280" cy="914400"/>
          </a:xfrm>
          <a:prstGeom prst="rect">
            <a:avLst/>
          </a:prstGeom>
          <a:noFill/>
          <a:ln/>
        </p:spPr>
        <p:txBody>
          <a:bodyPr wrap="square" lIns="0" tIns="0" rIns="0" bIns="0" rtlCol="0" anchor="ctr"/>
          <a:lstStyle/>
          <a:p>
            <a:pPr indent="0" marL="0">
              <a:buNone/>
            </a:pPr>
            <a:r>
              <a:rPr lang="en-US" sz="1300" dirty="0">
                <a:solidFill>
                  <a:srgbClr val="CBD3F2"/>
                </a:solidFill>
                <a:latin typeface="Arial" pitchFamily="34" charset="0"/>
                <a:ea typeface="Arial" pitchFamily="34" charset="-122"/>
                <a:cs typeface="Arial" pitchFamily="34" charset="-120"/>
              </a:rPr>
              <a:t>stops on DBP L2 with BOTH a child place and a senior place within 400 m</a:t>
            </a:r>
            <a:endParaRPr lang="en-US" sz="1300" dirty="0"/>
          </a:p>
        </p:txBody>
      </p:sp>
      <p:sp>
        <p:nvSpPr>
          <p:cNvPr id="11" name="Text 9"/>
          <p:cNvSpPr/>
          <p:nvPr/>
        </p:nvSpPr>
        <p:spPr>
          <a:xfrm>
            <a:off x="777240" y="4434840"/>
            <a:ext cx="3383280" cy="320040"/>
          </a:xfrm>
          <a:prstGeom prst="rect">
            <a:avLst/>
          </a:prstGeom>
          <a:noFill/>
          <a:ln/>
        </p:spPr>
        <p:txBody>
          <a:bodyPr wrap="square" lIns="0" tIns="0" rIns="0" bIns="0" rtlCol="0" anchor="ctr"/>
          <a:lstStyle/>
          <a:p>
            <a:pPr indent="0" marL="0">
              <a:buNone/>
            </a:pPr>
            <a:r>
              <a:rPr lang="en-US" sz="1100" b="1" dirty="0">
                <a:solidFill>
                  <a:srgbClr val="F0245E"/>
                </a:solidFill>
                <a:latin typeface="Arial" pitchFamily="34" charset="0"/>
                <a:ea typeface="Arial" pitchFamily="34" charset="-122"/>
                <a:cs typeface="Arial" pitchFamily="34" charset="-120"/>
              </a:rPr>
              <a:t>DBP C1: 99   ·   DBP C2: 84   ·   Set 1: 77</a:t>
            </a:r>
            <a:endParaRPr lang="en-US" sz="1100" dirty="0"/>
          </a:p>
        </p:txBody>
      </p:sp>
      <p:sp>
        <p:nvSpPr>
          <p:cNvPr id="12" name="Shape 10"/>
          <p:cNvSpPr/>
          <p:nvPr/>
        </p:nvSpPr>
        <p:spPr>
          <a:xfrm>
            <a:off x="4754880" y="2011680"/>
            <a:ext cx="6931152" cy="3017520"/>
          </a:xfrm>
          <a:prstGeom prst="roundRect">
            <a:avLst>
              <a:gd name="adj" fmla="val 2727"/>
            </a:avLst>
          </a:prstGeom>
          <a:solidFill>
            <a:srgbClr val="FFFFFF"/>
          </a:solidFill>
          <a:ln w="12700">
            <a:solidFill>
              <a:srgbClr val="D8DDE9"/>
            </a:solidFill>
            <a:prstDash val="solid"/>
          </a:ln>
        </p:spPr>
      </p:sp>
      <p:sp>
        <p:nvSpPr>
          <p:cNvPr id="13" name="Text 11"/>
          <p:cNvSpPr/>
          <p:nvPr/>
        </p:nvSpPr>
        <p:spPr>
          <a:xfrm>
            <a:off x="5047488" y="2240280"/>
            <a:ext cx="6309360" cy="329184"/>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Why this is the number to trust</a:t>
            </a:r>
            <a:endParaRPr lang="en-US" sz="1500" dirty="0"/>
          </a:p>
        </p:txBody>
      </p:sp>
      <p:sp>
        <p:nvSpPr>
          <p:cNvPr id="14" name="Text 12"/>
          <p:cNvSpPr/>
          <p:nvPr/>
        </p:nvSpPr>
        <p:spPr>
          <a:xfrm>
            <a:off x="5047488" y="2633472"/>
            <a:ext cx="6309360" cy="731520"/>
          </a:xfrm>
          <a:prstGeom prst="rect">
            <a:avLst/>
          </a:prstGeom>
          <a:noFill/>
          <a:ln/>
        </p:spPr>
        <p:txBody>
          <a:bodyPr wrap="square" lIns="0" tIns="0" rIns="0" bIns="0" rtlCol="0" anchor="ctr"/>
          <a:lstStyle/>
          <a:p>
            <a:pPr indent="0" marL="0">
              <a:buNone/>
            </a:pPr>
            <a:endParaRPr lang="en-US" sz="1150" dirty="0"/>
          </a:p>
        </p:txBody>
      </p:sp>
      <p:sp>
        <p:nvSpPr>
          <p:cNvPr id="15" name="Text 13"/>
          <p:cNvSpPr/>
          <p:nvPr/>
        </p:nvSpPr>
        <p:spPr>
          <a:xfrm>
            <a:off x="5047488" y="3401568"/>
            <a:ext cx="630936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It is also the only audience of the five that is defined by a behaviour rather than an age band — the caregiving trip, run after work and at the weekend. That is why it drives the dayparting on slide 11.</a:t>
            </a:r>
            <a:endParaRPr lang="en-US" sz="1150" dirty="0"/>
          </a:p>
        </p:txBody>
      </p:sp>
      <p:sp>
        <p:nvSpPr>
          <p:cNvPr id="16" name="Text 14"/>
          <p:cNvSpPr/>
          <p:nvPr/>
        </p:nvSpPr>
        <p:spPr>
          <a:xfrm>
            <a:off x="5047488" y="4114800"/>
            <a:ext cx="6309360" cy="640080"/>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DBP L2 posts the highest sandwich index of the four (93.9) on impressions, though DBP C1 passes more caregiving corridors outright.</a:t>
            </a:r>
            <a:endParaRPr lang="en-US" sz="1200" dirty="0"/>
          </a:p>
        </p:txBody>
      </p:sp>
      <p:sp>
        <p:nvSpPr>
          <p:cNvPr id="17" name="Shape 15"/>
          <p:cNvSpPr/>
          <p:nvPr/>
        </p:nvSpPr>
        <p:spPr>
          <a:xfrm>
            <a:off x="502920" y="5193792"/>
            <a:ext cx="11183112" cy="713232"/>
          </a:xfrm>
          <a:prstGeom prst="roundRect">
            <a:avLst>
              <a:gd name="adj" fmla="val 11538"/>
            </a:avLst>
          </a:prstGeom>
          <a:solidFill>
            <a:srgbClr val="F5F7FC"/>
          </a:solidFill>
          <a:ln w="12700">
            <a:solidFill>
              <a:srgbClr val="D8DDE9"/>
            </a:solidFill>
            <a:prstDash val="solid"/>
          </a:ln>
        </p:spPr>
      </p:sp>
      <p:sp>
        <p:nvSpPr>
          <p:cNvPr id="18" name="Text 16"/>
          <p:cNvSpPr/>
          <p:nvPr/>
        </p:nvSpPr>
        <p:spPr>
          <a:xfrm>
            <a:off x="795528" y="5321808"/>
            <a:ext cx="10607040" cy="457200"/>
          </a:xfrm>
          <a:prstGeom prst="rect">
            <a:avLst/>
          </a:prstGeom>
          <a:noFill/>
          <a:ln/>
        </p:spPr>
        <p:txBody>
          <a:bodyPr wrap="square" lIns="0" tIns="0" rIns="0" bIns="0" rtlCol="0" anchor="ctr"/>
          <a:lstStyle/>
          <a:p>
            <a:pPr indent="0" marL="0">
              <a:buNone/>
            </a:pPr>
            <a:r>
              <a:rPr lang="en-US" sz="1150" dirty="0">
                <a:solidFill>
                  <a:srgbClr val="1B2D8A"/>
                </a:solidFill>
                <a:latin typeface="Arial" pitchFamily="34" charset="0"/>
                <a:ea typeface="Arial" pitchFamily="34" charset="-122"/>
                <a:cs typeface="Arial" pitchFamily="34" charset="-120"/>
              </a:rPr>
              <a:t>Top caregiving zones — Ang Mo Kio (19) · Bukit Merah (14) · Bedok (8) · Tampines (8) · Bukit Panjang (8)</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COVERAGE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Strong in the East, blind in the North</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audience index counts seniors — but not where they live. This is the trade DBP L2 makes.</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8</a:t>
            </a:r>
            <a:endParaRPr lang="en-US" sz="1000" dirty="0"/>
          </a:p>
        </p:txBody>
      </p:sp>
      <p:sp>
        <p:nvSpPr>
          <p:cNvPr id="8" name="Text 6"/>
          <p:cNvSpPr/>
          <p:nvPr/>
        </p:nvSpPr>
        <p:spPr>
          <a:xfrm>
            <a:off x="22860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Central</a:t>
            </a:r>
            <a:endParaRPr lang="en-US" sz="1050" dirty="0"/>
          </a:p>
        </p:txBody>
      </p:sp>
      <p:sp>
        <p:nvSpPr>
          <p:cNvPr id="9" name="Text 7"/>
          <p:cNvSpPr/>
          <p:nvPr/>
        </p:nvSpPr>
        <p:spPr>
          <a:xfrm>
            <a:off x="41148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East</a:t>
            </a:r>
            <a:endParaRPr lang="en-US" sz="1050" dirty="0"/>
          </a:p>
        </p:txBody>
      </p:sp>
      <p:sp>
        <p:nvSpPr>
          <p:cNvPr id="10" name="Text 8"/>
          <p:cNvSpPr/>
          <p:nvPr/>
        </p:nvSpPr>
        <p:spPr>
          <a:xfrm>
            <a:off x="59436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a:t>
            </a:r>
            <a:endParaRPr lang="en-US" sz="1050" dirty="0"/>
          </a:p>
        </p:txBody>
      </p:sp>
      <p:sp>
        <p:nvSpPr>
          <p:cNvPr id="11" name="Text 9"/>
          <p:cNvSpPr/>
          <p:nvPr/>
        </p:nvSpPr>
        <p:spPr>
          <a:xfrm>
            <a:off x="77724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North-East</a:t>
            </a:r>
            <a:endParaRPr lang="en-US" sz="1050" dirty="0"/>
          </a:p>
        </p:txBody>
      </p:sp>
      <p:sp>
        <p:nvSpPr>
          <p:cNvPr id="12" name="Text 10"/>
          <p:cNvSpPr/>
          <p:nvPr/>
        </p:nvSpPr>
        <p:spPr>
          <a:xfrm>
            <a:off x="96012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West</a:t>
            </a:r>
            <a:endParaRPr lang="en-US" sz="1050" dirty="0"/>
          </a:p>
        </p:txBody>
      </p:sp>
      <p:sp>
        <p:nvSpPr>
          <p:cNvPr id="13" name="Text 11"/>
          <p:cNvSpPr/>
          <p:nvPr/>
        </p:nvSpPr>
        <p:spPr>
          <a:xfrm>
            <a:off x="502920" y="2286000"/>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Set 1</a:t>
            </a:r>
            <a:endParaRPr lang="en-US" sz="1300" dirty="0"/>
          </a:p>
        </p:txBody>
      </p:sp>
      <p:sp>
        <p:nvSpPr>
          <p:cNvPr id="14" name="Shape 12"/>
          <p:cNvSpPr/>
          <p:nvPr/>
        </p:nvSpPr>
        <p:spPr>
          <a:xfrm>
            <a:off x="2340864" y="2286000"/>
            <a:ext cx="1719072" cy="566928"/>
          </a:xfrm>
          <a:prstGeom prst="roundRect">
            <a:avLst>
              <a:gd name="adj" fmla="val 11290"/>
            </a:avLst>
          </a:prstGeom>
          <a:solidFill>
            <a:srgbClr val="4A5BB0"/>
          </a:solidFill>
          <a:ln/>
        </p:spPr>
      </p:sp>
      <p:sp>
        <p:nvSpPr>
          <p:cNvPr id="15" name="Text 13"/>
          <p:cNvSpPr/>
          <p:nvPr/>
        </p:nvSpPr>
        <p:spPr>
          <a:xfrm>
            <a:off x="23408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24.0%</a:t>
            </a:r>
            <a:endParaRPr lang="en-US" sz="1200" dirty="0"/>
          </a:p>
        </p:txBody>
      </p:sp>
      <p:sp>
        <p:nvSpPr>
          <p:cNvPr id="16" name="Shape 14"/>
          <p:cNvSpPr/>
          <p:nvPr/>
        </p:nvSpPr>
        <p:spPr>
          <a:xfrm>
            <a:off x="4169664" y="2286000"/>
            <a:ext cx="1719072" cy="566928"/>
          </a:xfrm>
          <a:prstGeom prst="roundRect">
            <a:avLst>
              <a:gd name="adj" fmla="val 11290"/>
            </a:avLst>
          </a:prstGeom>
          <a:solidFill>
            <a:srgbClr val="4A5BB0"/>
          </a:solidFill>
          <a:ln/>
        </p:spPr>
      </p:sp>
      <p:sp>
        <p:nvSpPr>
          <p:cNvPr id="17" name="Text 15"/>
          <p:cNvSpPr/>
          <p:nvPr/>
        </p:nvSpPr>
        <p:spPr>
          <a:xfrm>
            <a:off x="41696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28.9%</a:t>
            </a:r>
            <a:endParaRPr lang="en-US" sz="1200" dirty="0"/>
          </a:p>
        </p:txBody>
      </p:sp>
      <p:sp>
        <p:nvSpPr>
          <p:cNvPr id="18" name="Shape 16"/>
          <p:cNvSpPr/>
          <p:nvPr/>
        </p:nvSpPr>
        <p:spPr>
          <a:xfrm>
            <a:off x="5998464" y="2286000"/>
            <a:ext cx="1719072" cy="566928"/>
          </a:xfrm>
          <a:prstGeom prst="roundRect">
            <a:avLst>
              <a:gd name="adj" fmla="val 11290"/>
            </a:avLst>
          </a:prstGeom>
          <a:solidFill>
            <a:srgbClr val="9AA5D6"/>
          </a:solidFill>
          <a:ln/>
        </p:spPr>
      </p:sp>
      <p:sp>
        <p:nvSpPr>
          <p:cNvPr id="19" name="Text 17"/>
          <p:cNvSpPr/>
          <p:nvPr/>
        </p:nvSpPr>
        <p:spPr>
          <a:xfrm>
            <a:off x="59984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13.6%</a:t>
            </a:r>
            <a:endParaRPr lang="en-US" sz="1200" dirty="0"/>
          </a:p>
        </p:txBody>
      </p:sp>
      <p:sp>
        <p:nvSpPr>
          <p:cNvPr id="20" name="Shape 18"/>
          <p:cNvSpPr/>
          <p:nvPr/>
        </p:nvSpPr>
        <p:spPr>
          <a:xfrm>
            <a:off x="7827264" y="2286000"/>
            <a:ext cx="1719072" cy="566928"/>
          </a:xfrm>
          <a:prstGeom prst="roundRect">
            <a:avLst>
              <a:gd name="adj" fmla="val 11290"/>
            </a:avLst>
          </a:prstGeom>
          <a:solidFill>
            <a:srgbClr val="4A5BB0"/>
          </a:solidFill>
          <a:ln/>
        </p:spPr>
      </p:sp>
      <p:sp>
        <p:nvSpPr>
          <p:cNvPr id="21" name="Text 19"/>
          <p:cNvSpPr/>
          <p:nvPr/>
        </p:nvSpPr>
        <p:spPr>
          <a:xfrm>
            <a:off x="78272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23.0%</a:t>
            </a:r>
            <a:endParaRPr lang="en-US" sz="1200" dirty="0"/>
          </a:p>
        </p:txBody>
      </p:sp>
      <p:sp>
        <p:nvSpPr>
          <p:cNvPr id="22" name="Shape 20"/>
          <p:cNvSpPr/>
          <p:nvPr/>
        </p:nvSpPr>
        <p:spPr>
          <a:xfrm>
            <a:off x="9656064" y="2286000"/>
            <a:ext cx="1719072" cy="566928"/>
          </a:xfrm>
          <a:prstGeom prst="roundRect">
            <a:avLst>
              <a:gd name="adj" fmla="val 11290"/>
            </a:avLst>
          </a:prstGeom>
          <a:solidFill>
            <a:srgbClr val="DDE2F2"/>
          </a:solidFill>
          <a:ln/>
        </p:spPr>
      </p:sp>
      <p:sp>
        <p:nvSpPr>
          <p:cNvPr id="23" name="Text 21"/>
          <p:cNvSpPr/>
          <p:nvPr/>
        </p:nvSpPr>
        <p:spPr>
          <a:xfrm>
            <a:off x="96560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10.5%</a:t>
            </a:r>
            <a:endParaRPr lang="en-US" sz="1200" dirty="0"/>
          </a:p>
        </p:txBody>
      </p:sp>
      <p:sp>
        <p:nvSpPr>
          <p:cNvPr id="24" name="Text 22"/>
          <p:cNvSpPr/>
          <p:nvPr/>
        </p:nvSpPr>
        <p:spPr>
          <a:xfrm>
            <a:off x="502920" y="2962656"/>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C1</a:t>
            </a:r>
            <a:endParaRPr lang="en-US" sz="1300" dirty="0"/>
          </a:p>
        </p:txBody>
      </p:sp>
      <p:sp>
        <p:nvSpPr>
          <p:cNvPr id="25" name="Shape 23"/>
          <p:cNvSpPr/>
          <p:nvPr/>
        </p:nvSpPr>
        <p:spPr>
          <a:xfrm>
            <a:off x="2340864" y="2962656"/>
            <a:ext cx="1719072" cy="566928"/>
          </a:xfrm>
          <a:prstGeom prst="roundRect">
            <a:avLst>
              <a:gd name="adj" fmla="val 11290"/>
            </a:avLst>
          </a:prstGeom>
          <a:solidFill>
            <a:srgbClr val="1B2D8A"/>
          </a:solidFill>
          <a:ln/>
        </p:spPr>
      </p:sp>
      <p:sp>
        <p:nvSpPr>
          <p:cNvPr id="26" name="Text 24"/>
          <p:cNvSpPr/>
          <p:nvPr/>
        </p:nvSpPr>
        <p:spPr>
          <a:xfrm>
            <a:off x="23408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39.0%</a:t>
            </a:r>
            <a:endParaRPr lang="en-US" sz="1200" dirty="0"/>
          </a:p>
        </p:txBody>
      </p:sp>
      <p:sp>
        <p:nvSpPr>
          <p:cNvPr id="27" name="Shape 25"/>
          <p:cNvSpPr/>
          <p:nvPr/>
        </p:nvSpPr>
        <p:spPr>
          <a:xfrm>
            <a:off x="4169664" y="2962656"/>
            <a:ext cx="1719072" cy="566928"/>
          </a:xfrm>
          <a:prstGeom prst="roundRect">
            <a:avLst>
              <a:gd name="adj" fmla="val 11290"/>
            </a:avLst>
          </a:prstGeom>
          <a:solidFill>
            <a:srgbClr val="FFFFFF"/>
          </a:solidFill>
          <a:ln w="19050">
            <a:solidFill>
              <a:srgbClr val="F0245E"/>
            </a:solidFill>
            <a:prstDash val="dash"/>
          </a:ln>
        </p:spPr>
      </p:sp>
      <p:sp>
        <p:nvSpPr>
          <p:cNvPr id="28" name="Text 26"/>
          <p:cNvSpPr/>
          <p:nvPr/>
        </p:nvSpPr>
        <p:spPr>
          <a:xfrm>
            <a:off x="4169664" y="2962656"/>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29" name="Shape 27"/>
          <p:cNvSpPr/>
          <p:nvPr/>
        </p:nvSpPr>
        <p:spPr>
          <a:xfrm>
            <a:off x="5998464" y="2962656"/>
            <a:ext cx="1719072" cy="566928"/>
          </a:xfrm>
          <a:prstGeom prst="roundRect">
            <a:avLst>
              <a:gd name="adj" fmla="val 11290"/>
            </a:avLst>
          </a:prstGeom>
          <a:solidFill>
            <a:srgbClr val="DDE2F2"/>
          </a:solidFill>
          <a:ln/>
        </p:spPr>
      </p:sp>
      <p:sp>
        <p:nvSpPr>
          <p:cNvPr id="30" name="Text 28"/>
          <p:cNvSpPr/>
          <p:nvPr/>
        </p:nvSpPr>
        <p:spPr>
          <a:xfrm>
            <a:off x="5998464" y="2962656"/>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7.8%</a:t>
            </a:r>
            <a:endParaRPr lang="en-US" sz="1200" dirty="0"/>
          </a:p>
        </p:txBody>
      </p:sp>
      <p:sp>
        <p:nvSpPr>
          <p:cNvPr id="31" name="Shape 29"/>
          <p:cNvSpPr/>
          <p:nvPr/>
        </p:nvSpPr>
        <p:spPr>
          <a:xfrm>
            <a:off x="7827264" y="2962656"/>
            <a:ext cx="1719072" cy="566928"/>
          </a:xfrm>
          <a:prstGeom prst="roundRect">
            <a:avLst>
              <a:gd name="adj" fmla="val 11290"/>
            </a:avLst>
          </a:prstGeom>
          <a:solidFill>
            <a:srgbClr val="4A5BB0"/>
          </a:solidFill>
          <a:ln/>
        </p:spPr>
      </p:sp>
      <p:sp>
        <p:nvSpPr>
          <p:cNvPr id="32" name="Text 30"/>
          <p:cNvSpPr/>
          <p:nvPr/>
        </p:nvSpPr>
        <p:spPr>
          <a:xfrm>
            <a:off x="78272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26.1%</a:t>
            </a:r>
            <a:endParaRPr lang="en-US" sz="1200" dirty="0"/>
          </a:p>
        </p:txBody>
      </p:sp>
      <p:sp>
        <p:nvSpPr>
          <p:cNvPr id="33" name="Shape 31"/>
          <p:cNvSpPr/>
          <p:nvPr/>
        </p:nvSpPr>
        <p:spPr>
          <a:xfrm>
            <a:off x="9656064" y="2962656"/>
            <a:ext cx="1719072" cy="566928"/>
          </a:xfrm>
          <a:prstGeom prst="roundRect">
            <a:avLst>
              <a:gd name="adj" fmla="val 11290"/>
            </a:avLst>
          </a:prstGeom>
          <a:solidFill>
            <a:srgbClr val="4A5BB0"/>
          </a:solidFill>
          <a:ln/>
        </p:spPr>
      </p:sp>
      <p:sp>
        <p:nvSpPr>
          <p:cNvPr id="34" name="Text 32"/>
          <p:cNvSpPr/>
          <p:nvPr/>
        </p:nvSpPr>
        <p:spPr>
          <a:xfrm>
            <a:off x="96560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27.1%</a:t>
            </a:r>
            <a:endParaRPr lang="en-US" sz="1200" dirty="0"/>
          </a:p>
        </p:txBody>
      </p:sp>
      <p:sp>
        <p:nvSpPr>
          <p:cNvPr id="35" name="Text 33"/>
          <p:cNvSpPr/>
          <p:nvPr/>
        </p:nvSpPr>
        <p:spPr>
          <a:xfrm>
            <a:off x="502920" y="3639312"/>
            <a:ext cx="1645920" cy="566928"/>
          </a:xfrm>
          <a:prstGeom prst="rect">
            <a:avLst/>
          </a:prstGeom>
          <a:noFill/>
          <a:ln/>
        </p:spPr>
        <p:txBody>
          <a:bodyPr wrap="square" lIns="0" tIns="0" rIns="0" bIns="0" rtlCol="0" anchor="ctr"/>
          <a:lstStyle/>
          <a:p>
            <a:pPr indent="0" marL="0">
              <a:buNone/>
            </a:pPr>
            <a:r>
              <a:rPr lang="en-US" sz="1300" b="1" dirty="0">
                <a:solidFill>
                  <a:srgbClr val="F0245E"/>
                </a:solidFill>
                <a:latin typeface="Arial" pitchFamily="34" charset="0"/>
                <a:ea typeface="Arial" pitchFamily="34" charset="-122"/>
                <a:cs typeface="Arial" pitchFamily="34" charset="-120"/>
              </a:rPr>
              <a:t>DBP L2</a:t>
            </a:r>
            <a:endParaRPr lang="en-US" sz="1300" dirty="0"/>
          </a:p>
        </p:txBody>
      </p:sp>
      <p:sp>
        <p:nvSpPr>
          <p:cNvPr id="36" name="Shape 34"/>
          <p:cNvSpPr/>
          <p:nvPr/>
        </p:nvSpPr>
        <p:spPr>
          <a:xfrm>
            <a:off x="2340864" y="3639312"/>
            <a:ext cx="1719072" cy="566928"/>
          </a:xfrm>
          <a:prstGeom prst="roundRect">
            <a:avLst>
              <a:gd name="adj" fmla="val 11290"/>
            </a:avLst>
          </a:prstGeom>
          <a:solidFill>
            <a:srgbClr val="1B2D8A"/>
          </a:solidFill>
          <a:ln/>
        </p:spPr>
      </p:sp>
      <p:sp>
        <p:nvSpPr>
          <p:cNvPr id="37" name="Text 35"/>
          <p:cNvSpPr/>
          <p:nvPr/>
        </p:nvSpPr>
        <p:spPr>
          <a:xfrm>
            <a:off x="23408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46.2%</a:t>
            </a:r>
            <a:endParaRPr lang="en-US" sz="1200" dirty="0"/>
          </a:p>
        </p:txBody>
      </p:sp>
      <p:sp>
        <p:nvSpPr>
          <p:cNvPr id="38" name="Shape 36"/>
          <p:cNvSpPr/>
          <p:nvPr/>
        </p:nvSpPr>
        <p:spPr>
          <a:xfrm>
            <a:off x="4169664" y="3639312"/>
            <a:ext cx="1719072" cy="566928"/>
          </a:xfrm>
          <a:prstGeom prst="roundRect">
            <a:avLst>
              <a:gd name="adj" fmla="val 11290"/>
            </a:avLst>
          </a:prstGeom>
          <a:solidFill>
            <a:srgbClr val="4A5BB0"/>
          </a:solidFill>
          <a:ln/>
        </p:spPr>
      </p:sp>
      <p:sp>
        <p:nvSpPr>
          <p:cNvPr id="39" name="Text 37"/>
          <p:cNvSpPr/>
          <p:nvPr/>
        </p:nvSpPr>
        <p:spPr>
          <a:xfrm>
            <a:off x="41696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28.8%</a:t>
            </a:r>
            <a:endParaRPr lang="en-US" sz="1200" dirty="0"/>
          </a:p>
        </p:txBody>
      </p:sp>
      <p:sp>
        <p:nvSpPr>
          <p:cNvPr id="40" name="Shape 38"/>
          <p:cNvSpPr/>
          <p:nvPr/>
        </p:nvSpPr>
        <p:spPr>
          <a:xfrm>
            <a:off x="5998464" y="3639312"/>
            <a:ext cx="1719072" cy="566928"/>
          </a:xfrm>
          <a:prstGeom prst="roundRect">
            <a:avLst>
              <a:gd name="adj" fmla="val 11290"/>
            </a:avLst>
          </a:prstGeom>
          <a:solidFill>
            <a:srgbClr val="FFFFFF"/>
          </a:solidFill>
          <a:ln w="19050">
            <a:solidFill>
              <a:srgbClr val="F0245E"/>
            </a:solidFill>
            <a:prstDash val="dash"/>
          </a:ln>
        </p:spPr>
      </p:sp>
      <p:sp>
        <p:nvSpPr>
          <p:cNvPr id="41" name="Text 39"/>
          <p:cNvSpPr/>
          <p:nvPr/>
        </p:nvSpPr>
        <p:spPr>
          <a:xfrm>
            <a:off x="5998464" y="3639312"/>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42" name="Shape 40"/>
          <p:cNvSpPr/>
          <p:nvPr/>
        </p:nvSpPr>
        <p:spPr>
          <a:xfrm>
            <a:off x="7827264" y="3639312"/>
            <a:ext cx="1719072" cy="566928"/>
          </a:xfrm>
          <a:prstGeom prst="roundRect">
            <a:avLst>
              <a:gd name="adj" fmla="val 11290"/>
            </a:avLst>
          </a:prstGeom>
          <a:solidFill>
            <a:srgbClr val="9AA5D6"/>
          </a:solidFill>
          <a:ln/>
        </p:spPr>
      </p:sp>
      <p:sp>
        <p:nvSpPr>
          <p:cNvPr id="43" name="Text 41"/>
          <p:cNvSpPr/>
          <p:nvPr/>
        </p:nvSpPr>
        <p:spPr>
          <a:xfrm>
            <a:off x="78272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12.5%</a:t>
            </a:r>
            <a:endParaRPr lang="en-US" sz="1200" dirty="0"/>
          </a:p>
        </p:txBody>
      </p:sp>
      <p:sp>
        <p:nvSpPr>
          <p:cNvPr id="44" name="Shape 42"/>
          <p:cNvSpPr/>
          <p:nvPr/>
        </p:nvSpPr>
        <p:spPr>
          <a:xfrm>
            <a:off x="9656064" y="3639312"/>
            <a:ext cx="1719072" cy="566928"/>
          </a:xfrm>
          <a:prstGeom prst="roundRect">
            <a:avLst>
              <a:gd name="adj" fmla="val 11290"/>
            </a:avLst>
          </a:prstGeom>
          <a:solidFill>
            <a:srgbClr val="9AA5D6"/>
          </a:solidFill>
          <a:ln/>
        </p:spPr>
      </p:sp>
      <p:sp>
        <p:nvSpPr>
          <p:cNvPr id="45" name="Text 43"/>
          <p:cNvSpPr/>
          <p:nvPr/>
        </p:nvSpPr>
        <p:spPr>
          <a:xfrm>
            <a:off x="96560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12.6%</a:t>
            </a:r>
            <a:endParaRPr lang="en-US" sz="1200" dirty="0"/>
          </a:p>
        </p:txBody>
      </p:sp>
      <p:sp>
        <p:nvSpPr>
          <p:cNvPr id="46" name="Text 44"/>
          <p:cNvSpPr/>
          <p:nvPr/>
        </p:nvSpPr>
        <p:spPr>
          <a:xfrm>
            <a:off x="502920" y="4315968"/>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C2</a:t>
            </a:r>
            <a:endParaRPr lang="en-US" sz="1300" dirty="0"/>
          </a:p>
        </p:txBody>
      </p:sp>
      <p:sp>
        <p:nvSpPr>
          <p:cNvPr id="47" name="Shape 45"/>
          <p:cNvSpPr/>
          <p:nvPr/>
        </p:nvSpPr>
        <p:spPr>
          <a:xfrm>
            <a:off x="2340864" y="4315968"/>
            <a:ext cx="1719072" cy="566928"/>
          </a:xfrm>
          <a:prstGeom prst="roundRect">
            <a:avLst>
              <a:gd name="adj" fmla="val 11290"/>
            </a:avLst>
          </a:prstGeom>
          <a:solidFill>
            <a:srgbClr val="1B2D8A"/>
          </a:solidFill>
          <a:ln/>
        </p:spPr>
      </p:sp>
      <p:sp>
        <p:nvSpPr>
          <p:cNvPr id="48" name="Text 46"/>
          <p:cNvSpPr/>
          <p:nvPr/>
        </p:nvSpPr>
        <p:spPr>
          <a:xfrm>
            <a:off x="23408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37.5%</a:t>
            </a:r>
            <a:endParaRPr lang="en-US" sz="1200" dirty="0"/>
          </a:p>
        </p:txBody>
      </p:sp>
      <p:sp>
        <p:nvSpPr>
          <p:cNvPr id="49" name="Shape 47"/>
          <p:cNvSpPr/>
          <p:nvPr/>
        </p:nvSpPr>
        <p:spPr>
          <a:xfrm>
            <a:off x="4169664" y="4315968"/>
            <a:ext cx="1719072" cy="566928"/>
          </a:xfrm>
          <a:prstGeom prst="roundRect">
            <a:avLst>
              <a:gd name="adj" fmla="val 11290"/>
            </a:avLst>
          </a:prstGeom>
          <a:solidFill>
            <a:srgbClr val="DDE2F2"/>
          </a:solidFill>
          <a:ln/>
        </p:spPr>
      </p:sp>
      <p:sp>
        <p:nvSpPr>
          <p:cNvPr id="50" name="Text 48"/>
          <p:cNvSpPr/>
          <p:nvPr/>
        </p:nvSpPr>
        <p:spPr>
          <a:xfrm>
            <a:off x="41696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11.7%</a:t>
            </a:r>
            <a:endParaRPr lang="en-US" sz="1200" dirty="0"/>
          </a:p>
        </p:txBody>
      </p:sp>
      <p:sp>
        <p:nvSpPr>
          <p:cNvPr id="51" name="Shape 49"/>
          <p:cNvSpPr/>
          <p:nvPr/>
        </p:nvSpPr>
        <p:spPr>
          <a:xfrm>
            <a:off x="5998464" y="4315968"/>
            <a:ext cx="1719072" cy="566928"/>
          </a:xfrm>
          <a:prstGeom prst="roundRect">
            <a:avLst>
              <a:gd name="adj" fmla="val 11290"/>
            </a:avLst>
          </a:prstGeom>
          <a:solidFill>
            <a:srgbClr val="FFFFFF"/>
          </a:solidFill>
          <a:ln w="19050">
            <a:solidFill>
              <a:srgbClr val="F0245E"/>
            </a:solidFill>
            <a:prstDash val="dash"/>
          </a:ln>
        </p:spPr>
      </p:sp>
      <p:sp>
        <p:nvSpPr>
          <p:cNvPr id="52" name="Text 50"/>
          <p:cNvSpPr/>
          <p:nvPr/>
        </p:nvSpPr>
        <p:spPr>
          <a:xfrm>
            <a:off x="5998464" y="4315968"/>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0.3%</a:t>
            </a:r>
            <a:endParaRPr lang="en-US" sz="1200" dirty="0"/>
          </a:p>
        </p:txBody>
      </p:sp>
      <p:sp>
        <p:nvSpPr>
          <p:cNvPr id="53" name="Shape 51"/>
          <p:cNvSpPr/>
          <p:nvPr/>
        </p:nvSpPr>
        <p:spPr>
          <a:xfrm>
            <a:off x="7827264" y="4315968"/>
            <a:ext cx="1719072" cy="566928"/>
          </a:xfrm>
          <a:prstGeom prst="roundRect">
            <a:avLst>
              <a:gd name="adj" fmla="val 11290"/>
            </a:avLst>
          </a:prstGeom>
          <a:solidFill>
            <a:srgbClr val="1B2D8A"/>
          </a:solidFill>
          <a:ln/>
        </p:spPr>
      </p:sp>
      <p:sp>
        <p:nvSpPr>
          <p:cNvPr id="54" name="Text 52"/>
          <p:cNvSpPr/>
          <p:nvPr/>
        </p:nvSpPr>
        <p:spPr>
          <a:xfrm>
            <a:off x="78272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36.0%</a:t>
            </a:r>
            <a:endParaRPr lang="en-US" sz="1200" dirty="0"/>
          </a:p>
        </p:txBody>
      </p:sp>
      <p:sp>
        <p:nvSpPr>
          <p:cNvPr id="55" name="Shape 53"/>
          <p:cNvSpPr/>
          <p:nvPr/>
        </p:nvSpPr>
        <p:spPr>
          <a:xfrm>
            <a:off x="9656064" y="4315968"/>
            <a:ext cx="1719072" cy="566928"/>
          </a:xfrm>
          <a:prstGeom prst="roundRect">
            <a:avLst>
              <a:gd name="adj" fmla="val 11290"/>
            </a:avLst>
          </a:prstGeom>
          <a:solidFill>
            <a:srgbClr val="9AA5D6"/>
          </a:solidFill>
          <a:ln/>
        </p:spPr>
      </p:sp>
      <p:sp>
        <p:nvSpPr>
          <p:cNvPr id="56" name="Text 54"/>
          <p:cNvSpPr/>
          <p:nvPr/>
        </p:nvSpPr>
        <p:spPr>
          <a:xfrm>
            <a:off x="96560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14.6%</a:t>
            </a:r>
            <a:endParaRPr lang="en-US" sz="1200" dirty="0"/>
          </a:p>
        </p:txBody>
      </p:sp>
      <p:sp>
        <p:nvSpPr>
          <p:cNvPr id="57" name="Shape 55"/>
          <p:cNvSpPr/>
          <p:nvPr/>
        </p:nvSpPr>
        <p:spPr>
          <a:xfrm>
            <a:off x="502920" y="5047488"/>
            <a:ext cx="11183112" cy="868680"/>
          </a:xfrm>
          <a:prstGeom prst="roundRect">
            <a:avLst>
              <a:gd name="adj" fmla="val 9474"/>
            </a:avLst>
          </a:prstGeom>
          <a:solidFill>
            <a:srgbClr val="FDF0F4"/>
          </a:solidFill>
          <a:ln w="12700">
            <a:solidFill>
              <a:srgbClr val="F0245E"/>
            </a:solidFill>
            <a:prstDash val="solid"/>
          </a:ln>
        </p:spPr>
      </p:sp>
      <p:sp>
        <p:nvSpPr>
          <p:cNvPr id="58" name="Text 56"/>
          <p:cNvSpPr/>
          <p:nvPr/>
        </p:nvSpPr>
        <p:spPr>
          <a:xfrm>
            <a:off x="795528" y="5175504"/>
            <a:ext cx="10607040" cy="621792"/>
          </a:xfrm>
          <a:prstGeom prst="rect">
            <a:avLst/>
          </a:prstGeom>
          <a:noFill/>
          <a:ln/>
        </p:spPr>
        <p:txBody>
          <a:bodyPr wrap="square" lIns="0" tIns="0" rIns="0" bIns="0" rtlCol="0" anchor="ctr"/>
          <a:lstStyle/>
          <a:p>
            <a:pPr indent="0" marL="0">
              <a:buNone/>
            </a:pPr>
            <a:r>
              <a:rPr lang="en-US" sz="1200" dirty="0">
                <a:solidFill>
                  <a:srgbClr val="1B2D8A"/>
                </a:solidFill>
                <a:latin typeface="Arial" pitchFamily="34" charset="0"/>
                <a:ea typeface="Arial" pitchFamily="34" charset="-122"/>
                <a:cs typeface="Arial" pitchFamily="34" charset="-120"/>
              </a:rPr>
              <a:t>DBP L2 is the only package of the four that pairs heavy Central weight with real East reach — Bedok, Tampines and Pasir Ris, none of which DBP C1 touches. It pays for that with the North: zero. Woodlands, Sembawang and Yishun see nothing on this buy.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448410" cy="310896"/>
          </a:xfrm>
          <a:prstGeom prst="roundRect">
            <a:avLst>
              <a:gd name="adj" fmla="val 50000"/>
            </a:avLst>
          </a:prstGeom>
          <a:solidFill>
            <a:srgbClr val="F0245E"/>
          </a:solidFill>
          <a:ln/>
        </p:spPr>
      </p:sp>
      <p:sp>
        <p:nvSpPr>
          <p:cNvPr id="3" name="Text 1"/>
          <p:cNvSpPr/>
          <p:nvPr/>
        </p:nvSpPr>
        <p:spPr>
          <a:xfrm>
            <a:off x="502920" y="329184"/>
            <a:ext cx="144841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DCO</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One buy, five conversations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same five buses carry a different message depending on where they are and what hour it is.</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9</a:t>
            </a:r>
            <a:endParaRPr lang="en-US" sz="1000" dirty="0"/>
          </a:p>
        </p:txBody>
      </p:sp>
      <p:sp>
        <p:nvSpPr>
          <p:cNvPr id="8" name="Shape 6"/>
          <p:cNvSpPr/>
          <p:nvPr/>
        </p:nvSpPr>
        <p:spPr>
          <a:xfrm>
            <a:off x="502920" y="2011680"/>
            <a:ext cx="3602736" cy="2514600"/>
          </a:xfrm>
          <a:prstGeom prst="roundRect">
            <a:avLst>
              <a:gd name="adj" fmla="val 3273"/>
            </a:avLst>
          </a:prstGeom>
          <a:solidFill>
            <a:srgbClr val="FFFFFF"/>
          </a:solidFill>
          <a:ln w="12700">
            <a:solidFill>
              <a:srgbClr val="D8DDE9"/>
            </a:solidFill>
            <a:prstDash val="solid"/>
          </a:ln>
        </p:spPr>
      </p:sp>
      <p:sp>
        <p:nvSpPr>
          <p:cNvPr id="9" name="Shape 7"/>
          <p:cNvSpPr/>
          <p:nvPr/>
        </p:nvSpPr>
        <p:spPr>
          <a:xfrm>
            <a:off x="777240" y="2267712"/>
            <a:ext cx="420624" cy="420624"/>
          </a:xfrm>
          <a:prstGeom prst="roundRect">
            <a:avLst>
              <a:gd name="adj" fmla="val 50000"/>
            </a:avLst>
          </a:prstGeom>
          <a:solidFill>
            <a:srgbClr val="F0245E"/>
          </a:solidFill>
          <a:ln/>
        </p:spPr>
      </p:sp>
      <p:sp>
        <p:nvSpPr>
          <p:cNvPr id="10" name="Text 8"/>
          <p:cNvSpPr/>
          <p:nvPr/>
        </p:nvSpPr>
        <p:spPr>
          <a:xfrm>
            <a:off x="77724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34416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GEOFENCE</a:t>
            </a:r>
            <a:endParaRPr lang="en-US" sz="1100" dirty="0"/>
          </a:p>
        </p:txBody>
      </p:sp>
      <p:sp>
        <p:nvSpPr>
          <p:cNvPr id="12" name="Text 10"/>
          <p:cNvSpPr/>
          <p:nvPr/>
        </p:nvSpPr>
        <p:spPr>
          <a:xfrm>
            <a:off x="134416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Where</a:t>
            </a:r>
            <a:endParaRPr lang="en-US" sz="1500" dirty="0"/>
          </a:p>
        </p:txBody>
      </p:sp>
      <p:sp>
        <p:nvSpPr>
          <p:cNvPr id="13" name="Text 11"/>
          <p:cNvSpPr/>
          <p:nvPr/>
        </p:nvSpPr>
        <p:spPr>
          <a:xfrm>
            <a:off x="77724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has zones along the route where it actually concentrates. Derived from the place data, not drawn by hand — every zone is named and its anchors listed.</a:t>
            </a:r>
            <a:endParaRPr lang="en-US" sz="1150" dirty="0"/>
          </a:p>
        </p:txBody>
      </p:sp>
      <p:sp>
        <p:nvSpPr>
          <p:cNvPr id="14" name="Shape 12"/>
          <p:cNvSpPr/>
          <p:nvPr/>
        </p:nvSpPr>
        <p:spPr>
          <a:xfrm>
            <a:off x="4297680" y="2011680"/>
            <a:ext cx="3602736" cy="2514600"/>
          </a:xfrm>
          <a:prstGeom prst="roundRect">
            <a:avLst>
              <a:gd name="adj" fmla="val 3273"/>
            </a:avLst>
          </a:prstGeom>
          <a:solidFill>
            <a:srgbClr val="FFFFFF"/>
          </a:solidFill>
          <a:ln w="12700">
            <a:solidFill>
              <a:srgbClr val="D8DDE9"/>
            </a:solidFill>
            <a:prstDash val="solid"/>
          </a:ln>
        </p:spPr>
      </p:sp>
      <p:sp>
        <p:nvSpPr>
          <p:cNvPr id="15" name="Shape 13"/>
          <p:cNvSpPr/>
          <p:nvPr/>
        </p:nvSpPr>
        <p:spPr>
          <a:xfrm>
            <a:off x="4572000" y="2267712"/>
            <a:ext cx="420624" cy="420624"/>
          </a:xfrm>
          <a:prstGeom prst="roundRect">
            <a:avLst>
              <a:gd name="adj" fmla="val 50000"/>
            </a:avLst>
          </a:prstGeom>
          <a:solidFill>
            <a:srgbClr val="1B2D8A"/>
          </a:solidFill>
          <a:ln/>
        </p:spPr>
      </p:sp>
      <p:sp>
        <p:nvSpPr>
          <p:cNvPr id="16" name="Text 14"/>
          <p:cNvSpPr/>
          <p:nvPr/>
        </p:nvSpPr>
        <p:spPr>
          <a:xfrm>
            <a:off x="457200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513892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DAYPART</a:t>
            </a:r>
            <a:endParaRPr lang="en-US" sz="1100" dirty="0"/>
          </a:p>
        </p:txBody>
      </p:sp>
      <p:sp>
        <p:nvSpPr>
          <p:cNvPr id="18" name="Text 16"/>
          <p:cNvSpPr/>
          <p:nvPr/>
        </p:nvSpPr>
        <p:spPr>
          <a:xfrm>
            <a:off x="513892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When</a:t>
            </a:r>
            <a:endParaRPr lang="en-US" sz="1500" dirty="0"/>
          </a:p>
        </p:txBody>
      </p:sp>
      <p:sp>
        <p:nvSpPr>
          <p:cNvPr id="19" name="Text 17"/>
          <p:cNvSpPr/>
          <p:nvPr/>
        </p:nvSpPr>
        <p:spPr>
          <a:xfrm>
            <a:off x="457200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is reachable in a different window, set by when the institutions around it are open — school dismissal, polyclinic mornings, commute peaks.</a:t>
            </a:r>
            <a:endParaRPr lang="en-US" sz="1150" dirty="0"/>
          </a:p>
        </p:txBody>
      </p:sp>
      <p:sp>
        <p:nvSpPr>
          <p:cNvPr id="20" name="Shape 18"/>
          <p:cNvSpPr/>
          <p:nvPr/>
        </p:nvSpPr>
        <p:spPr>
          <a:xfrm>
            <a:off x="8092440" y="2011680"/>
            <a:ext cx="3602736" cy="2514600"/>
          </a:xfrm>
          <a:prstGeom prst="roundRect">
            <a:avLst>
              <a:gd name="adj" fmla="val 3273"/>
            </a:avLst>
          </a:prstGeom>
          <a:solidFill>
            <a:srgbClr val="FFFFFF"/>
          </a:solidFill>
          <a:ln w="12700">
            <a:solidFill>
              <a:srgbClr val="D8DDE9"/>
            </a:solidFill>
            <a:prstDash val="solid"/>
          </a:ln>
        </p:spPr>
      </p:sp>
      <p:sp>
        <p:nvSpPr>
          <p:cNvPr id="21" name="Shape 19"/>
          <p:cNvSpPr/>
          <p:nvPr/>
        </p:nvSpPr>
        <p:spPr>
          <a:xfrm>
            <a:off x="8366760" y="2267712"/>
            <a:ext cx="420624" cy="420624"/>
          </a:xfrm>
          <a:prstGeom prst="roundRect">
            <a:avLst>
              <a:gd name="adj" fmla="val 50000"/>
            </a:avLst>
          </a:prstGeom>
          <a:solidFill>
            <a:srgbClr val="F0245E"/>
          </a:solidFill>
          <a:ln/>
        </p:spPr>
      </p:sp>
      <p:sp>
        <p:nvSpPr>
          <p:cNvPr id="22" name="Text 20"/>
          <p:cNvSpPr/>
          <p:nvPr/>
        </p:nvSpPr>
        <p:spPr>
          <a:xfrm>
            <a:off x="836676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893368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CREATIVE</a:t>
            </a:r>
            <a:endParaRPr lang="en-US" sz="1100" dirty="0"/>
          </a:p>
        </p:txBody>
      </p:sp>
      <p:sp>
        <p:nvSpPr>
          <p:cNvPr id="24" name="Text 22"/>
          <p:cNvSpPr/>
          <p:nvPr/>
        </p:nvSpPr>
        <p:spPr>
          <a:xfrm>
            <a:off x="893368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What</a:t>
            </a:r>
            <a:endParaRPr lang="en-US" sz="1500" dirty="0"/>
          </a:p>
        </p:txBody>
      </p:sp>
      <p:sp>
        <p:nvSpPr>
          <p:cNvPr id="25" name="Text 23"/>
          <p:cNvSpPr/>
          <p:nvPr/>
        </p:nvSpPr>
        <p:spPr>
          <a:xfrm>
            <a:off x="836676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A different line and call-to-action per audience. Seniors get large type and a phone number; youth get a QR to chat.</a:t>
            </a:r>
            <a:endParaRPr lang="en-US" sz="1150" dirty="0"/>
          </a:p>
        </p:txBody>
      </p:sp>
      <p:sp>
        <p:nvSpPr>
          <p:cNvPr id="26" name="Shape 24"/>
          <p:cNvSpPr/>
          <p:nvPr/>
        </p:nvSpPr>
        <p:spPr>
          <a:xfrm>
            <a:off x="502920" y="4754880"/>
            <a:ext cx="11183112" cy="1188720"/>
          </a:xfrm>
          <a:prstGeom prst="roundRect">
            <a:avLst>
              <a:gd name="adj" fmla="val 6923"/>
            </a:avLst>
          </a:prstGeom>
          <a:solidFill>
            <a:srgbClr val="F5F7FC"/>
          </a:solidFill>
          <a:ln w="12700">
            <a:solidFill>
              <a:srgbClr val="D8DDE9"/>
            </a:solidFill>
            <a:prstDash val="solid"/>
          </a:ln>
        </p:spPr>
      </p:sp>
      <p:sp>
        <p:nvSpPr>
          <p:cNvPr id="27" name="Text 25"/>
          <p:cNvSpPr/>
          <p:nvPr/>
        </p:nvSpPr>
        <p:spPr>
          <a:xfrm>
            <a:off x="795528" y="4882896"/>
            <a:ext cx="54864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What is measured, and what is assumed</a:t>
            </a:r>
            <a:endParaRPr lang="en-US" sz="1250" dirty="0"/>
          </a:p>
        </p:txBody>
      </p:sp>
      <p:sp>
        <p:nvSpPr>
          <p:cNvPr id="28" name="Text 26"/>
          <p:cNvSpPr/>
          <p:nvPr/>
        </p:nvSpPr>
        <p:spPr>
          <a:xfrm>
            <a:off x="795528" y="5193792"/>
            <a:ext cx="1060704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Geofence zones are measured — they come straight from the stop and place data. Dayparts are planning assumptions: this dataset carries weekday and weekend boarding totals, not an hourly curve, so the windows are set from when the institutions in each zone are open. Every daypart slide is marked accordingly.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GEOFENCE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Where each audience concentrates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Top zones per audience along DBP L2, derived from the place data. Anchors are the actual sites inside them.</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10</a:t>
            </a:r>
            <a:endParaRPr lang="en-US" sz="1000" dirty="0"/>
          </a:p>
        </p:txBody>
      </p:sp>
      <p:sp>
        <p:nvSpPr>
          <p:cNvPr id="8" name="Shape 6"/>
          <p:cNvSpPr/>
          <p:nvPr/>
        </p:nvSpPr>
        <p:spPr>
          <a:xfrm>
            <a:off x="10378440" y="329184"/>
            <a:ext cx="1075334" cy="310896"/>
          </a:xfrm>
          <a:prstGeom prst="roundRect">
            <a:avLst>
              <a:gd name="adj" fmla="val 50000"/>
            </a:avLst>
          </a:prstGeom>
          <a:solidFill>
            <a:srgbClr val="1B2D8A"/>
          </a:solidFill>
          <a:ln/>
        </p:spPr>
      </p:sp>
      <p:sp>
        <p:nvSpPr>
          <p:cNvPr id="9" name="Text 7"/>
          <p:cNvSpPr/>
          <p:nvPr/>
        </p:nvSpPr>
        <p:spPr>
          <a:xfrm>
            <a:off x="10378440" y="329184"/>
            <a:ext cx="1075334"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MEASURED</a:t>
            </a:r>
            <a:endParaRPr lang="en-US" sz="900" dirty="0"/>
          </a:p>
        </p:txBody>
      </p:sp>
      <p:sp>
        <p:nvSpPr>
          <p:cNvPr id="10" name="Shape 8"/>
          <p:cNvSpPr/>
          <p:nvPr/>
        </p:nvSpPr>
        <p:spPr>
          <a:xfrm>
            <a:off x="502920" y="1874520"/>
            <a:ext cx="11183112" cy="749808"/>
          </a:xfrm>
          <a:prstGeom prst="roundRect">
            <a:avLst>
              <a:gd name="adj" fmla="val 10976"/>
            </a:avLst>
          </a:prstGeom>
          <a:solidFill>
            <a:srgbClr val="FFFFFF"/>
          </a:solidFill>
          <a:ln w="12700">
            <a:solidFill>
              <a:srgbClr val="D8DDE9"/>
            </a:solidFill>
            <a:prstDash val="solid"/>
          </a:ln>
        </p:spPr>
      </p:sp>
      <p:sp>
        <p:nvSpPr>
          <p:cNvPr id="11" name="Text 9"/>
          <p:cNvSpPr/>
          <p:nvPr/>
        </p:nvSpPr>
        <p:spPr>
          <a:xfrm>
            <a:off x="758952" y="1947672"/>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Young children</a:t>
            </a:r>
            <a:endParaRPr lang="en-US" sz="1250" dirty="0"/>
          </a:p>
        </p:txBody>
      </p:sp>
      <p:sp>
        <p:nvSpPr>
          <p:cNvPr id="12" name="Text 10"/>
          <p:cNvSpPr/>
          <p:nvPr/>
        </p:nvSpPr>
        <p:spPr>
          <a:xfrm>
            <a:off x="758952" y="2258568"/>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Bukit Panjang (17)   ·   Bedok (15)   ·   Ang Mo Kio (15)   ·   Bukit Merah (10)</a:t>
            </a:r>
            <a:endParaRPr lang="en-US" sz="1050" dirty="0"/>
          </a:p>
        </p:txBody>
      </p:sp>
      <p:sp>
        <p:nvSpPr>
          <p:cNvPr id="13" name="Text 11"/>
          <p:cNvSpPr/>
          <p:nvPr/>
        </p:nvSpPr>
        <p:spPr>
          <a:xfrm>
            <a:off x="5760720" y="2057400"/>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Beacon Primary School · Greenridge Primary School · West Spring Primary School</a:t>
            </a:r>
            <a:endParaRPr lang="en-US" sz="1000" dirty="0"/>
          </a:p>
        </p:txBody>
      </p:sp>
      <p:sp>
        <p:nvSpPr>
          <p:cNvPr id="14" name="Shape 12"/>
          <p:cNvSpPr/>
          <p:nvPr/>
        </p:nvSpPr>
        <p:spPr>
          <a:xfrm>
            <a:off x="502920" y="2715768"/>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58952" y="2788920"/>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Seniors</a:t>
            </a:r>
            <a:endParaRPr lang="en-US" sz="1250" dirty="0"/>
          </a:p>
        </p:txBody>
      </p:sp>
      <p:sp>
        <p:nvSpPr>
          <p:cNvPr id="16" name="Text 14"/>
          <p:cNvSpPr/>
          <p:nvPr/>
        </p:nvSpPr>
        <p:spPr>
          <a:xfrm>
            <a:off x="758952" y="3099816"/>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Bukit Merah (24)   ·   Ang Mo Kio (12)   ·   Kallang (8)   ·   Bedok (6)</a:t>
            </a:r>
            <a:endParaRPr lang="en-US" sz="1050" dirty="0"/>
          </a:p>
        </p:txBody>
      </p:sp>
      <p:sp>
        <p:nvSpPr>
          <p:cNvPr id="17" name="Text 15"/>
          <p:cNvSpPr/>
          <p:nvPr/>
        </p:nvSpPr>
        <p:spPr>
          <a:xfrm>
            <a:off x="5760720" y="2898648"/>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THK SAC @ Beo Crescent · Silver ACE @ Bukit Merah · Henderson Senior Citizens' Home</a:t>
            </a:r>
            <a:endParaRPr lang="en-US" sz="1000" dirty="0"/>
          </a:p>
        </p:txBody>
      </p:sp>
      <p:sp>
        <p:nvSpPr>
          <p:cNvPr id="18" name="Shape 16"/>
          <p:cNvSpPr/>
          <p:nvPr/>
        </p:nvSpPr>
        <p:spPr>
          <a:xfrm>
            <a:off x="502920" y="3557016"/>
            <a:ext cx="11183112" cy="749808"/>
          </a:xfrm>
          <a:prstGeom prst="roundRect">
            <a:avLst>
              <a:gd name="adj" fmla="val 10976"/>
            </a:avLst>
          </a:prstGeom>
          <a:solidFill>
            <a:srgbClr val="FFFFFF"/>
          </a:solidFill>
          <a:ln w="12700">
            <a:solidFill>
              <a:srgbClr val="D8DDE9"/>
            </a:solidFill>
            <a:prstDash val="solid"/>
          </a:ln>
        </p:spPr>
      </p:sp>
      <p:sp>
        <p:nvSpPr>
          <p:cNvPr id="19" name="Text 17"/>
          <p:cNvSpPr/>
          <p:nvPr/>
        </p:nvSpPr>
        <p:spPr>
          <a:xfrm>
            <a:off x="758952" y="3630168"/>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Working adults</a:t>
            </a:r>
            <a:endParaRPr lang="en-US" sz="1250" dirty="0"/>
          </a:p>
        </p:txBody>
      </p:sp>
      <p:sp>
        <p:nvSpPr>
          <p:cNvPr id="20" name="Text 18"/>
          <p:cNvSpPr/>
          <p:nvPr/>
        </p:nvSpPr>
        <p:spPr>
          <a:xfrm>
            <a:off x="758952" y="3941064"/>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Orchard (33)   ·   Tampines (12)   ·   Marine Parade (11)   ·   Museum (11)</a:t>
            </a:r>
            <a:endParaRPr lang="en-US" sz="1050" dirty="0"/>
          </a:p>
        </p:txBody>
      </p:sp>
      <p:sp>
        <p:nvSpPr>
          <p:cNvPr id="21" name="Text 19"/>
          <p:cNvSpPr/>
          <p:nvPr/>
        </p:nvSpPr>
        <p:spPr>
          <a:xfrm>
            <a:off x="5760720" y="3739896"/>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Orchard · Shaw House · Orchard Central</a:t>
            </a:r>
            <a:endParaRPr lang="en-US" sz="1000" dirty="0"/>
          </a:p>
        </p:txBody>
      </p:sp>
      <p:sp>
        <p:nvSpPr>
          <p:cNvPr id="22" name="Shape 20"/>
          <p:cNvSpPr/>
          <p:nvPr/>
        </p:nvSpPr>
        <p:spPr>
          <a:xfrm>
            <a:off x="502920" y="4398264"/>
            <a:ext cx="11183112" cy="749808"/>
          </a:xfrm>
          <a:prstGeom prst="roundRect">
            <a:avLst>
              <a:gd name="adj" fmla="val 10976"/>
            </a:avLst>
          </a:prstGeom>
          <a:solidFill>
            <a:srgbClr val="FDF0F4"/>
          </a:solidFill>
          <a:ln w="12700">
            <a:solidFill>
              <a:srgbClr val="F0245E"/>
            </a:solidFill>
            <a:prstDash val="solid"/>
          </a:ln>
        </p:spPr>
      </p:sp>
      <p:sp>
        <p:nvSpPr>
          <p:cNvPr id="23" name="Text 21"/>
          <p:cNvSpPr/>
          <p:nvPr/>
        </p:nvSpPr>
        <p:spPr>
          <a:xfrm>
            <a:off x="758952" y="4471416"/>
            <a:ext cx="2286000" cy="310896"/>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24" name="Text 22"/>
          <p:cNvSpPr/>
          <p:nvPr/>
        </p:nvSpPr>
        <p:spPr>
          <a:xfrm>
            <a:off x="758952" y="4782312"/>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Ang Mo Kio (19)   ·   Bukit Merah (14)   ·   Bedok (8)   ·   Tampines (8)</a:t>
            </a:r>
            <a:endParaRPr lang="en-US" sz="1050" dirty="0"/>
          </a:p>
        </p:txBody>
      </p:sp>
      <p:sp>
        <p:nvSpPr>
          <p:cNvPr id="25" name="Text 23"/>
          <p:cNvSpPr/>
          <p:nvPr/>
        </p:nvSpPr>
        <p:spPr>
          <a:xfrm>
            <a:off x="5760720" y="4581144"/>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Anderson Primary School · AWWA Community Home for Senior Citizens · Ang Mo Kio Primary School</a:t>
            </a:r>
            <a:endParaRPr lang="en-US" sz="1000" dirty="0"/>
          </a:p>
        </p:txBody>
      </p:sp>
      <p:sp>
        <p:nvSpPr>
          <p:cNvPr id="26" name="Shape 24"/>
          <p:cNvSpPr/>
          <p:nvPr/>
        </p:nvSpPr>
        <p:spPr>
          <a:xfrm>
            <a:off x="502920" y="5239512"/>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58952" y="5312664"/>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Youth</a:t>
            </a:r>
            <a:endParaRPr lang="en-US" sz="1250" dirty="0"/>
          </a:p>
        </p:txBody>
      </p:sp>
      <p:sp>
        <p:nvSpPr>
          <p:cNvPr id="28" name="Text 26"/>
          <p:cNvSpPr/>
          <p:nvPr/>
        </p:nvSpPr>
        <p:spPr>
          <a:xfrm>
            <a:off x="758952" y="5623560"/>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Bedok (13)   ·   Tampines (9)   ·   Ang Mo Kio (8)   ·   Pasir Ris (6)</a:t>
            </a:r>
            <a:endParaRPr lang="en-US" sz="1050" dirty="0"/>
          </a:p>
        </p:txBody>
      </p:sp>
      <p:sp>
        <p:nvSpPr>
          <p:cNvPr id="29" name="Text 27"/>
          <p:cNvSpPr/>
          <p:nvPr/>
        </p:nvSpPr>
        <p:spPr>
          <a:xfrm>
            <a:off x="5760720" y="5422392"/>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Anglican High School · Bedok Green Secondary School · Bedok South Secondary School</a:t>
            </a:r>
            <a:endParaRPr lang="en-US" sz="1000" dirty="0"/>
          </a:p>
        </p:txBody>
      </p:sp>
      <p:sp>
        <p:nvSpPr>
          <p:cNvPr id="30" name="Text 28"/>
          <p:cNvSpPr/>
          <p:nvPr/>
        </p:nvSpPr>
        <p:spPr>
          <a:xfrm>
            <a:off x="502920" y="6035040"/>
            <a:ext cx="76809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Number in brackets = places of that audience within 400 m of a DBP L2 stop in that planning area.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DAYPARTING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runs, and when</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creative rotation per audience, set by when the places around the stop are actually open.</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11</a:t>
            </a:r>
            <a:endParaRPr lang="en-US" sz="1000" dirty="0"/>
          </a:p>
        </p:txBody>
      </p:sp>
      <p:sp>
        <p:nvSpPr>
          <p:cNvPr id="8" name="Shape 6"/>
          <p:cNvSpPr/>
          <p:nvPr/>
        </p:nvSpPr>
        <p:spPr>
          <a:xfrm>
            <a:off x="9528048" y="329184"/>
            <a:ext cx="2101291" cy="310896"/>
          </a:xfrm>
          <a:prstGeom prst="roundRect">
            <a:avLst>
              <a:gd name="adj" fmla="val 50000"/>
            </a:avLst>
          </a:prstGeom>
          <a:solidFill>
            <a:srgbClr val="FFFFFF"/>
          </a:solidFill>
          <a:ln w="12700">
            <a:solidFill>
              <a:srgbClr val="5A6484"/>
            </a:solidFill>
            <a:prstDash val="solid"/>
          </a:ln>
        </p:spPr>
      </p:sp>
      <p:sp>
        <p:nvSpPr>
          <p:cNvPr id="9" name="Text 7"/>
          <p:cNvSpPr/>
          <p:nvPr/>
        </p:nvSpPr>
        <p:spPr>
          <a:xfrm>
            <a:off x="9528048" y="329184"/>
            <a:ext cx="2101291" cy="310896"/>
          </a:xfrm>
          <a:prstGeom prst="rect">
            <a:avLst/>
          </a:prstGeom>
          <a:noFill/>
          <a:ln/>
        </p:spPr>
        <p:txBody>
          <a:bodyPr wrap="square" lIns="0" tIns="0" rIns="0" bIns="0" rtlCol="0" anchor="ctr"/>
          <a:lstStyle/>
          <a:p>
            <a:pPr algn="ctr" indent="0" marL="0">
              <a:buNone/>
            </a:pPr>
            <a:r>
              <a:rPr lang="en-US" sz="900" b="1" spc="130" kern="0" dirty="0">
                <a:solidFill>
                  <a:srgbClr val="5A6484"/>
                </a:solidFill>
                <a:latin typeface="Arial" pitchFamily="34" charset="0"/>
                <a:ea typeface="Arial" pitchFamily="34" charset="-122"/>
                <a:cs typeface="Arial" pitchFamily="34" charset="-120"/>
              </a:rPr>
              <a:t>PLANNING ASSUMPTION</a:t>
            </a:r>
            <a:endParaRPr lang="en-US" sz="900" dirty="0"/>
          </a:p>
        </p:txBody>
      </p:sp>
      <p:sp>
        <p:nvSpPr>
          <p:cNvPr id="10" name="Text 8"/>
          <p:cNvSpPr/>
          <p:nvPr/>
        </p:nvSpPr>
        <p:spPr>
          <a:xfrm>
            <a:off x="758952" y="1874520"/>
            <a:ext cx="210312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Audience</a:t>
            </a:r>
            <a:endParaRPr lang="en-US" sz="950" dirty="0"/>
          </a:p>
        </p:txBody>
      </p:sp>
      <p:sp>
        <p:nvSpPr>
          <p:cNvPr id="11" name="Text 9"/>
          <p:cNvSpPr/>
          <p:nvPr/>
        </p:nvSpPr>
        <p:spPr>
          <a:xfrm>
            <a:off x="3063240" y="1874520"/>
            <a:ext cx="274320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Window</a:t>
            </a:r>
            <a:endParaRPr lang="en-US" sz="950" dirty="0"/>
          </a:p>
        </p:txBody>
      </p:sp>
      <p:sp>
        <p:nvSpPr>
          <p:cNvPr id="12" name="Text 10"/>
          <p:cNvSpPr/>
          <p:nvPr/>
        </p:nvSpPr>
        <p:spPr>
          <a:xfrm>
            <a:off x="6035040" y="1874520"/>
            <a:ext cx="557784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Creative</a:t>
            </a:r>
            <a:endParaRPr lang="en-US" sz="950" dirty="0"/>
          </a:p>
        </p:txBody>
      </p:sp>
      <p:sp>
        <p:nvSpPr>
          <p:cNvPr id="13" name="Shape 11"/>
          <p:cNvSpPr/>
          <p:nvPr/>
        </p:nvSpPr>
        <p:spPr>
          <a:xfrm>
            <a:off x="502920" y="2185416"/>
            <a:ext cx="11183112" cy="658368"/>
          </a:xfrm>
          <a:prstGeom prst="roundRect">
            <a:avLst>
              <a:gd name="adj" fmla="val 12500"/>
            </a:avLst>
          </a:prstGeom>
          <a:solidFill>
            <a:srgbClr val="FFFFFF"/>
          </a:solidFill>
          <a:ln w="12700">
            <a:solidFill>
              <a:srgbClr val="D8DDE9"/>
            </a:solidFill>
            <a:prstDash val="solid"/>
          </a:ln>
        </p:spPr>
      </p:sp>
      <p:sp>
        <p:nvSpPr>
          <p:cNvPr id="14" name="Text 12"/>
          <p:cNvSpPr/>
          <p:nvPr/>
        </p:nvSpPr>
        <p:spPr>
          <a:xfrm>
            <a:off x="758952" y="2340864"/>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Seniors</a:t>
            </a:r>
            <a:endParaRPr lang="en-US" sz="1200" dirty="0"/>
          </a:p>
        </p:txBody>
      </p:sp>
      <p:sp>
        <p:nvSpPr>
          <p:cNvPr id="15" name="Text 13"/>
          <p:cNvSpPr/>
          <p:nvPr/>
        </p:nvSpPr>
        <p:spPr>
          <a:xfrm>
            <a:off x="3063240" y="2240280"/>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08:00–11:00</a:t>
            </a:r>
            <a:endParaRPr lang="en-US" sz="1050" dirty="0"/>
          </a:p>
        </p:txBody>
      </p:sp>
      <p:sp>
        <p:nvSpPr>
          <p:cNvPr id="16" name="Text 14"/>
          <p:cNvSpPr/>
          <p:nvPr/>
        </p:nvSpPr>
        <p:spPr>
          <a:xfrm>
            <a:off x="3063240" y="2514600"/>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Polyclinic and senior-activity morning peak</a:t>
            </a:r>
            <a:endParaRPr lang="en-US" sz="900" dirty="0"/>
          </a:p>
        </p:txBody>
      </p:sp>
      <p:sp>
        <p:nvSpPr>
          <p:cNvPr id="17" name="Text 15"/>
          <p:cNvSpPr/>
          <p:nvPr/>
        </p:nvSpPr>
        <p:spPr>
          <a:xfrm>
            <a:off x="6035040" y="2340864"/>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Large type, dialect-friendly: the number, and that it is free.</a:t>
            </a:r>
            <a:endParaRPr lang="en-US" sz="1100" dirty="0"/>
          </a:p>
        </p:txBody>
      </p:sp>
      <p:sp>
        <p:nvSpPr>
          <p:cNvPr id="18" name="Shape 16"/>
          <p:cNvSpPr/>
          <p:nvPr/>
        </p:nvSpPr>
        <p:spPr>
          <a:xfrm>
            <a:off x="502920" y="2898648"/>
            <a:ext cx="11183112" cy="658368"/>
          </a:xfrm>
          <a:prstGeom prst="roundRect">
            <a:avLst>
              <a:gd name="adj" fmla="val 12500"/>
            </a:avLst>
          </a:prstGeom>
          <a:solidFill>
            <a:srgbClr val="FFFFFF"/>
          </a:solidFill>
          <a:ln w="12700">
            <a:solidFill>
              <a:srgbClr val="D8DDE9"/>
            </a:solidFill>
            <a:prstDash val="solid"/>
          </a:ln>
        </p:spPr>
      </p:sp>
      <p:sp>
        <p:nvSpPr>
          <p:cNvPr id="19" name="Text 17"/>
          <p:cNvSpPr/>
          <p:nvPr/>
        </p:nvSpPr>
        <p:spPr>
          <a:xfrm>
            <a:off x="758952" y="3054096"/>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Young children</a:t>
            </a:r>
            <a:endParaRPr lang="en-US" sz="1200" dirty="0"/>
          </a:p>
        </p:txBody>
      </p:sp>
      <p:sp>
        <p:nvSpPr>
          <p:cNvPr id="20" name="Text 18"/>
          <p:cNvSpPr/>
          <p:nvPr/>
        </p:nvSpPr>
        <p:spPr>
          <a:xfrm>
            <a:off x="3063240" y="2953512"/>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06:30–07:45 &amp; 13:00–15:30</a:t>
            </a:r>
            <a:endParaRPr lang="en-US" sz="1050" dirty="0"/>
          </a:p>
        </p:txBody>
      </p:sp>
      <p:sp>
        <p:nvSpPr>
          <p:cNvPr id="21" name="Text 19"/>
          <p:cNvSpPr/>
          <p:nvPr/>
        </p:nvSpPr>
        <p:spPr>
          <a:xfrm>
            <a:off x="3063240" y="3227832"/>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The school run, both directions</a:t>
            </a:r>
            <a:endParaRPr lang="en-US" sz="900" dirty="0"/>
          </a:p>
        </p:txBody>
      </p:sp>
      <p:sp>
        <p:nvSpPr>
          <p:cNvPr id="22" name="Text 20"/>
          <p:cNvSpPr/>
          <p:nvPr/>
        </p:nvSpPr>
        <p:spPr>
          <a:xfrm>
            <a:off x="6035040" y="3054096"/>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Child-facing: "Mind feeling under the weather?"</a:t>
            </a:r>
            <a:endParaRPr lang="en-US" sz="1100" dirty="0"/>
          </a:p>
        </p:txBody>
      </p:sp>
      <p:sp>
        <p:nvSpPr>
          <p:cNvPr id="23" name="Shape 21"/>
          <p:cNvSpPr/>
          <p:nvPr/>
        </p:nvSpPr>
        <p:spPr>
          <a:xfrm>
            <a:off x="502920" y="3611880"/>
            <a:ext cx="11183112" cy="658368"/>
          </a:xfrm>
          <a:prstGeom prst="roundRect">
            <a:avLst>
              <a:gd name="adj" fmla="val 12500"/>
            </a:avLst>
          </a:prstGeom>
          <a:solidFill>
            <a:srgbClr val="FFFFFF"/>
          </a:solidFill>
          <a:ln w="12700">
            <a:solidFill>
              <a:srgbClr val="D8DDE9"/>
            </a:solidFill>
            <a:prstDash val="solid"/>
          </a:ln>
        </p:spPr>
      </p:sp>
      <p:sp>
        <p:nvSpPr>
          <p:cNvPr id="24" name="Text 22"/>
          <p:cNvSpPr/>
          <p:nvPr/>
        </p:nvSpPr>
        <p:spPr>
          <a:xfrm>
            <a:off x="758952" y="3767328"/>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Youth</a:t>
            </a:r>
            <a:endParaRPr lang="en-US" sz="1200" dirty="0"/>
          </a:p>
        </p:txBody>
      </p:sp>
      <p:sp>
        <p:nvSpPr>
          <p:cNvPr id="25" name="Text 23"/>
          <p:cNvSpPr/>
          <p:nvPr/>
        </p:nvSpPr>
        <p:spPr>
          <a:xfrm>
            <a:off x="3063240" y="3666744"/>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15:00–18:00 + weekend 12:00–20:00</a:t>
            </a:r>
            <a:endParaRPr lang="en-US" sz="1050" dirty="0"/>
          </a:p>
        </p:txBody>
      </p:sp>
      <p:sp>
        <p:nvSpPr>
          <p:cNvPr id="26" name="Text 24"/>
          <p:cNvSpPr/>
          <p:nvPr/>
        </p:nvSpPr>
        <p:spPr>
          <a:xfrm>
            <a:off x="3063240" y="3941064"/>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Secondary/IHL dismissal and third-place dwell</a:t>
            </a:r>
            <a:endParaRPr lang="en-US" sz="900" dirty="0"/>
          </a:p>
        </p:txBody>
      </p:sp>
      <p:sp>
        <p:nvSpPr>
          <p:cNvPr id="27" name="Text 25"/>
          <p:cNvSpPr/>
          <p:nvPr/>
        </p:nvSpPr>
        <p:spPr>
          <a:xfrm>
            <a:off x="6035040" y="3767328"/>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Peer-voice, QR to chat rather than phone.</a:t>
            </a:r>
            <a:endParaRPr lang="en-US" sz="1100" dirty="0"/>
          </a:p>
        </p:txBody>
      </p:sp>
      <p:sp>
        <p:nvSpPr>
          <p:cNvPr id="28" name="Shape 26"/>
          <p:cNvSpPr/>
          <p:nvPr/>
        </p:nvSpPr>
        <p:spPr>
          <a:xfrm>
            <a:off x="502920" y="4325112"/>
            <a:ext cx="11183112" cy="658368"/>
          </a:xfrm>
          <a:prstGeom prst="roundRect">
            <a:avLst>
              <a:gd name="adj" fmla="val 12500"/>
            </a:avLst>
          </a:prstGeom>
          <a:solidFill>
            <a:srgbClr val="FFFFFF"/>
          </a:solidFill>
          <a:ln w="12700">
            <a:solidFill>
              <a:srgbClr val="D8DDE9"/>
            </a:solidFill>
            <a:prstDash val="solid"/>
          </a:ln>
        </p:spPr>
      </p:sp>
      <p:sp>
        <p:nvSpPr>
          <p:cNvPr id="29" name="Text 27"/>
          <p:cNvSpPr/>
          <p:nvPr/>
        </p:nvSpPr>
        <p:spPr>
          <a:xfrm>
            <a:off x="758952" y="4480560"/>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Working adults</a:t>
            </a:r>
            <a:endParaRPr lang="en-US" sz="1200" dirty="0"/>
          </a:p>
        </p:txBody>
      </p:sp>
      <p:sp>
        <p:nvSpPr>
          <p:cNvPr id="30" name="Text 28"/>
          <p:cNvSpPr/>
          <p:nvPr/>
        </p:nvSpPr>
        <p:spPr>
          <a:xfrm>
            <a:off x="3063240" y="4379976"/>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07:30–09:30 &amp; 17:30–19:30</a:t>
            </a:r>
            <a:endParaRPr lang="en-US" sz="1050" dirty="0"/>
          </a:p>
        </p:txBody>
      </p:sp>
      <p:sp>
        <p:nvSpPr>
          <p:cNvPr id="31" name="Text 29"/>
          <p:cNvSpPr/>
          <p:nvPr/>
        </p:nvSpPr>
        <p:spPr>
          <a:xfrm>
            <a:off x="3063240" y="4654296"/>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Interchange and CBD commute peaks</a:t>
            </a:r>
            <a:endParaRPr lang="en-US" sz="900" dirty="0"/>
          </a:p>
        </p:txBody>
      </p:sp>
      <p:sp>
        <p:nvSpPr>
          <p:cNvPr id="32" name="Text 30"/>
          <p:cNvSpPr/>
          <p:nvPr/>
        </p:nvSpPr>
        <p:spPr>
          <a:xfrm>
            <a:off x="6035040" y="4480560"/>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Low-dwell, high-frequency: one line and the number.</a:t>
            </a:r>
            <a:endParaRPr lang="en-US" sz="1100" dirty="0"/>
          </a:p>
        </p:txBody>
      </p:sp>
      <p:sp>
        <p:nvSpPr>
          <p:cNvPr id="33" name="Shape 31"/>
          <p:cNvSpPr/>
          <p:nvPr/>
        </p:nvSpPr>
        <p:spPr>
          <a:xfrm>
            <a:off x="502920" y="5038344"/>
            <a:ext cx="11183112" cy="658368"/>
          </a:xfrm>
          <a:prstGeom prst="roundRect">
            <a:avLst>
              <a:gd name="adj" fmla="val 12500"/>
            </a:avLst>
          </a:prstGeom>
          <a:solidFill>
            <a:srgbClr val="FDF0F4"/>
          </a:solidFill>
          <a:ln w="12700">
            <a:solidFill>
              <a:srgbClr val="F0245E"/>
            </a:solidFill>
            <a:prstDash val="solid"/>
          </a:ln>
        </p:spPr>
      </p:sp>
      <p:sp>
        <p:nvSpPr>
          <p:cNvPr id="34" name="Text 32"/>
          <p:cNvSpPr/>
          <p:nvPr/>
        </p:nvSpPr>
        <p:spPr>
          <a:xfrm>
            <a:off x="758952" y="5193792"/>
            <a:ext cx="2377440" cy="347472"/>
          </a:xfrm>
          <a:prstGeom prst="rect">
            <a:avLst/>
          </a:prstGeom>
          <a:noFill/>
          <a:ln/>
        </p:spPr>
        <p:txBody>
          <a:bodyPr wrap="square" lIns="0" tIns="0" rIns="0" bIns="0" rtlCol="0" anchor="ctr"/>
          <a:lstStyle/>
          <a:p>
            <a:pPr indent="0" marL="0">
              <a:buNone/>
            </a:pPr>
            <a:r>
              <a:rPr lang="en-US" sz="1200" b="1" dirty="0">
                <a:solidFill>
                  <a:srgbClr val="F0245E"/>
                </a:solidFill>
                <a:latin typeface="Arial" pitchFamily="34" charset="0"/>
                <a:ea typeface="Arial" pitchFamily="34" charset="-122"/>
                <a:cs typeface="Arial" pitchFamily="34" charset="-120"/>
              </a:rPr>
              <a:t>Sandwich generation</a:t>
            </a:r>
            <a:endParaRPr lang="en-US" sz="1200" dirty="0"/>
          </a:p>
        </p:txBody>
      </p:sp>
      <p:sp>
        <p:nvSpPr>
          <p:cNvPr id="35" name="Text 33"/>
          <p:cNvSpPr/>
          <p:nvPr/>
        </p:nvSpPr>
        <p:spPr>
          <a:xfrm>
            <a:off x="3063240" y="5093208"/>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17:30–20:00 + weekend all-day</a:t>
            </a:r>
            <a:endParaRPr lang="en-US" sz="1050" dirty="0"/>
          </a:p>
        </p:txBody>
      </p:sp>
      <p:sp>
        <p:nvSpPr>
          <p:cNvPr id="36" name="Text 34"/>
          <p:cNvSpPr/>
          <p:nvPr/>
        </p:nvSpPr>
        <p:spPr>
          <a:xfrm>
            <a:off x="3063240" y="5367528"/>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After work, and the weekend errand run</a:t>
            </a:r>
            <a:endParaRPr lang="en-US" sz="900" dirty="0"/>
          </a:p>
        </p:txBody>
      </p:sp>
      <p:sp>
        <p:nvSpPr>
          <p:cNvPr id="37" name="Text 35"/>
          <p:cNvSpPr/>
          <p:nvPr/>
        </p:nvSpPr>
        <p:spPr>
          <a:xfrm>
            <a:off x="6035040" y="5193792"/>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"Caring for both? You can call for yourself too."</a:t>
            </a:r>
            <a:endParaRPr lang="en-US" sz="1100" dirty="0"/>
          </a:p>
        </p:txBody>
      </p:sp>
      <p:sp>
        <p:nvSpPr>
          <p:cNvPr id="38" name="Shape 36"/>
          <p:cNvSpPr/>
          <p:nvPr/>
        </p:nvSpPr>
        <p:spPr>
          <a:xfrm>
            <a:off x="502920" y="5797296"/>
            <a:ext cx="11183112" cy="512064"/>
          </a:xfrm>
          <a:prstGeom prst="roundRect">
            <a:avLst>
              <a:gd name="adj" fmla="val 16071"/>
            </a:avLst>
          </a:prstGeom>
          <a:solidFill>
            <a:srgbClr val="F5F7FC"/>
          </a:solidFill>
          <a:ln w="12700">
            <a:solidFill>
              <a:srgbClr val="D8DDE9"/>
            </a:solidFill>
            <a:prstDash val="solid"/>
          </a:ln>
        </p:spPr>
      </p:sp>
      <p:sp>
        <p:nvSpPr>
          <p:cNvPr id="39" name="Text 37"/>
          <p:cNvSpPr/>
          <p:nvPr/>
        </p:nvSpPr>
        <p:spPr>
          <a:xfrm>
            <a:off x="795528" y="5870448"/>
            <a:ext cx="10607040" cy="365760"/>
          </a:xfrm>
          <a:prstGeom prst="rect">
            <a:avLst/>
          </a:prstGeom>
          <a:noFill/>
          <a:ln/>
        </p:spPr>
        <p:txBody>
          <a:bodyPr wrap="square" lIns="0" tIns="0" rIns="0" bIns="0" rtlCol="0" anchor="ctr"/>
          <a:lstStyle/>
          <a:p>
            <a:pPr indent="0" marL="0">
              <a:buNone/>
            </a:pPr>
            <a:r>
              <a:rPr lang="en-US" sz="1100" dirty="0">
                <a:solidFill>
                  <a:srgbClr val="1B2D8A"/>
                </a:solidFill>
                <a:latin typeface="Arial" pitchFamily="34" charset="0"/>
                <a:ea typeface="Arial" pitchFamily="34" charset="-122"/>
                <a:cs typeface="Arial" pitchFamily="34" charset="-120"/>
              </a:rPr>
              <a:t>Weekend is not a throwaway: DBP L2 carries 1.27M weekend boardings against 1.29M weekday — 99% of the weekday figure.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BY VEHICLE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Each bus already leans to an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audience per vehicle, assigned to the bus that carries the largest share of it — so all five are briefed.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12</a:t>
            </a:r>
            <a:endParaRPr lang="en-US" sz="1000" dirty="0"/>
          </a:p>
        </p:txBody>
      </p:sp>
      <p:sp>
        <p:nvSpPr>
          <p:cNvPr id="8" name="Shape 6"/>
          <p:cNvSpPr/>
          <p:nvPr/>
        </p:nvSpPr>
        <p:spPr>
          <a:xfrm>
            <a:off x="502920" y="1965960"/>
            <a:ext cx="11183112" cy="731520"/>
          </a:xfrm>
          <a:prstGeom prst="roundRect">
            <a:avLst>
              <a:gd name="adj" fmla="val 11250"/>
            </a:avLst>
          </a:prstGeom>
          <a:solidFill>
            <a:srgbClr val="FFFFFF"/>
          </a:solidFill>
          <a:ln w="12700">
            <a:solidFill>
              <a:srgbClr val="D8DDE9"/>
            </a:solidFill>
            <a:prstDash val="solid"/>
          </a:ln>
        </p:spPr>
      </p:sp>
      <p:sp>
        <p:nvSpPr>
          <p:cNvPr id="9" name="Shape 7"/>
          <p:cNvSpPr/>
          <p:nvPr/>
        </p:nvSpPr>
        <p:spPr>
          <a:xfrm>
            <a:off x="740664" y="2130552"/>
            <a:ext cx="786384" cy="402336"/>
          </a:xfrm>
          <a:prstGeom prst="roundRect">
            <a:avLst>
              <a:gd name="adj" fmla="val 15909"/>
            </a:avLst>
          </a:prstGeom>
          <a:solidFill>
            <a:srgbClr val="FFFFFF"/>
          </a:solidFill>
          <a:ln w="15875">
            <a:solidFill>
              <a:srgbClr val="F0245E"/>
            </a:solidFill>
            <a:prstDash val="solid"/>
          </a:ln>
        </p:spPr>
      </p:sp>
      <p:sp>
        <p:nvSpPr>
          <p:cNvPr id="10" name="Text 8"/>
          <p:cNvSpPr/>
          <p:nvPr/>
        </p:nvSpPr>
        <p:spPr>
          <a:xfrm>
            <a:off x="740664" y="2130552"/>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972</a:t>
            </a:r>
            <a:endParaRPr lang="en-US" sz="1500" dirty="0"/>
          </a:p>
        </p:txBody>
      </p:sp>
      <p:sp>
        <p:nvSpPr>
          <p:cNvPr id="11" name="Text 9"/>
          <p:cNvSpPr/>
          <p:nvPr/>
        </p:nvSpPr>
        <p:spPr>
          <a:xfrm>
            <a:off x="1655064" y="2039112"/>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Bt Panjang Int ⟲ YMCA</a:t>
            </a:r>
            <a:endParaRPr lang="en-US" sz="1050" dirty="0"/>
          </a:p>
        </p:txBody>
      </p:sp>
      <p:sp>
        <p:nvSpPr>
          <p:cNvPr id="12" name="Text 10"/>
          <p:cNvSpPr/>
          <p:nvPr/>
        </p:nvSpPr>
        <p:spPr>
          <a:xfrm>
            <a:off x="1655064" y="2331720"/>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Young children</a:t>
            </a:r>
            <a:endParaRPr lang="en-US" sz="1250" dirty="0"/>
          </a:p>
        </p:txBody>
      </p:sp>
      <p:sp>
        <p:nvSpPr>
          <p:cNvPr id="13" name="Text 11"/>
          <p:cNvSpPr/>
          <p:nvPr/>
        </p:nvSpPr>
        <p:spPr>
          <a:xfrm>
            <a:off x="3886200" y="2331720"/>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19 places · 17% of the package</a:t>
            </a:r>
            <a:endParaRPr lang="en-US" sz="1000" dirty="0"/>
          </a:p>
        </p:txBody>
      </p:sp>
      <p:sp>
        <p:nvSpPr>
          <p:cNvPr id="14" name="Shape 12"/>
          <p:cNvSpPr/>
          <p:nvPr/>
        </p:nvSpPr>
        <p:spPr>
          <a:xfrm>
            <a:off x="6858000" y="2346902"/>
            <a:ext cx="384048" cy="131122"/>
          </a:xfrm>
          <a:prstGeom prst="rect">
            <a:avLst/>
          </a:prstGeom>
          <a:solidFill>
            <a:srgbClr val="F0245E"/>
          </a:solidFill>
          <a:ln/>
        </p:spPr>
      </p:sp>
      <p:sp>
        <p:nvSpPr>
          <p:cNvPr id="15" name="Text 13"/>
          <p:cNvSpPr/>
          <p:nvPr/>
        </p:nvSpPr>
        <p:spPr>
          <a:xfrm>
            <a:off x="6775704"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19</a:t>
            </a:r>
            <a:endParaRPr lang="en-US" sz="800" dirty="0"/>
          </a:p>
        </p:txBody>
      </p:sp>
      <p:sp>
        <p:nvSpPr>
          <p:cNvPr id="16" name="Text 14"/>
          <p:cNvSpPr/>
          <p:nvPr/>
        </p:nvSpPr>
        <p:spPr>
          <a:xfrm>
            <a:off x="6775704"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7" name="Shape 15"/>
          <p:cNvSpPr/>
          <p:nvPr/>
        </p:nvSpPr>
        <p:spPr>
          <a:xfrm>
            <a:off x="7424928" y="2432304"/>
            <a:ext cx="384048" cy="45720"/>
          </a:xfrm>
          <a:prstGeom prst="rect">
            <a:avLst/>
          </a:prstGeom>
          <a:solidFill>
            <a:srgbClr val="1B2D8A"/>
          </a:solidFill>
          <a:ln/>
        </p:spPr>
      </p:sp>
      <p:sp>
        <p:nvSpPr>
          <p:cNvPr id="18" name="Text 16"/>
          <p:cNvSpPr/>
          <p:nvPr/>
        </p:nvSpPr>
        <p:spPr>
          <a:xfrm>
            <a:off x="7342632"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a:t>
            </a:r>
            <a:endParaRPr lang="en-US" sz="800" dirty="0"/>
          </a:p>
        </p:txBody>
      </p:sp>
      <p:sp>
        <p:nvSpPr>
          <p:cNvPr id="19" name="Text 17"/>
          <p:cNvSpPr/>
          <p:nvPr/>
        </p:nvSpPr>
        <p:spPr>
          <a:xfrm>
            <a:off x="7342632"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20" name="Shape 18"/>
          <p:cNvSpPr/>
          <p:nvPr/>
        </p:nvSpPr>
        <p:spPr>
          <a:xfrm>
            <a:off x="7991856" y="2139869"/>
            <a:ext cx="384048" cy="338155"/>
          </a:xfrm>
          <a:prstGeom prst="rect">
            <a:avLst/>
          </a:prstGeom>
          <a:solidFill>
            <a:srgbClr val="1B2D8A"/>
          </a:solidFill>
          <a:ln/>
        </p:spPr>
      </p:sp>
      <p:sp>
        <p:nvSpPr>
          <p:cNvPr id="21" name="Text 19"/>
          <p:cNvSpPr/>
          <p:nvPr/>
        </p:nvSpPr>
        <p:spPr>
          <a:xfrm>
            <a:off x="7909560"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49</a:t>
            </a:r>
            <a:endParaRPr lang="en-US" sz="800" dirty="0"/>
          </a:p>
        </p:txBody>
      </p:sp>
      <p:sp>
        <p:nvSpPr>
          <p:cNvPr id="22" name="Text 20"/>
          <p:cNvSpPr/>
          <p:nvPr/>
        </p:nvSpPr>
        <p:spPr>
          <a:xfrm>
            <a:off x="7909560"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23" name="Shape 21"/>
          <p:cNvSpPr/>
          <p:nvPr/>
        </p:nvSpPr>
        <p:spPr>
          <a:xfrm>
            <a:off x="8558784" y="2381408"/>
            <a:ext cx="384048" cy="96616"/>
          </a:xfrm>
          <a:prstGeom prst="rect">
            <a:avLst/>
          </a:prstGeom>
          <a:solidFill>
            <a:srgbClr val="1B2D8A"/>
          </a:solidFill>
          <a:ln/>
        </p:spPr>
      </p:sp>
      <p:sp>
        <p:nvSpPr>
          <p:cNvPr id="24" name="Text 22"/>
          <p:cNvSpPr/>
          <p:nvPr/>
        </p:nvSpPr>
        <p:spPr>
          <a:xfrm>
            <a:off x="8476488"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14</a:t>
            </a:r>
            <a:endParaRPr lang="en-US" sz="800" dirty="0"/>
          </a:p>
        </p:txBody>
      </p:sp>
      <p:sp>
        <p:nvSpPr>
          <p:cNvPr id="25" name="Text 23"/>
          <p:cNvSpPr/>
          <p:nvPr/>
        </p:nvSpPr>
        <p:spPr>
          <a:xfrm>
            <a:off x="8476488"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26" name="Shape 24"/>
          <p:cNvSpPr/>
          <p:nvPr/>
        </p:nvSpPr>
        <p:spPr>
          <a:xfrm>
            <a:off x="9125712" y="2409013"/>
            <a:ext cx="384048" cy="69011"/>
          </a:xfrm>
          <a:prstGeom prst="rect">
            <a:avLst/>
          </a:prstGeom>
          <a:solidFill>
            <a:srgbClr val="1B2D8A"/>
          </a:solidFill>
          <a:ln/>
        </p:spPr>
      </p:sp>
      <p:sp>
        <p:nvSpPr>
          <p:cNvPr id="27" name="Text 25"/>
          <p:cNvSpPr/>
          <p:nvPr/>
        </p:nvSpPr>
        <p:spPr>
          <a:xfrm>
            <a:off x="9043416"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10</a:t>
            </a:r>
            <a:endParaRPr lang="en-US" sz="800" dirty="0"/>
          </a:p>
        </p:txBody>
      </p:sp>
      <p:sp>
        <p:nvSpPr>
          <p:cNvPr id="28" name="Text 26"/>
          <p:cNvSpPr/>
          <p:nvPr/>
        </p:nvSpPr>
        <p:spPr>
          <a:xfrm>
            <a:off x="9043416"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29" name="Text 27"/>
          <p:cNvSpPr/>
          <p:nvPr/>
        </p:nvSpPr>
        <p:spPr>
          <a:xfrm>
            <a:off x="10378440" y="2176272"/>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55 stops</a:t>
            </a:r>
            <a:endParaRPr lang="en-US" sz="1050" dirty="0"/>
          </a:p>
        </p:txBody>
      </p:sp>
      <p:sp>
        <p:nvSpPr>
          <p:cNvPr id="30" name="Shape 28"/>
          <p:cNvSpPr/>
          <p:nvPr/>
        </p:nvSpPr>
        <p:spPr>
          <a:xfrm>
            <a:off x="502920" y="2770632"/>
            <a:ext cx="11183112" cy="731520"/>
          </a:xfrm>
          <a:prstGeom prst="roundRect">
            <a:avLst>
              <a:gd name="adj" fmla="val 11250"/>
            </a:avLst>
          </a:prstGeom>
          <a:solidFill>
            <a:srgbClr val="FFFFFF"/>
          </a:solidFill>
          <a:ln w="12700">
            <a:solidFill>
              <a:srgbClr val="D8DDE9"/>
            </a:solidFill>
            <a:prstDash val="solid"/>
          </a:ln>
        </p:spPr>
      </p:sp>
      <p:sp>
        <p:nvSpPr>
          <p:cNvPr id="31" name="Shape 29"/>
          <p:cNvSpPr/>
          <p:nvPr/>
        </p:nvSpPr>
        <p:spPr>
          <a:xfrm>
            <a:off x="740664" y="2935224"/>
            <a:ext cx="786384" cy="402336"/>
          </a:xfrm>
          <a:prstGeom prst="roundRect">
            <a:avLst>
              <a:gd name="adj" fmla="val 15909"/>
            </a:avLst>
          </a:prstGeom>
          <a:solidFill>
            <a:srgbClr val="FFFFFF"/>
          </a:solidFill>
          <a:ln w="15875">
            <a:solidFill>
              <a:srgbClr val="F0245E"/>
            </a:solidFill>
            <a:prstDash val="solid"/>
          </a:ln>
        </p:spPr>
      </p:sp>
      <p:sp>
        <p:nvSpPr>
          <p:cNvPr id="32" name="Text 30"/>
          <p:cNvSpPr/>
          <p:nvPr/>
        </p:nvSpPr>
        <p:spPr>
          <a:xfrm>
            <a:off x="740664" y="2935224"/>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143</a:t>
            </a:r>
            <a:endParaRPr lang="en-US" sz="1500" dirty="0"/>
          </a:p>
        </p:txBody>
      </p:sp>
      <p:sp>
        <p:nvSpPr>
          <p:cNvPr id="33" name="Text 31"/>
          <p:cNvSpPr/>
          <p:nvPr/>
        </p:nvSpPr>
        <p:spPr>
          <a:xfrm>
            <a:off x="1655064" y="2843784"/>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Toa Payoh Int ⇄ Jurong East Int</a:t>
            </a:r>
            <a:endParaRPr lang="en-US" sz="1050" dirty="0"/>
          </a:p>
        </p:txBody>
      </p:sp>
      <p:sp>
        <p:nvSpPr>
          <p:cNvPr id="34" name="Text 32"/>
          <p:cNvSpPr/>
          <p:nvPr/>
        </p:nvSpPr>
        <p:spPr>
          <a:xfrm>
            <a:off x="1655064" y="3136392"/>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Working adults</a:t>
            </a:r>
            <a:endParaRPr lang="en-US" sz="1250" dirty="0"/>
          </a:p>
        </p:txBody>
      </p:sp>
      <p:sp>
        <p:nvSpPr>
          <p:cNvPr id="35" name="Text 33"/>
          <p:cNvSpPr/>
          <p:nvPr/>
        </p:nvSpPr>
        <p:spPr>
          <a:xfrm>
            <a:off x="3886200" y="3136392"/>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53 places · 30% of the package</a:t>
            </a:r>
            <a:endParaRPr lang="en-US" sz="1000" dirty="0"/>
          </a:p>
        </p:txBody>
      </p:sp>
      <p:sp>
        <p:nvSpPr>
          <p:cNvPr id="36" name="Shape 34"/>
          <p:cNvSpPr/>
          <p:nvPr/>
        </p:nvSpPr>
        <p:spPr>
          <a:xfrm>
            <a:off x="6858000" y="3179179"/>
            <a:ext cx="384048" cy="103517"/>
          </a:xfrm>
          <a:prstGeom prst="rect">
            <a:avLst/>
          </a:prstGeom>
          <a:solidFill>
            <a:srgbClr val="1B2D8A"/>
          </a:solidFill>
          <a:ln/>
        </p:spPr>
      </p:sp>
      <p:sp>
        <p:nvSpPr>
          <p:cNvPr id="37" name="Text 35"/>
          <p:cNvSpPr/>
          <p:nvPr/>
        </p:nvSpPr>
        <p:spPr>
          <a:xfrm>
            <a:off x="6775704"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15</a:t>
            </a:r>
            <a:endParaRPr lang="en-US" sz="800" dirty="0"/>
          </a:p>
        </p:txBody>
      </p:sp>
      <p:sp>
        <p:nvSpPr>
          <p:cNvPr id="38" name="Text 36"/>
          <p:cNvSpPr/>
          <p:nvPr/>
        </p:nvSpPr>
        <p:spPr>
          <a:xfrm>
            <a:off x="6775704"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39" name="Shape 37"/>
          <p:cNvSpPr/>
          <p:nvPr/>
        </p:nvSpPr>
        <p:spPr>
          <a:xfrm>
            <a:off x="7424928" y="3158476"/>
            <a:ext cx="384048" cy="124220"/>
          </a:xfrm>
          <a:prstGeom prst="rect">
            <a:avLst/>
          </a:prstGeom>
          <a:solidFill>
            <a:srgbClr val="1B2D8A"/>
          </a:solidFill>
          <a:ln/>
        </p:spPr>
      </p:sp>
      <p:sp>
        <p:nvSpPr>
          <p:cNvPr id="40" name="Text 38"/>
          <p:cNvSpPr/>
          <p:nvPr/>
        </p:nvSpPr>
        <p:spPr>
          <a:xfrm>
            <a:off x="7342632"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18</a:t>
            </a:r>
            <a:endParaRPr lang="en-US" sz="800" dirty="0"/>
          </a:p>
        </p:txBody>
      </p:sp>
      <p:sp>
        <p:nvSpPr>
          <p:cNvPr id="41" name="Text 39"/>
          <p:cNvSpPr/>
          <p:nvPr/>
        </p:nvSpPr>
        <p:spPr>
          <a:xfrm>
            <a:off x="7342632"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42" name="Shape 40"/>
          <p:cNvSpPr/>
          <p:nvPr/>
        </p:nvSpPr>
        <p:spPr>
          <a:xfrm>
            <a:off x="7991856" y="2916936"/>
            <a:ext cx="384048" cy="365760"/>
          </a:xfrm>
          <a:prstGeom prst="rect">
            <a:avLst/>
          </a:prstGeom>
          <a:solidFill>
            <a:srgbClr val="F0245E"/>
          </a:solidFill>
          <a:ln/>
        </p:spPr>
      </p:sp>
      <p:sp>
        <p:nvSpPr>
          <p:cNvPr id="43" name="Text 41"/>
          <p:cNvSpPr/>
          <p:nvPr/>
        </p:nvSpPr>
        <p:spPr>
          <a:xfrm>
            <a:off x="7909560"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53</a:t>
            </a:r>
            <a:endParaRPr lang="en-US" sz="800" dirty="0"/>
          </a:p>
        </p:txBody>
      </p:sp>
      <p:sp>
        <p:nvSpPr>
          <p:cNvPr id="44" name="Text 42"/>
          <p:cNvSpPr/>
          <p:nvPr/>
        </p:nvSpPr>
        <p:spPr>
          <a:xfrm>
            <a:off x="7909560"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45" name="Shape 43"/>
          <p:cNvSpPr/>
          <p:nvPr/>
        </p:nvSpPr>
        <p:spPr>
          <a:xfrm>
            <a:off x="8558784" y="3179179"/>
            <a:ext cx="384048" cy="103517"/>
          </a:xfrm>
          <a:prstGeom prst="rect">
            <a:avLst/>
          </a:prstGeom>
          <a:solidFill>
            <a:srgbClr val="1B2D8A"/>
          </a:solidFill>
          <a:ln/>
        </p:spPr>
      </p:sp>
      <p:sp>
        <p:nvSpPr>
          <p:cNvPr id="46" name="Text 44"/>
          <p:cNvSpPr/>
          <p:nvPr/>
        </p:nvSpPr>
        <p:spPr>
          <a:xfrm>
            <a:off x="8476488"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15</a:t>
            </a:r>
            <a:endParaRPr lang="en-US" sz="800" dirty="0"/>
          </a:p>
        </p:txBody>
      </p:sp>
      <p:sp>
        <p:nvSpPr>
          <p:cNvPr id="47" name="Text 45"/>
          <p:cNvSpPr/>
          <p:nvPr/>
        </p:nvSpPr>
        <p:spPr>
          <a:xfrm>
            <a:off x="8476488"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48" name="Shape 46"/>
          <p:cNvSpPr/>
          <p:nvPr/>
        </p:nvSpPr>
        <p:spPr>
          <a:xfrm>
            <a:off x="9125712" y="3220586"/>
            <a:ext cx="384048" cy="62110"/>
          </a:xfrm>
          <a:prstGeom prst="rect">
            <a:avLst/>
          </a:prstGeom>
          <a:solidFill>
            <a:srgbClr val="1B2D8A"/>
          </a:solidFill>
          <a:ln/>
        </p:spPr>
      </p:sp>
      <p:sp>
        <p:nvSpPr>
          <p:cNvPr id="49" name="Text 47"/>
          <p:cNvSpPr/>
          <p:nvPr/>
        </p:nvSpPr>
        <p:spPr>
          <a:xfrm>
            <a:off x="9043416"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9</a:t>
            </a:r>
            <a:endParaRPr lang="en-US" sz="800" dirty="0"/>
          </a:p>
        </p:txBody>
      </p:sp>
      <p:sp>
        <p:nvSpPr>
          <p:cNvPr id="50" name="Text 48"/>
          <p:cNvSpPr/>
          <p:nvPr/>
        </p:nvSpPr>
        <p:spPr>
          <a:xfrm>
            <a:off x="9043416"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51" name="Text 49"/>
          <p:cNvSpPr/>
          <p:nvPr/>
        </p:nvSpPr>
        <p:spPr>
          <a:xfrm>
            <a:off x="10378440" y="2980944"/>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147 stops</a:t>
            </a:r>
            <a:endParaRPr lang="en-US" sz="1050" dirty="0"/>
          </a:p>
        </p:txBody>
      </p:sp>
      <p:sp>
        <p:nvSpPr>
          <p:cNvPr id="52" name="Shape 50"/>
          <p:cNvSpPr/>
          <p:nvPr/>
        </p:nvSpPr>
        <p:spPr>
          <a:xfrm>
            <a:off x="502920" y="3575304"/>
            <a:ext cx="11183112" cy="731520"/>
          </a:xfrm>
          <a:prstGeom prst="roundRect">
            <a:avLst>
              <a:gd name="adj" fmla="val 11250"/>
            </a:avLst>
          </a:prstGeom>
          <a:solidFill>
            <a:srgbClr val="FFFFFF"/>
          </a:solidFill>
          <a:ln w="12700">
            <a:solidFill>
              <a:srgbClr val="D8DDE9"/>
            </a:solidFill>
            <a:prstDash val="solid"/>
          </a:ln>
        </p:spPr>
      </p:sp>
      <p:sp>
        <p:nvSpPr>
          <p:cNvPr id="53" name="Shape 51"/>
          <p:cNvSpPr/>
          <p:nvPr/>
        </p:nvSpPr>
        <p:spPr>
          <a:xfrm>
            <a:off x="740664" y="3739896"/>
            <a:ext cx="786384" cy="402336"/>
          </a:xfrm>
          <a:prstGeom prst="roundRect">
            <a:avLst>
              <a:gd name="adj" fmla="val 15909"/>
            </a:avLst>
          </a:prstGeom>
          <a:solidFill>
            <a:srgbClr val="FFFFFF"/>
          </a:solidFill>
          <a:ln w="15875">
            <a:solidFill>
              <a:srgbClr val="F0245E"/>
            </a:solidFill>
            <a:prstDash val="solid"/>
          </a:ln>
        </p:spPr>
      </p:sp>
      <p:sp>
        <p:nvSpPr>
          <p:cNvPr id="54" name="Text 52"/>
          <p:cNvSpPr/>
          <p:nvPr/>
        </p:nvSpPr>
        <p:spPr>
          <a:xfrm>
            <a:off x="740664" y="3739896"/>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5</a:t>
            </a:r>
            <a:endParaRPr lang="en-US" sz="1500" dirty="0"/>
          </a:p>
        </p:txBody>
      </p:sp>
      <p:sp>
        <p:nvSpPr>
          <p:cNvPr id="55" name="Text 53"/>
          <p:cNvSpPr/>
          <p:nvPr/>
        </p:nvSpPr>
        <p:spPr>
          <a:xfrm>
            <a:off x="1655064" y="3648456"/>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Pasir Ris Int ⇄ Bt Merah Int</a:t>
            </a:r>
            <a:endParaRPr lang="en-US" sz="1050" dirty="0"/>
          </a:p>
        </p:txBody>
      </p:sp>
      <p:sp>
        <p:nvSpPr>
          <p:cNvPr id="56" name="Text 54"/>
          <p:cNvSpPr/>
          <p:nvPr/>
        </p:nvSpPr>
        <p:spPr>
          <a:xfrm>
            <a:off x="1655064" y="3941064"/>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Seniors</a:t>
            </a:r>
            <a:endParaRPr lang="en-US" sz="1250" dirty="0"/>
          </a:p>
        </p:txBody>
      </p:sp>
      <p:sp>
        <p:nvSpPr>
          <p:cNvPr id="57" name="Text 55"/>
          <p:cNvSpPr/>
          <p:nvPr/>
        </p:nvSpPr>
        <p:spPr>
          <a:xfrm>
            <a:off x="3886200" y="3941064"/>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29 places · 30% of the package</a:t>
            </a:r>
            <a:endParaRPr lang="en-US" sz="1000" dirty="0"/>
          </a:p>
        </p:txBody>
      </p:sp>
      <p:sp>
        <p:nvSpPr>
          <p:cNvPr id="58" name="Shape 56"/>
          <p:cNvSpPr/>
          <p:nvPr/>
        </p:nvSpPr>
        <p:spPr>
          <a:xfrm>
            <a:off x="6858000" y="3852730"/>
            <a:ext cx="384048" cy="234638"/>
          </a:xfrm>
          <a:prstGeom prst="rect">
            <a:avLst/>
          </a:prstGeom>
          <a:solidFill>
            <a:srgbClr val="1B2D8A"/>
          </a:solidFill>
          <a:ln/>
        </p:spPr>
      </p:sp>
      <p:sp>
        <p:nvSpPr>
          <p:cNvPr id="59" name="Text 57"/>
          <p:cNvSpPr/>
          <p:nvPr/>
        </p:nvSpPr>
        <p:spPr>
          <a:xfrm>
            <a:off x="6775704"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34</a:t>
            </a:r>
            <a:endParaRPr lang="en-US" sz="800" dirty="0"/>
          </a:p>
        </p:txBody>
      </p:sp>
      <p:sp>
        <p:nvSpPr>
          <p:cNvPr id="60" name="Text 58"/>
          <p:cNvSpPr/>
          <p:nvPr/>
        </p:nvSpPr>
        <p:spPr>
          <a:xfrm>
            <a:off x="6775704"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61" name="Shape 59"/>
          <p:cNvSpPr/>
          <p:nvPr/>
        </p:nvSpPr>
        <p:spPr>
          <a:xfrm>
            <a:off x="7424928" y="3887235"/>
            <a:ext cx="384048" cy="200133"/>
          </a:xfrm>
          <a:prstGeom prst="rect">
            <a:avLst/>
          </a:prstGeom>
          <a:solidFill>
            <a:srgbClr val="F0245E"/>
          </a:solidFill>
          <a:ln/>
        </p:spPr>
      </p:sp>
      <p:sp>
        <p:nvSpPr>
          <p:cNvPr id="62" name="Text 60"/>
          <p:cNvSpPr/>
          <p:nvPr/>
        </p:nvSpPr>
        <p:spPr>
          <a:xfrm>
            <a:off x="7342632"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29</a:t>
            </a:r>
            <a:endParaRPr lang="en-US" sz="800" dirty="0"/>
          </a:p>
        </p:txBody>
      </p:sp>
      <p:sp>
        <p:nvSpPr>
          <p:cNvPr id="63" name="Text 61"/>
          <p:cNvSpPr/>
          <p:nvPr/>
        </p:nvSpPr>
        <p:spPr>
          <a:xfrm>
            <a:off x="7342632"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64" name="Shape 62"/>
          <p:cNvSpPr/>
          <p:nvPr/>
        </p:nvSpPr>
        <p:spPr>
          <a:xfrm>
            <a:off x="7991856" y="3838927"/>
            <a:ext cx="384048" cy="248441"/>
          </a:xfrm>
          <a:prstGeom prst="rect">
            <a:avLst/>
          </a:prstGeom>
          <a:solidFill>
            <a:srgbClr val="1B2D8A"/>
          </a:solidFill>
          <a:ln/>
        </p:spPr>
      </p:sp>
      <p:sp>
        <p:nvSpPr>
          <p:cNvPr id="65" name="Text 63"/>
          <p:cNvSpPr/>
          <p:nvPr/>
        </p:nvSpPr>
        <p:spPr>
          <a:xfrm>
            <a:off x="7909560"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36</a:t>
            </a:r>
            <a:endParaRPr lang="en-US" sz="800" dirty="0"/>
          </a:p>
        </p:txBody>
      </p:sp>
      <p:sp>
        <p:nvSpPr>
          <p:cNvPr id="66" name="Text 64"/>
          <p:cNvSpPr/>
          <p:nvPr/>
        </p:nvSpPr>
        <p:spPr>
          <a:xfrm>
            <a:off x="7909560"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67" name="Shape 65"/>
          <p:cNvSpPr/>
          <p:nvPr/>
        </p:nvSpPr>
        <p:spPr>
          <a:xfrm>
            <a:off x="8558784" y="3976950"/>
            <a:ext cx="384048" cy="110418"/>
          </a:xfrm>
          <a:prstGeom prst="rect">
            <a:avLst/>
          </a:prstGeom>
          <a:solidFill>
            <a:srgbClr val="1B2D8A"/>
          </a:solidFill>
          <a:ln/>
        </p:spPr>
      </p:sp>
      <p:sp>
        <p:nvSpPr>
          <p:cNvPr id="68" name="Text 66"/>
          <p:cNvSpPr/>
          <p:nvPr/>
        </p:nvSpPr>
        <p:spPr>
          <a:xfrm>
            <a:off x="8476488"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16</a:t>
            </a:r>
            <a:endParaRPr lang="en-US" sz="800" dirty="0"/>
          </a:p>
        </p:txBody>
      </p:sp>
      <p:sp>
        <p:nvSpPr>
          <p:cNvPr id="69" name="Text 67"/>
          <p:cNvSpPr/>
          <p:nvPr/>
        </p:nvSpPr>
        <p:spPr>
          <a:xfrm>
            <a:off x="8476488"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70" name="Shape 68"/>
          <p:cNvSpPr/>
          <p:nvPr/>
        </p:nvSpPr>
        <p:spPr>
          <a:xfrm>
            <a:off x="9125712" y="3921741"/>
            <a:ext cx="384048" cy="165627"/>
          </a:xfrm>
          <a:prstGeom prst="rect">
            <a:avLst/>
          </a:prstGeom>
          <a:solidFill>
            <a:srgbClr val="1B2D8A"/>
          </a:solidFill>
          <a:ln/>
        </p:spPr>
      </p:sp>
      <p:sp>
        <p:nvSpPr>
          <p:cNvPr id="71" name="Text 69"/>
          <p:cNvSpPr/>
          <p:nvPr/>
        </p:nvSpPr>
        <p:spPr>
          <a:xfrm>
            <a:off x="9043416"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24</a:t>
            </a:r>
            <a:endParaRPr lang="en-US" sz="800" dirty="0"/>
          </a:p>
        </p:txBody>
      </p:sp>
      <p:sp>
        <p:nvSpPr>
          <p:cNvPr id="72" name="Text 70"/>
          <p:cNvSpPr/>
          <p:nvPr/>
        </p:nvSpPr>
        <p:spPr>
          <a:xfrm>
            <a:off x="9043416"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73" name="Text 71"/>
          <p:cNvSpPr/>
          <p:nvPr/>
        </p:nvSpPr>
        <p:spPr>
          <a:xfrm>
            <a:off x="10378440" y="3785616"/>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120 stops</a:t>
            </a:r>
            <a:endParaRPr lang="en-US" sz="1050" dirty="0"/>
          </a:p>
        </p:txBody>
      </p:sp>
      <p:sp>
        <p:nvSpPr>
          <p:cNvPr id="74" name="Shape 72"/>
          <p:cNvSpPr/>
          <p:nvPr/>
        </p:nvSpPr>
        <p:spPr>
          <a:xfrm>
            <a:off x="502920" y="4379976"/>
            <a:ext cx="11183112" cy="731520"/>
          </a:xfrm>
          <a:prstGeom prst="roundRect">
            <a:avLst>
              <a:gd name="adj" fmla="val 11250"/>
            </a:avLst>
          </a:prstGeom>
          <a:solidFill>
            <a:srgbClr val="FFFFFF"/>
          </a:solidFill>
          <a:ln w="12700">
            <a:solidFill>
              <a:srgbClr val="D8DDE9"/>
            </a:solidFill>
            <a:prstDash val="solid"/>
          </a:ln>
        </p:spPr>
      </p:sp>
      <p:sp>
        <p:nvSpPr>
          <p:cNvPr id="75" name="Shape 73"/>
          <p:cNvSpPr/>
          <p:nvPr/>
        </p:nvSpPr>
        <p:spPr>
          <a:xfrm>
            <a:off x="740664" y="4544568"/>
            <a:ext cx="786384" cy="402336"/>
          </a:xfrm>
          <a:prstGeom prst="roundRect">
            <a:avLst>
              <a:gd name="adj" fmla="val 15909"/>
            </a:avLst>
          </a:prstGeom>
          <a:solidFill>
            <a:srgbClr val="FFFFFF"/>
          </a:solidFill>
          <a:ln w="15875">
            <a:solidFill>
              <a:srgbClr val="F0245E"/>
            </a:solidFill>
            <a:prstDash val="solid"/>
          </a:ln>
        </p:spPr>
      </p:sp>
      <p:sp>
        <p:nvSpPr>
          <p:cNvPr id="76" name="Text 74"/>
          <p:cNvSpPr/>
          <p:nvPr/>
        </p:nvSpPr>
        <p:spPr>
          <a:xfrm>
            <a:off x="740664" y="4544568"/>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76</a:t>
            </a:r>
            <a:endParaRPr lang="en-US" sz="1500" dirty="0"/>
          </a:p>
        </p:txBody>
      </p:sp>
      <p:sp>
        <p:nvSpPr>
          <p:cNvPr id="77" name="Text 75"/>
          <p:cNvSpPr/>
          <p:nvPr/>
        </p:nvSpPr>
        <p:spPr>
          <a:xfrm>
            <a:off x="1655064" y="4453128"/>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Yio Chu Kang Int ⇄ Eunos Int</a:t>
            </a:r>
            <a:endParaRPr lang="en-US" sz="1050" dirty="0"/>
          </a:p>
        </p:txBody>
      </p:sp>
      <p:sp>
        <p:nvSpPr>
          <p:cNvPr id="78" name="Text 76"/>
          <p:cNvSpPr/>
          <p:nvPr/>
        </p:nvSpPr>
        <p:spPr>
          <a:xfrm>
            <a:off x="1655064" y="4745736"/>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79" name="Text 77"/>
          <p:cNvSpPr/>
          <p:nvPr/>
        </p:nvSpPr>
        <p:spPr>
          <a:xfrm>
            <a:off x="3886200" y="4745736"/>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27 places · 29% of the package</a:t>
            </a:r>
            <a:endParaRPr lang="en-US" sz="1000" dirty="0"/>
          </a:p>
        </p:txBody>
      </p:sp>
      <p:sp>
        <p:nvSpPr>
          <p:cNvPr id="80" name="Shape 78"/>
          <p:cNvSpPr/>
          <p:nvPr/>
        </p:nvSpPr>
        <p:spPr>
          <a:xfrm>
            <a:off x="6858000" y="4733314"/>
            <a:ext cx="384048" cy="158726"/>
          </a:xfrm>
          <a:prstGeom prst="rect">
            <a:avLst/>
          </a:prstGeom>
          <a:solidFill>
            <a:srgbClr val="1B2D8A"/>
          </a:solidFill>
          <a:ln/>
        </p:spPr>
      </p:sp>
      <p:sp>
        <p:nvSpPr>
          <p:cNvPr id="81" name="Text 79"/>
          <p:cNvSpPr/>
          <p:nvPr/>
        </p:nvSpPr>
        <p:spPr>
          <a:xfrm>
            <a:off x="6775704"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23</a:t>
            </a:r>
            <a:endParaRPr lang="en-US" sz="800" dirty="0"/>
          </a:p>
        </p:txBody>
      </p:sp>
      <p:sp>
        <p:nvSpPr>
          <p:cNvPr id="82" name="Text 80"/>
          <p:cNvSpPr/>
          <p:nvPr/>
        </p:nvSpPr>
        <p:spPr>
          <a:xfrm>
            <a:off x="6775704"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83" name="Shape 81"/>
          <p:cNvSpPr/>
          <p:nvPr/>
        </p:nvSpPr>
        <p:spPr>
          <a:xfrm>
            <a:off x="7424928" y="4760918"/>
            <a:ext cx="384048" cy="131122"/>
          </a:xfrm>
          <a:prstGeom prst="rect">
            <a:avLst/>
          </a:prstGeom>
          <a:solidFill>
            <a:srgbClr val="1B2D8A"/>
          </a:solidFill>
          <a:ln/>
        </p:spPr>
      </p:sp>
      <p:sp>
        <p:nvSpPr>
          <p:cNvPr id="84" name="Text 82"/>
          <p:cNvSpPr/>
          <p:nvPr/>
        </p:nvSpPr>
        <p:spPr>
          <a:xfrm>
            <a:off x="7342632"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19</a:t>
            </a:r>
            <a:endParaRPr lang="en-US" sz="800" dirty="0"/>
          </a:p>
        </p:txBody>
      </p:sp>
      <p:sp>
        <p:nvSpPr>
          <p:cNvPr id="85" name="Text 83"/>
          <p:cNvSpPr/>
          <p:nvPr/>
        </p:nvSpPr>
        <p:spPr>
          <a:xfrm>
            <a:off x="7342632"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86" name="Shape 84"/>
          <p:cNvSpPr/>
          <p:nvPr/>
        </p:nvSpPr>
        <p:spPr>
          <a:xfrm>
            <a:off x="7991856" y="4788523"/>
            <a:ext cx="384048" cy="103517"/>
          </a:xfrm>
          <a:prstGeom prst="rect">
            <a:avLst/>
          </a:prstGeom>
          <a:solidFill>
            <a:srgbClr val="1B2D8A"/>
          </a:solidFill>
          <a:ln/>
        </p:spPr>
      </p:sp>
      <p:sp>
        <p:nvSpPr>
          <p:cNvPr id="87" name="Text 85"/>
          <p:cNvSpPr/>
          <p:nvPr/>
        </p:nvSpPr>
        <p:spPr>
          <a:xfrm>
            <a:off x="7909560"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15</a:t>
            </a:r>
            <a:endParaRPr lang="en-US" sz="800" dirty="0"/>
          </a:p>
        </p:txBody>
      </p:sp>
      <p:sp>
        <p:nvSpPr>
          <p:cNvPr id="88" name="Text 86"/>
          <p:cNvSpPr/>
          <p:nvPr/>
        </p:nvSpPr>
        <p:spPr>
          <a:xfrm>
            <a:off x="7909560"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89" name="Shape 87"/>
          <p:cNvSpPr/>
          <p:nvPr/>
        </p:nvSpPr>
        <p:spPr>
          <a:xfrm>
            <a:off x="8558784" y="4774721"/>
            <a:ext cx="384048" cy="117319"/>
          </a:xfrm>
          <a:prstGeom prst="rect">
            <a:avLst/>
          </a:prstGeom>
          <a:solidFill>
            <a:srgbClr val="1B2D8A"/>
          </a:solidFill>
          <a:ln/>
        </p:spPr>
      </p:sp>
      <p:sp>
        <p:nvSpPr>
          <p:cNvPr id="90" name="Text 88"/>
          <p:cNvSpPr/>
          <p:nvPr/>
        </p:nvSpPr>
        <p:spPr>
          <a:xfrm>
            <a:off x="8476488"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17</a:t>
            </a:r>
            <a:endParaRPr lang="en-US" sz="800" dirty="0"/>
          </a:p>
        </p:txBody>
      </p:sp>
      <p:sp>
        <p:nvSpPr>
          <p:cNvPr id="91" name="Text 89"/>
          <p:cNvSpPr/>
          <p:nvPr/>
        </p:nvSpPr>
        <p:spPr>
          <a:xfrm>
            <a:off x="8476488"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92" name="Shape 90"/>
          <p:cNvSpPr/>
          <p:nvPr/>
        </p:nvSpPr>
        <p:spPr>
          <a:xfrm>
            <a:off x="9125712" y="4705709"/>
            <a:ext cx="384048" cy="186331"/>
          </a:xfrm>
          <a:prstGeom prst="rect">
            <a:avLst/>
          </a:prstGeom>
          <a:solidFill>
            <a:srgbClr val="F0245E"/>
          </a:solidFill>
          <a:ln/>
        </p:spPr>
      </p:sp>
      <p:sp>
        <p:nvSpPr>
          <p:cNvPr id="93" name="Text 91"/>
          <p:cNvSpPr/>
          <p:nvPr/>
        </p:nvSpPr>
        <p:spPr>
          <a:xfrm>
            <a:off x="9043416"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27</a:t>
            </a:r>
            <a:endParaRPr lang="en-US" sz="800" dirty="0"/>
          </a:p>
        </p:txBody>
      </p:sp>
      <p:sp>
        <p:nvSpPr>
          <p:cNvPr id="94" name="Text 92"/>
          <p:cNvSpPr/>
          <p:nvPr/>
        </p:nvSpPr>
        <p:spPr>
          <a:xfrm>
            <a:off x="9043416"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95" name="Text 93"/>
          <p:cNvSpPr/>
          <p:nvPr/>
        </p:nvSpPr>
        <p:spPr>
          <a:xfrm>
            <a:off x="10378440" y="4590288"/>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82 stops</a:t>
            </a:r>
            <a:endParaRPr lang="en-US" sz="1050" dirty="0"/>
          </a:p>
        </p:txBody>
      </p:sp>
      <p:sp>
        <p:nvSpPr>
          <p:cNvPr id="96" name="Shape 94"/>
          <p:cNvSpPr/>
          <p:nvPr/>
        </p:nvSpPr>
        <p:spPr>
          <a:xfrm>
            <a:off x="502920" y="5184648"/>
            <a:ext cx="11183112" cy="731520"/>
          </a:xfrm>
          <a:prstGeom prst="roundRect">
            <a:avLst>
              <a:gd name="adj" fmla="val 11250"/>
            </a:avLst>
          </a:prstGeom>
          <a:solidFill>
            <a:srgbClr val="FFFFFF"/>
          </a:solidFill>
          <a:ln w="12700">
            <a:solidFill>
              <a:srgbClr val="D8DDE9"/>
            </a:solidFill>
            <a:prstDash val="solid"/>
          </a:ln>
        </p:spPr>
      </p:sp>
      <p:sp>
        <p:nvSpPr>
          <p:cNvPr id="97" name="Shape 95"/>
          <p:cNvSpPr/>
          <p:nvPr/>
        </p:nvSpPr>
        <p:spPr>
          <a:xfrm>
            <a:off x="740664" y="5349240"/>
            <a:ext cx="786384" cy="402336"/>
          </a:xfrm>
          <a:prstGeom prst="roundRect">
            <a:avLst>
              <a:gd name="adj" fmla="val 15909"/>
            </a:avLst>
          </a:prstGeom>
          <a:solidFill>
            <a:srgbClr val="FFFFFF"/>
          </a:solidFill>
          <a:ln w="15875">
            <a:solidFill>
              <a:srgbClr val="F0245E"/>
            </a:solidFill>
            <a:prstDash val="solid"/>
          </a:ln>
        </p:spPr>
      </p:sp>
      <p:sp>
        <p:nvSpPr>
          <p:cNvPr id="98" name="Text 96"/>
          <p:cNvSpPr/>
          <p:nvPr/>
        </p:nvSpPr>
        <p:spPr>
          <a:xfrm>
            <a:off x="740664" y="5349240"/>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31</a:t>
            </a:r>
            <a:endParaRPr lang="en-US" sz="1500" dirty="0"/>
          </a:p>
        </p:txBody>
      </p:sp>
      <p:sp>
        <p:nvSpPr>
          <p:cNvPr id="99" name="Text 97"/>
          <p:cNvSpPr/>
          <p:nvPr/>
        </p:nvSpPr>
        <p:spPr>
          <a:xfrm>
            <a:off x="1655064" y="5257800"/>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Tampines Int ⇄ Toa Payoh Int</a:t>
            </a:r>
            <a:endParaRPr lang="en-US" sz="1050" dirty="0"/>
          </a:p>
        </p:txBody>
      </p:sp>
      <p:sp>
        <p:nvSpPr>
          <p:cNvPr id="100" name="Text 98"/>
          <p:cNvSpPr/>
          <p:nvPr/>
        </p:nvSpPr>
        <p:spPr>
          <a:xfrm>
            <a:off x="1655064" y="5550408"/>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Youth</a:t>
            </a:r>
            <a:endParaRPr lang="en-US" sz="1250" dirty="0"/>
          </a:p>
        </p:txBody>
      </p:sp>
      <p:sp>
        <p:nvSpPr>
          <p:cNvPr id="101" name="Text 99"/>
          <p:cNvSpPr/>
          <p:nvPr/>
        </p:nvSpPr>
        <p:spPr>
          <a:xfrm>
            <a:off x="3886200" y="5550408"/>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33 places · 35% of the package</a:t>
            </a:r>
            <a:endParaRPr lang="en-US" sz="1000" dirty="0"/>
          </a:p>
        </p:txBody>
      </p:sp>
      <p:sp>
        <p:nvSpPr>
          <p:cNvPr id="102" name="Shape 100"/>
          <p:cNvSpPr/>
          <p:nvPr/>
        </p:nvSpPr>
        <p:spPr>
          <a:xfrm>
            <a:off x="6858000" y="5531085"/>
            <a:ext cx="384048" cy="165627"/>
          </a:xfrm>
          <a:prstGeom prst="rect">
            <a:avLst/>
          </a:prstGeom>
          <a:solidFill>
            <a:srgbClr val="1B2D8A"/>
          </a:solidFill>
          <a:ln/>
        </p:spPr>
      </p:sp>
      <p:sp>
        <p:nvSpPr>
          <p:cNvPr id="103" name="Text 101"/>
          <p:cNvSpPr/>
          <p:nvPr/>
        </p:nvSpPr>
        <p:spPr>
          <a:xfrm>
            <a:off x="6775704"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24</a:t>
            </a:r>
            <a:endParaRPr lang="en-US" sz="800" dirty="0"/>
          </a:p>
        </p:txBody>
      </p:sp>
      <p:sp>
        <p:nvSpPr>
          <p:cNvPr id="104" name="Text 102"/>
          <p:cNvSpPr/>
          <p:nvPr/>
        </p:nvSpPr>
        <p:spPr>
          <a:xfrm>
            <a:off x="6775704"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05" name="Shape 103"/>
          <p:cNvSpPr/>
          <p:nvPr/>
        </p:nvSpPr>
        <p:spPr>
          <a:xfrm>
            <a:off x="7424928" y="5524184"/>
            <a:ext cx="384048" cy="172528"/>
          </a:xfrm>
          <a:prstGeom prst="rect">
            <a:avLst/>
          </a:prstGeom>
          <a:solidFill>
            <a:srgbClr val="1B2D8A"/>
          </a:solidFill>
          <a:ln/>
        </p:spPr>
      </p:sp>
      <p:sp>
        <p:nvSpPr>
          <p:cNvPr id="106" name="Text 104"/>
          <p:cNvSpPr/>
          <p:nvPr/>
        </p:nvSpPr>
        <p:spPr>
          <a:xfrm>
            <a:off x="7342632"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25</a:t>
            </a:r>
            <a:endParaRPr lang="en-US" sz="800" dirty="0"/>
          </a:p>
        </p:txBody>
      </p:sp>
      <p:sp>
        <p:nvSpPr>
          <p:cNvPr id="107" name="Text 105"/>
          <p:cNvSpPr/>
          <p:nvPr/>
        </p:nvSpPr>
        <p:spPr>
          <a:xfrm>
            <a:off x="7342632"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108" name="Shape 106"/>
          <p:cNvSpPr/>
          <p:nvPr/>
        </p:nvSpPr>
        <p:spPr>
          <a:xfrm>
            <a:off x="7991856" y="5531085"/>
            <a:ext cx="384048" cy="165627"/>
          </a:xfrm>
          <a:prstGeom prst="rect">
            <a:avLst/>
          </a:prstGeom>
          <a:solidFill>
            <a:srgbClr val="1B2D8A"/>
          </a:solidFill>
          <a:ln/>
        </p:spPr>
      </p:sp>
      <p:sp>
        <p:nvSpPr>
          <p:cNvPr id="109" name="Text 107"/>
          <p:cNvSpPr/>
          <p:nvPr/>
        </p:nvSpPr>
        <p:spPr>
          <a:xfrm>
            <a:off x="7909560"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24</a:t>
            </a:r>
            <a:endParaRPr lang="en-US" sz="800" dirty="0"/>
          </a:p>
        </p:txBody>
      </p:sp>
      <p:sp>
        <p:nvSpPr>
          <p:cNvPr id="110" name="Text 108"/>
          <p:cNvSpPr/>
          <p:nvPr/>
        </p:nvSpPr>
        <p:spPr>
          <a:xfrm>
            <a:off x="7909560"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111" name="Shape 109"/>
          <p:cNvSpPr/>
          <p:nvPr/>
        </p:nvSpPr>
        <p:spPr>
          <a:xfrm>
            <a:off x="8558784" y="5468975"/>
            <a:ext cx="384048" cy="227737"/>
          </a:xfrm>
          <a:prstGeom prst="rect">
            <a:avLst/>
          </a:prstGeom>
          <a:solidFill>
            <a:srgbClr val="F0245E"/>
          </a:solidFill>
          <a:ln/>
        </p:spPr>
      </p:sp>
      <p:sp>
        <p:nvSpPr>
          <p:cNvPr id="112" name="Text 110"/>
          <p:cNvSpPr/>
          <p:nvPr/>
        </p:nvSpPr>
        <p:spPr>
          <a:xfrm>
            <a:off x="8476488"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33</a:t>
            </a:r>
            <a:endParaRPr lang="en-US" sz="800" dirty="0"/>
          </a:p>
        </p:txBody>
      </p:sp>
      <p:sp>
        <p:nvSpPr>
          <p:cNvPr id="113" name="Text 111"/>
          <p:cNvSpPr/>
          <p:nvPr/>
        </p:nvSpPr>
        <p:spPr>
          <a:xfrm>
            <a:off x="8476488"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114" name="Shape 112"/>
          <p:cNvSpPr/>
          <p:nvPr/>
        </p:nvSpPr>
        <p:spPr>
          <a:xfrm>
            <a:off x="9125712" y="5537986"/>
            <a:ext cx="384048" cy="158726"/>
          </a:xfrm>
          <a:prstGeom prst="rect">
            <a:avLst/>
          </a:prstGeom>
          <a:solidFill>
            <a:srgbClr val="1B2D8A"/>
          </a:solidFill>
          <a:ln/>
        </p:spPr>
      </p:sp>
      <p:sp>
        <p:nvSpPr>
          <p:cNvPr id="115" name="Text 113"/>
          <p:cNvSpPr/>
          <p:nvPr/>
        </p:nvSpPr>
        <p:spPr>
          <a:xfrm>
            <a:off x="9043416"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23</a:t>
            </a:r>
            <a:endParaRPr lang="en-US" sz="800" dirty="0"/>
          </a:p>
        </p:txBody>
      </p:sp>
      <p:sp>
        <p:nvSpPr>
          <p:cNvPr id="116" name="Text 114"/>
          <p:cNvSpPr/>
          <p:nvPr/>
        </p:nvSpPr>
        <p:spPr>
          <a:xfrm>
            <a:off x="9043416"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117" name="Text 115"/>
          <p:cNvSpPr/>
          <p:nvPr/>
        </p:nvSpPr>
        <p:spPr>
          <a:xfrm>
            <a:off x="10378440" y="5394960"/>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92 stops</a:t>
            </a:r>
            <a:endParaRPr lang="en-US" sz="1050" dirty="0"/>
          </a:p>
        </p:txBody>
      </p:sp>
      <p:sp>
        <p:nvSpPr>
          <p:cNvPr id="118" name="Text 116"/>
          <p:cNvSpPr/>
          <p:nvPr/>
        </p:nvSpPr>
        <p:spPr>
          <a:xfrm>
            <a:off x="502920" y="6035040"/>
            <a:ext cx="90525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Bars are place counts within 400 m of that route’s stops, on one scale across all five. Pink marks the audience that bus is briefed for.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LIMITS</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we are not claiming</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Where this plan is weak, on the same slide that says it is strong.</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13</a:t>
            </a:r>
            <a:endParaRPr lang="en-US" sz="1000" dirty="0"/>
          </a:p>
        </p:txBody>
      </p:sp>
      <p:sp>
        <p:nvSpPr>
          <p:cNvPr id="8" name="Shape 6"/>
          <p:cNvSpPr/>
          <p:nvPr/>
        </p:nvSpPr>
        <p:spPr>
          <a:xfrm>
            <a:off x="502920" y="1920240"/>
            <a:ext cx="11183112" cy="786384"/>
          </a:xfrm>
          <a:prstGeom prst="roundRect">
            <a:avLst>
              <a:gd name="adj" fmla="val 10465"/>
            </a:avLst>
          </a:prstGeom>
          <a:solidFill>
            <a:srgbClr val="FDF0F4"/>
          </a:solidFill>
          <a:ln w="12700">
            <a:solidFill>
              <a:srgbClr val="F0245E"/>
            </a:solidFill>
            <a:prstDash val="solid"/>
          </a:ln>
        </p:spPr>
      </p:sp>
      <p:sp>
        <p:nvSpPr>
          <p:cNvPr id="9" name="Text 7"/>
          <p:cNvSpPr/>
          <p:nvPr/>
        </p:nvSpPr>
        <p:spPr>
          <a:xfrm>
            <a:off x="795528" y="2011680"/>
            <a:ext cx="1051560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DBP L2 reaches none of the North Region</a:t>
            </a:r>
            <a:endParaRPr lang="en-US" sz="1250" dirty="0"/>
          </a:p>
        </p:txBody>
      </p:sp>
      <p:sp>
        <p:nvSpPr>
          <p:cNvPr id="10" name="Text 8"/>
          <p:cNvSpPr/>
          <p:nvPr/>
        </p:nvSpPr>
        <p:spPr>
          <a:xfrm>
            <a:off x="795528" y="2304288"/>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Zero, not "a little". Neither 117 nor 85 — the only two routes in the twenty-route pool that go north — is in this package, so Woodlands, Sembawang and Yishun are not covered at all. For a national service this is the reason DBP C1 was recommended over it.</a:t>
            </a:r>
            <a:endParaRPr lang="en-US" sz="1050" dirty="0"/>
          </a:p>
        </p:txBody>
      </p:sp>
      <p:sp>
        <p:nvSpPr>
          <p:cNvPr id="11" name="Shape 9"/>
          <p:cNvSpPr/>
          <p:nvPr/>
        </p:nvSpPr>
        <p:spPr>
          <a:xfrm>
            <a:off x="502920" y="2779776"/>
            <a:ext cx="11183112" cy="786384"/>
          </a:xfrm>
          <a:prstGeom prst="roundRect">
            <a:avLst>
              <a:gd name="adj" fmla="val 10465"/>
            </a:avLst>
          </a:prstGeom>
          <a:solidFill>
            <a:srgbClr val="FFFFFF"/>
          </a:solidFill>
          <a:ln w="12700">
            <a:solidFill>
              <a:srgbClr val="D8DDE9"/>
            </a:solidFill>
            <a:prstDash val="solid"/>
          </a:ln>
        </p:spPr>
      </p:sp>
      <p:sp>
        <p:nvSpPr>
          <p:cNvPr id="12" name="Text 10"/>
          <p:cNvSpPr/>
          <p:nvPr/>
        </p:nvSpPr>
        <p:spPr>
          <a:xfrm>
            <a:off x="795528" y="2871216"/>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28 of its stops are duplicates</a:t>
            </a:r>
            <a:endParaRPr lang="en-US" sz="1250" dirty="0"/>
          </a:p>
        </p:txBody>
      </p:sp>
      <p:sp>
        <p:nvSpPr>
          <p:cNvPr id="13" name="Text 11"/>
          <p:cNvSpPr/>
          <p:nvPr/>
        </p:nvSpPr>
        <p:spPr>
          <a:xfrm>
            <a:off x="795528" y="3163824"/>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Six per cent of the inventory: stops served by more than one of the five routes, so the same roadside is paid for twice. DBP C1 wastes five. The routes overlap through the Toa Payoh–Bukit Merah spine.</a:t>
            </a:r>
            <a:endParaRPr lang="en-US" sz="1050" dirty="0"/>
          </a:p>
        </p:txBody>
      </p:sp>
      <p:sp>
        <p:nvSpPr>
          <p:cNvPr id="14" name="Shape 12"/>
          <p:cNvSpPr/>
          <p:nvPr/>
        </p:nvSpPr>
        <p:spPr>
          <a:xfrm>
            <a:off x="502920" y="3639312"/>
            <a:ext cx="11183112" cy="786384"/>
          </a:xfrm>
          <a:prstGeom prst="roundRect">
            <a:avLst>
              <a:gd name="adj" fmla="val 10465"/>
            </a:avLst>
          </a:prstGeom>
          <a:solidFill>
            <a:srgbClr val="FFFFFF"/>
          </a:solidFill>
          <a:ln w="12700">
            <a:solidFill>
              <a:srgbClr val="D8DDE9"/>
            </a:solidFill>
            <a:prstDash val="solid"/>
          </a:ln>
        </p:spPr>
      </p:sp>
      <p:sp>
        <p:nvSpPr>
          <p:cNvPr id="15" name="Text 13"/>
          <p:cNvSpPr/>
          <p:nvPr/>
        </p:nvSpPr>
        <p:spPr>
          <a:xfrm>
            <a:off x="795528" y="3730752"/>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Weakest of the contenders on working adults</a:t>
            </a:r>
            <a:endParaRPr lang="en-US" sz="1250" dirty="0"/>
          </a:p>
        </p:txBody>
      </p:sp>
      <p:sp>
        <p:nvSpPr>
          <p:cNvPr id="16" name="Text 14"/>
          <p:cNvSpPr/>
          <p:nvPr/>
        </p:nvSpPr>
        <p:spPr>
          <a:xfrm>
            <a:off x="795528" y="4023360"/>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Index 86.8 against DBP C1’s 92.9. It is the largest package by stops, but those stops sit in residential rather than employment catchments — 13 interchanges to DBP C1’s 21.</a:t>
            </a:r>
            <a:endParaRPr lang="en-US" sz="1050" dirty="0"/>
          </a:p>
        </p:txBody>
      </p:sp>
      <p:sp>
        <p:nvSpPr>
          <p:cNvPr id="17" name="Shape 15"/>
          <p:cNvSpPr/>
          <p:nvPr/>
        </p:nvSpPr>
        <p:spPr>
          <a:xfrm>
            <a:off x="502920" y="4498848"/>
            <a:ext cx="11183112" cy="786384"/>
          </a:xfrm>
          <a:prstGeom prst="roundRect">
            <a:avLst>
              <a:gd name="adj" fmla="val 10465"/>
            </a:avLst>
          </a:prstGeom>
          <a:solidFill>
            <a:srgbClr val="FFFFFF"/>
          </a:solidFill>
          <a:ln w="12700">
            <a:solidFill>
              <a:srgbClr val="D8DDE9"/>
            </a:solidFill>
            <a:prstDash val="solid"/>
          </a:ln>
        </p:spPr>
      </p:sp>
      <p:sp>
        <p:nvSpPr>
          <p:cNvPr id="18" name="Text 16"/>
          <p:cNvSpPr/>
          <p:nvPr/>
        </p:nvSpPr>
        <p:spPr>
          <a:xfrm>
            <a:off x="795528" y="4590288"/>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Boardings are not impressions</a:t>
            </a:r>
            <a:endParaRPr lang="en-US" sz="1250" dirty="0"/>
          </a:p>
        </p:txBody>
      </p:sp>
      <p:sp>
        <p:nvSpPr>
          <p:cNvPr id="19" name="Text 17"/>
          <p:cNvSpPr/>
          <p:nvPr/>
        </p:nvSpPr>
        <p:spPr>
          <a:xfrm>
            <a:off x="795528" y="4882896"/>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The volume data counts people boarding at a stop. A bus ad is seen along the whole corridor by people who never board. It is a sound basis for comparing sets — it is not a reach guarantee, and we will not quote it as one.</a:t>
            </a:r>
            <a:endParaRPr lang="en-US" sz="1050" dirty="0"/>
          </a:p>
        </p:txBody>
      </p:sp>
      <p:sp>
        <p:nvSpPr>
          <p:cNvPr id="20" name="Shape 18"/>
          <p:cNvSpPr/>
          <p:nvPr/>
        </p:nvSpPr>
        <p:spPr>
          <a:xfrm>
            <a:off x="502920" y="5358384"/>
            <a:ext cx="11183112" cy="786384"/>
          </a:xfrm>
          <a:prstGeom prst="roundRect">
            <a:avLst>
              <a:gd name="adj" fmla="val 10465"/>
            </a:avLst>
          </a:prstGeom>
          <a:solidFill>
            <a:srgbClr val="FFFFFF"/>
          </a:solidFill>
          <a:ln w="12700">
            <a:solidFill>
              <a:srgbClr val="D8DDE9"/>
            </a:solidFill>
            <a:prstDash val="solid"/>
          </a:ln>
        </p:spPr>
      </p:sp>
      <p:sp>
        <p:nvSpPr>
          <p:cNvPr id="21" name="Text 19"/>
          <p:cNvSpPr/>
          <p:nvPr/>
        </p:nvSpPr>
        <p:spPr>
          <a:xfrm>
            <a:off x="795528" y="5449824"/>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Dayparts are assumptions, not measurements</a:t>
            </a:r>
            <a:endParaRPr lang="en-US" sz="1250" dirty="0"/>
          </a:p>
        </p:txBody>
      </p:sp>
      <p:sp>
        <p:nvSpPr>
          <p:cNvPr id="22" name="Text 20"/>
          <p:cNvSpPr/>
          <p:nvPr/>
        </p:nvSpPr>
        <p:spPr>
          <a:xfrm>
            <a:off x="795528" y="5742432"/>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Set from institution operating hours, not from an hourly boarding curve, which this dataset does not carry.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8321040" y="2103120"/>
            <a:ext cx="6035040" cy="6035040"/>
          </a:xfrm>
          <a:prstGeom prst="roundRect">
            <a:avLst>
              <a:gd name="adj" fmla="val 50000"/>
            </a:avLst>
          </a:prstGeom>
          <a:solidFill>
            <a:srgbClr val="111A3E"/>
          </a:solidFill>
          <a:ln/>
        </p:spPr>
      </p:sp>
      <p:sp>
        <p:nvSpPr>
          <p:cNvPr id="3" name="Shape 1"/>
          <p:cNvSpPr/>
          <p:nvPr/>
        </p:nvSpPr>
        <p:spPr>
          <a:xfrm>
            <a:off x="502920" y="502920"/>
            <a:ext cx="1541678" cy="310896"/>
          </a:xfrm>
          <a:prstGeom prst="roundRect">
            <a:avLst>
              <a:gd name="adj" fmla="val 50000"/>
            </a:avLst>
          </a:prstGeom>
          <a:solidFill>
            <a:srgbClr val="F0245E"/>
          </a:solidFill>
          <a:ln/>
        </p:spPr>
      </p:sp>
      <p:sp>
        <p:nvSpPr>
          <p:cNvPr id="4" name="Text 2"/>
          <p:cNvSpPr/>
          <p:nvPr/>
        </p:nvSpPr>
        <p:spPr>
          <a:xfrm>
            <a:off x="502920" y="502920"/>
            <a:ext cx="1541678"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L2 · NEXT</a:t>
            </a:r>
            <a:endParaRPr lang="en-US" sz="950" dirty="0"/>
          </a:p>
        </p:txBody>
      </p:sp>
      <p:sp>
        <p:nvSpPr>
          <p:cNvPr id="5" name="Text 3"/>
          <p:cNvSpPr/>
          <p:nvPr/>
        </p:nvSpPr>
        <p:spPr>
          <a:xfrm>
            <a:off x="484632" y="1005840"/>
            <a:ext cx="868680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alternative: DBP L2</a:t>
            </a:r>
            <a:endParaRPr lang="en-US" sz="4000" dirty="0"/>
          </a:p>
        </p:txBody>
      </p:sp>
      <p:sp>
        <p:nvSpPr>
          <p:cNvPr id="6" name="Shape 4"/>
          <p:cNvSpPr/>
          <p:nvPr/>
        </p:nvSpPr>
        <p:spPr>
          <a:xfrm>
            <a:off x="502920" y="1965960"/>
            <a:ext cx="841248" cy="502920"/>
          </a:xfrm>
          <a:prstGeom prst="roundRect">
            <a:avLst>
              <a:gd name="adj" fmla="val 12727"/>
            </a:avLst>
          </a:prstGeom>
          <a:solidFill>
            <a:srgbClr val="FFFFFF"/>
          </a:solidFill>
          <a:ln w="15875">
            <a:solidFill>
              <a:srgbClr val="FFFFFF"/>
            </a:solidFill>
            <a:prstDash val="solid"/>
          </a:ln>
        </p:spPr>
      </p:sp>
      <p:sp>
        <p:nvSpPr>
          <p:cNvPr id="7" name="Text 5"/>
          <p:cNvSpPr/>
          <p:nvPr/>
        </p:nvSpPr>
        <p:spPr>
          <a:xfrm>
            <a:off x="502920"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972</a:t>
            </a:r>
            <a:endParaRPr lang="en-US" sz="1900" dirty="0"/>
          </a:p>
        </p:txBody>
      </p:sp>
      <p:sp>
        <p:nvSpPr>
          <p:cNvPr id="8" name="Shape 6"/>
          <p:cNvSpPr/>
          <p:nvPr/>
        </p:nvSpPr>
        <p:spPr>
          <a:xfrm>
            <a:off x="1472184" y="1965960"/>
            <a:ext cx="841248" cy="502920"/>
          </a:xfrm>
          <a:prstGeom prst="roundRect">
            <a:avLst>
              <a:gd name="adj" fmla="val 12727"/>
            </a:avLst>
          </a:prstGeom>
          <a:solidFill>
            <a:srgbClr val="FFFFFF"/>
          </a:solidFill>
          <a:ln w="15875">
            <a:solidFill>
              <a:srgbClr val="FFFFFF"/>
            </a:solidFill>
            <a:prstDash val="solid"/>
          </a:ln>
        </p:spPr>
      </p:sp>
      <p:sp>
        <p:nvSpPr>
          <p:cNvPr id="9" name="Text 7"/>
          <p:cNvSpPr/>
          <p:nvPr/>
        </p:nvSpPr>
        <p:spPr>
          <a:xfrm>
            <a:off x="1472184"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143</a:t>
            </a:r>
            <a:endParaRPr lang="en-US" sz="1900" dirty="0"/>
          </a:p>
        </p:txBody>
      </p:sp>
      <p:sp>
        <p:nvSpPr>
          <p:cNvPr id="10" name="Shape 8"/>
          <p:cNvSpPr/>
          <p:nvPr/>
        </p:nvSpPr>
        <p:spPr>
          <a:xfrm>
            <a:off x="2441448" y="1965960"/>
            <a:ext cx="841248" cy="502920"/>
          </a:xfrm>
          <a:prstGeom prst="roundRect">
            <a:avLst>
              <a:gd name="adj" fmla="val 12727"/>
            </a:avLst>
          </a:prstGeom>
          <a:solidFill>
            <a:srgbClr val="FFFFFF"/>
          </a:solidFill>
          <a:ln w="15875">
            <a:solidFill>
              <a:srgbClr val="FFFFFF"/>
            </a:solidFill>
            <a:prstDash val="solid"/>
          </a:ln>
        </p:spPr>
      </p:sp>
      <p:sp>
        <p:nvSpPr>
          <p:cNvPr id="11" name="Text 9"/>
          <p:cNvSpPr/>
          <p:nvPr/>
        </p:nvSpPr>
        <p:spPr>
          <a:xfrm>
            <a:off x="2441448"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5</a:t>
            </a:r>
            <a:endParaRPr lang="en-US" sz="1900" dirty="0"/>
          </a:p>
        </p:txBody>
      </p:sp>
      <p:sp>
        <p:nvSpPr>
          <p:cNvPr id="12" name="Shape 10"/>
          <p:cNvSpPr/>
          <p:nvPr/>
        </p:nvSpPr>
        <p:spPr>
          <a:xfrm>
            <a:off x="3410712" y="1965960"/>
            <a:ext cx="841248" cy="502920"/>
          </a:xfrm>
          <a:prstGeom prst="roundRect">
            <a:avLst>
              <a:gd name="adj" fmla="val 12727"/>
            </a:avLst>
          </a:prstGeom>
          <a:solidFill>
            <a:srgbClr val="FFFFFF"/>
          </a:solidFill>
          <a:ln w="15875">
            <a:solidFill>
              <a:srgbClr val="FFFFFF"/>
            </a:solidFill>
            <a:prstDash val="solid"/>
          </a:ln>
        </p:spPr>
      </p:sp>
      <p:sp>
        <p:nvSpPr>
          <p:cNvPr id="13" name="Text 11"/>
          <p:cNvSpPr/>
          <p:nvPr/>
        </p:nvSpPr>
        <p:spPr>
          <a:xfrm>
            <a:off x="3410712"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76</a:t>
            </a:r>
            <a:endParaRPr lang="en-US" sz="1900" dirty="0"/>
          </a:p>
        </p:txBody>
      </p:sp>
      <p:sp>
        <p:nvSpPr>
          <p:cNvPr id="14" name="Shape 12"/>
          <p:cNvSpPr/>
          <p:nvPr/>
        </p:nvSpPr>
        <p:spPr>
          <a:xfrm>
            <a:off x="4379976" y="1965960"/>
            <a:ext cx="841248" cy="502920"/>
          </a:xfrm>
          <a:prstGeom prst="roundRect">
            <a:avLst>
              <a:gd name="adj" fmla="val 12727"/>
            </a:avLst>
          </a:prstGeom>
          <a:solidFill>
            <a:srgbClr val="FFFFFF"/>
          </a:solidFill>
          <a:ln w="15875">
            <a:solidFill>
              <a:srgbClr val="FFFFFF"/>
            </a:solidFill>
            <a:prstDash val="solid"/>
          </a:ln>
        </p:spPr>
      </p:sp>
      <p:sp>
        <p:nvSpPr>
          <p:cNvPr id="15" name="Text 13"/>
          <p:cNvSpPr/>
          <p:nvPr/>
        </p:nvSpPr>
        <p:spPr>
          <a:xfrm>
            <a:off x="4379976"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31</a:t>
            </a:r>
            <a:endParaRPr lang="en-US" sz="1900" dirty="0"/>
          </a:p>
        </p:txBody>
      </p:sp>
      <p:sp>
        <p:nvSpPr>
          <p:cNvPr id="16" name="Shape 14"/>
          <p:cNvSpPr/>
          <p:nvPr/>
        </p:nvSpPr>
        <p:spPr>
          <a:xfrm>
            <a:off x="502920" y="2834640"/>
            <a:ext cx="402336" cy="402336"/>
          </a:xfrm>
          <a:prstGeom prst="roundRect">
            <a:avLst>
              <a:gd name="adj" fmla="val 50000"/>
            </a:avLst>
          </a:prstGeom>
          <a:solidFill>
            <a:srgbClr val="F0245E"/>
          </a:solidFill>
          <a:ln/>
        </p:spPr>
      </p:sp>
      <p:sp>
        <p:nvSpPr>
          <p:cNvPr id="17" name="Text 15"/>
          <p:cNvSpPr/>
          <p:nvPr/>
        </p:nvSpPr>
        <p:spPr>
          <a:xfrm>
            <a:off x="502920" y="28346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1069848" y="2816352"/>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Decide the trade first</a:t>
            </a:r>
            <a:endParaRPr lang="en-US" sz="1400" dirty="0"/>
          </a:p>
        </p:txBody>
      </p:sp>
      <p:sp>
        <p:nvSpPr>
          <p:cNvPr id="19" name="Text 17"/>
          <p:cNvSpPr/>
          <p:nvPr/>
        </p:nvSpPr>
        <p:spPr>
          <a:xfrm>
            <a:off x="1069848" y="3108960"/>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DBP L2 buys the East and the strongest senior delivery of the four. It cannot cover the North. If national reach is a requirement, it needs a partner.</a:t>
            </a:r>
            <a:endParaRPr lang="en-US" sz="1100" dirty="0"/>
          </a:p>
        </p:txBody>
      </p:sp>
      <p:sp>
        <p:nvSpPr>
          <p:cNvPr id="20" name="Shape 18"/>
          <p:cNvSpPr/>
          <p:nvPr/>
        </p:nvSpPr>
        <p:spPr>
          <a:xfrm>
            <a:off x="502920" y="3675888"/>
            <a:ext cx="402336" cy="402336"/>
          </a:xfrm>
          <a:prstGeom prst="roundRect">
            <a:avLst>
              <a:gd name="adj" fmla="val 50000"/>
            </a:avLst>
          </a:prstGeom>
          <a:solidFill>
            <a:srgbClr val="F0245E"/>
          </a:solidFill>
          <a:ln/>
        </p:spPr>
      </p:sp>
      <p:sp>
        <p:nvSpPr>
          <p:cNvPr id="21" name="Text 19"/>
          <p:cNvSpPr/>
          <p:nvPr/>
        </p:nvSpPr>
        <p:spPr>
          <a:xfrm>
            <a:off x="502920" y="36758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p:nvPr/>
        </p:nvSpPr>
        <p:spPr>
          <a:xfrm>
            <a:off x="1069848" y="3657600"/>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Pair it with a northern route</a:t>
            </a:r>
            <a:endParaRPr lang="en-US" sz="1400" dirty="0"/>
          </a:p>
        </p:txBody>
      </p:sp>
      <p:sp>
        <p:nvSpPr>
          <p:cNvPr id="23" name="Text 21"/>
          <p:cNvSpPr/>
          <p:nvPr/>
        </p:nvSpPr>
        <p:spPr>
          <a:xfrm>
            <a:off x="1069848" y="3950208"/>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Adding 117 or 85 is the cheapest fix — they are the only two northern routes in the pool.</a:t>
            </a:r>
            <a:endParaRPr lang="en-US" sz="1100" dirty="0"/>
          </a:p>
        </p:txBody>
      </p:sp>
      <p:sp>
        <p:nvSpPr>
          <p:cNvPr id="24" name="Shape 22"/>
          <p:cNvSpPr/>
          <p:nvPr/>
        </p:nvSpPr>
        <p:spPr>
          <a:xfrm>
            <a:off x="502920" y="4517136"/>
            <a:ext cx="402336" cy="402336"/>
          </a:xfrm>
          <a:prstGeom prst="roundRect">
            <a:avLst>
              <a:gd name="adj" fmla="val 50000"/>
            </a:avLst>
          </a:prstGeom>
          <a:solidFill>
            <a:srgbClr val="F0245E"/>
          </a:solidFill>
          <a:ln/>
        </p:spPr>
      </p:sp>
      <p:sp>
        <p:nvSpPr>
          <p:cNvPr id="25" name="Text 23"/>
          <p:cNvSpPr/>
          <p:nvPr/>
        </p:nvSpPr>
        <p:spPr>
          <a:xfrm>
            <a:off x="502920" y="45171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4"/>
          <p:cNvSpPr/>
          <p:nvPr/>
        </p:nvSpPr>
        <p:spPr>
          <a:xfrm>
            <a:off x="1069848" y="4498848"/>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Trim the duplicate spine</a:t>
            </a:r>
            <a:endParaRPr lang="en-US" sz="1400" dirty="0"/>
          </a:p>
        </p:txBody>
      </p:sp>
      <p:sp>
        <p:nvSpPr>
          <p:cNvPr id="27" name="Text 25"/>
          <p:cNvSpPr/>
          <p:nvPr/>
        </p:nvSpPr>
        <p:spPr>
          <a:xfrm>
            <a:off x="1069848" y="4791456"/>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Twenty-eight stops are double-served through Toa Payoh–Bukit Merah. Swapping one route recovers that inventory.</a:t>
            </a:r>
            <a:endParaRPr lang="en-US" sz="1100" dirty="0"/>
          </a:p>
        </p:txBody>
      </p:sp>
      <p:sp>
        <p:nvSpPr>
          <p:cNvPr id="28" name="Shape 26"/>
          <p:cNvSpPr/>
          <p:nvPr/>
        </p:nvSpPr>
        <p:spPr>
          <a:xfrm>
            <a:off x="502920" y="5358384"/>
            <a:ext cx="402336" cy="402336"/>
          </a:xfrm>
          <a:prstGeom prst="roundRect">
            <a:avLst>
              <a:gd name="adj" fmla="val 50000"/>
            </a:avLst>
          </a:prstGeom>
          <a:solidFill>
            <a:srgbClr val="F0245E"/>
          </a:solidFill>
          <a:ln/>
        </p:spPr>
      </p:sp>
      <p:sp>
        <p:nvSpPr>
          <p:cNvPr id="29" name="Text 27"/>
          <p:cNvSpPr/>
          <p:nvPr/>
        </p:nvSpPr>
        <p:spPr>
          <a:xfrm>
            <a:off x="502920" y="53583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Text 28"/>
          <p:cNvSpPr/>
          <p:nvPr/>
        </p:nvSpPr>
        <p:spPr>
          <a:xfrm>
            <a:off x="1069848" y="5340096"/>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Brief five creative variants</a:t>
            </a:r>
            <a:endParaRPr lang="en-US" sz="1400" dirty="0"/>
          </a:p>
        </p:txBody>
      </p:sp>
      <p:sp>
        <p:nvSpPr>
          <p:cNvPr id="31" name="Text 29"/>
          <p:cNvSpPr/>
          <p:nvPr/>
        </p:nvSpPr>
        <p:spPr>
          <a:xfrm>
            <a:off x="1069848" y="5632704"/>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One per audience, per the dayparting on slide 11 and the vehicle split on slide 12.</a:t>
            </a:r>
            <a:endParaRPr lang="en-US" sz="1100" dirty="0"/>
          </a:p>
        </p:txBody>
      </p:sp>
      <p:sp>
        <p:nvSpPr>
          <p:cNvPr id="32" name="Text 30"/>
          <p:cNvSpPr/>
          <p:nvPr/>
        </p:nvSpPr>
        <p:spPr>
          <a:xfrm>
            <a:off x="502920" y="6016752"/>
            <a:ext cx="8046720" cy="310896"/>
          </a:xfrm>
          <a:prstGeom prst="rect">
            <a:avLst/>
          </a:prstGeom>
          <a:noFill/>
          <a:ln/>
        </p:spPr>
        <p:txBody>
          <a:bodyPr wrap="square" lIns="0" tIns="0" rIns="0" bIns="0" rtlCol="0" anchor="ctr"/>
          <a:lstStyle/>
          <a:p>
            <a:pPr indent="0" marL="0">
              <a:buNone/>
            </a:pPr>
            <a:r>
              <a:rPr lang="en-US" sz="950" i="1" dirty="0">
                <a:solidFill>
                  <a:srgbClr val="7C87BC"/>
                </a:solidFill>
                <a:latin typeface="Arial" pitchFamily="34" charset="0"/>
                <a:ea typeface="Arial" pitchFamily="34" charset="-122"/>
                <a:cs typeface="Arial" pitchFamily="34" charset="-120"/>
              </a:rPr>
              <a:t>Reproduce every figure in this deck — python3 tools/mindline_eval.py · tools/package_dco.py "DBP L2"</a:t>
            </a:r>
            <a:endParaRPr lang="en-US" sz="950" dirty="0"/>
          </a:p>
        </p:txBody>
      </p:sp>
      <p:sp>
        <p:nvSpPr>
          <p:cNvPr id="33" name="Text 31"/>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34" name="Text 32"/>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Moove 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DBP L2 — mindline.sg hotline</dc:title>
  <dc:subject>PptxGenJS Presentation</dc:subject>
  <dc:creator>Moove Media</dc:creator>
  <cp:lastModifiedBy>Moove Media</cp:lastModifiedBy>
  <cp:revision>1</cp:revision>
  <dcterms:created xsi:type="dcterms:W3CDTF">2026-08-17T08:12:42Z</dcterms:created>
  <dcterms:modified xsi:type="dcterms:W3CDTF">2026-08-17T08:12:42Z</dcterms:modified>
</cp:coreProperties>
</file>